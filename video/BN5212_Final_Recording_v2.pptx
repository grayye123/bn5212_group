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e35660a5e84878" /><Relationship Type="http://schemas.openxmlformats.org/officeDocument/2006/relationships/extended-properties" Target="/docProps/app.xml" Id="Rcb7619f0c48d4e55" /><Relationship Type="http://schemas.openxmlformats.org/officeDocument/2006/relationships/officeDocument" Target="/ppt/presentation.xml" Id="Rb526544b58c044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e88b315c304c30"/>
  </p:sldMasterIdLst>
  <p:notesMasterIdLst>
    <p:notesMasterId xmlns:r="http://schemas.openxmlformats.org/officeDocument/2006/relationships" r:id="R11882e4dabd445a0"/>
  </p:notesMasterIdLst>
  <p:sldIdLst>
    <p:sldId xmlns:r="http://schemas.openxmlformats.org/officeDocument/2006/relationships" id="256" r:id="R0c1007fb2ac147e0"/>
    <p:sldId xmlns:r="http://schemas.openxmlformats.org/officeDocument/2006/relationships" id="257" r:id="R289ba8e32701428a"/>
    <p:sldId xmlns:r="http://schemas.openxmlformats.org/officeDocument/2006/relationships" id="258" r:id="Rc293373614f64f84"/>
    <p:sldId xmlns:r="http://schemas.openxmlformats.org/officeDocument/2006/relationships" id="259" r:id="R25371d3acf61449c"/>
    <p:sldId xmlns:r="http://schemas.openxmlformats.org/officeDocument/2006/relationships" id="260" r:id="Rc18f17efe12c4fd3"/>
    <p:sldId xmlns:r="http://schemas.openxmlformats.org/officeDocument/2006/relationships" id="261" r:id="R66f149c82624408b"/>
    <p:sldId xmlns:r="http://schemas.openxmlformats.org/officeDocument/2006/relationships" id="262" r:id="Re1f7e8650a794760"/>
    <p:sldId xmlns:r="http://schemas.openxmlformats.org/officeDocument/2006/relationships" id="263" r:id="Rca8c25034e194444"/>
    <p:sldId xmlns:r="http://schemas.openxmlformats.org/officeDocument/2006/relationships" id="264" r:id="Rdd16feb30ac14136"/>
    <p:sldId xmlns:r="http://schemas.openxmlformats.org/officeDocument/2006/relationships" id="265" r:id="R60fafa9876e24409"/>
    <p:sldId xmlns:r="http://schemas.openxmlformats.org/officeDocument/2006/relationships" id="266" r:id="Re19d08cdf91b4f94"/>
    <p:sldId xmlns:r="http://schemas.openxmlformats.org/officeDocument/2006/relationships" id="267" r:id="R60dca28ebb594e4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f48607dcea404e" /><Relationship Type="http://schemas.openxmlformats.org/officeDocument/2006/relationships/slideMaster" Target="/ppt/slideMasters/slideMaster1.xml" Id="Rbde88b315c304c30" /><Relationship Type="http://schemas.openxmlformats.org/officeDocument/2006/relationships/notesMaster" Target="/ppt/notesMasters/notesMaster1.xml" Id="R11882e4dabd445a0" /><Relationship Type="http://schemas.openxmlformats.org/officeDocument/2006/relationships/presProps" Target="/ppt/presProps.xml" Id="R3b3518d01f9c42c5" /><Relationship Type="http://schemas.openxmlformats.org/officeDocument/2006/relationships/tableStyles" Target="/ppt/tableStyles.xml" Id="R8759c4d187c945a5" /><Relationship Type="http://schemas.openxmlformats.org/officeDocument/2006/relationships/slide" Target="/ppt/slides/slide1.xml" Id="R0c1007fb2ac147e0" /><Relationship Type="http://schemas.openxmlformats.org/officeDocument/2006/relationships/slide" Target="/ppt/slides/slide2.xml" Id="R289ba8e32701428a" /><Relationship Type="http://schemas.openxmlformats.org/officeDocument/2006/relationships/slide" Target="/ppt/slides/slide3.xml" Id="Rc293373614f64f84" /><Relationship Type="http://schemas.openxmlformats.org/officeDocument/2006/relationships/slide" Target="/ppt/slides/slide4.xml" Id="R25371d3acf61449c" /><Relationship Type="http://schemas.openxmlformats.org/officeDocument/2006/relationships/slide" Target="/ppt/slides/slide5.xml" Id="Rc18f17efe12c4fd3" /><Relationship Type="http://schemas.openxmlformats.org/officeDocument/2006/relationships/slide" Target="/ppt/slides/slide6.xml" Id="R66f149c82624408b" /><Relationship Type="http://schemas.openxmlformats.org/officeDocument/2006/relationships/slide" Target="/ppt/slides/slide7.xml" Id="Re1f7e8650a794760" /><Relationship Type="http://schemas.openxmlformats.org/officeDocument/2006/relationships/slide" Target="/ppt/slides/slide8.xml" Id="Rca8c25034e194444" /><Relationship Type="http://schemas.openxmlformats.org/officeDocument/2006/relationships/slide" Target="/ppt/slides/slide9.xml" Id="Rdd16feb30ac14136" /><Relationship Type="http://schemas.openxmlformats.org/officeDocument/2006/relationships/slide" Target="/ppt/slides/slide10.xml" Id="R60fafa9876e24409" /><Relationship Type="http://schemas.openxmlformats.org/officeDocument/2006/relationships/slide" Target="/ppt/slides/slide11.xml" Id="Re19d08cdf91b4f94" /><Relationship Type="http://schemas.openxmlformats.org/officeDocument/2006/relationships/slide" Target="/ppt/slides/slide12.xml" Id="R60dca28ebb594e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42e05efe1b47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f910ddc3d7482b" /><Relationship Type="http://schemas.openxmlformats.org/officeDocument/2006/relationships/notesMaster" Target="/ppt/notesMasters/notesMaster1.xml" Id="R0b56af68cb1649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b252becfe04260" /><Relationship Type="http://schemas.openxmlformats.org/officeDocument/2006/relationships/notesMaster" Target="/ppt/notesMasters/notesMaster1.xml" Id="R6f26d5c649a244f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98649cf4754636" /><Relationship Type="http://schemas.openxmlformats.org/officeDocument/2006/relationships/notesMaster" Target="/ppt/notesMasters/notesMaster1.xml" Id="Rdbea9cc81e034a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3f3c000ef54874" /><Relationship Type="http://schemas.openxmlformats.org/officeDocument/2006/relationships/notesMaster" Target="/ppt/notesMasters/notesMaster1.xml" Id="R132150fbd8c943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e47387f22b4c8f" /><Relationship Type="http://schemas.openxmlformats.org/officeDocument/2006/relationships/notesMaster" Target="/ppt/notesMasters/notesMaster1.xml" Id="R2a1efe3a37d4489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f3904e46ab4f19" /><Relationship Type="http://schemas.openxmlformats.org/officeDocument/2006/relationships/notesMaster" Target="/ppt/notesMasters/notesMaster1.xml" Id="Rdc4f2cb51fe242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7bbe8c5658043fa" /><Relationship Type="http://schemas.openxmlformats.org/officeDocument/2006/relationships/notesMaster" Target="/ppt/notesMasters/notesMaster1.xml" Id="R120095774a6f4b8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9dc5f93ed9548f0" /><Relationship Type="http://schemas.openxmlformats.org/officeDocument/2006/relationships/notesMaster" Target="/ppt/notesMasters/notesMaster1.xml" Id="Rf7eff3129864483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92efdb18ff840c6" /><Relationship Type="http://schemas.openxmlformats.org/officeDocument/2006/relationships/notesMaster" Target="/ppt/notesMasters/notesMaster1.xml" Id="Rfa3e845bb1e24a0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5cd5c966ec64d0f" /><Relationship Type="http://schemas.openxmlformats.org/officeDocument/2006/relationships/notesMaster" Target="/ppt/notesMasters/notesMaster1.xml" Id="Raf5bf9af6bfa496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bf91aaf226f4e52" /><Relationship Type="http://schemas.openxmlformats.org/officeDocument/2006/relationships/notesMaster" Target="/ppt/notesMasters/notesMaster1.xml" Id="R847ffa9cc87443b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5a00740efbb46ca" /><Relationship Type="http://schemas.openxmlformats.org/officeDocument/2006/relationships/notesMaster" Target="/ppt/notesMasters/notesMaster1.xml" Id="Rd004568024ad47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results/final_v1/results.json, protocol.json, audit.json and verification.json. Frozen protocol: docs/PROJECT.md.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results/final_v1/results.json, protocol.json, audit.json and verification.json. Frozen protocol: docs/PROJECT.md.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 et al. CVPR 2016: https://openaccess.thecvf.com/content_cvpr_2016/html/He_Deep_Residual_Learning_CVPR_2016_paper.html</a:t>
            </a:r>
          </a:p>
          <a:p xmlns:a="http://schemas.openxmlformats.org/drawingml/2006/main">
            <a:r>
              <a:t>Smit et al. EMNLP 2020: https://aclanthology.org/2020.emnlp-main.117/</a:t>
            </a:r>
          </a:p>
          <a:p xmlns:a="http://schemas.openxmlformats.org/drawingml/2006/main">
            <a:r>
              <a:t>Zech et al. PLOS Medicine 2018: https://journals.plos.org/plosmedicine/article?id=10.1371/journal.pmed.1002683</a:t>
            </a:r>
          </a:p>
          <a:p xmlns:a="http://schemas.openxmlformats.org/drawingml/2006/main">
            <a:r>
              <a:t>Sources: results/final_v1/results.json, protocol.json, audit.json and verification.json. Frozen protocol: docs/PROJECT.md.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results/final_v1/results.json, protocol.json, audit.json and verification.json. Frozen protocol: docs/PROJECT.md.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results/final_v1/results.json, protocol.json, audit.json and verification.json. Frozen protocol: docs/PROJECT.md.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results/final_v1/results.json, protocol.json, audit.json and verification.json. Frozen protocol: docs/PROJECT.md.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results/final_v1/results.json, protocol.json, audit.json and verification.json. Frozen protocol: docs/PROJECT.md.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results/final_v1/results.json, protocol.json, audit.json and verification.json. Frozen protocol: docs/PROJECT.md.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results/final_v1/results.json, protocol.json, audit.json and verification.json. Frozen protocol: docs/PROJECT.md.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results/final_v1/results.json, protocol.json, audit.json and verification.json. Frozen protocol: docs/PROJECT.md.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results/final_v1/results.json, protocol.json, audit.json and verification.json. Frozen protocol: docs/PROJECT.md.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results/final_v1/results.json, protocol.json, audit.json and verification.json. Frozen protocol: docs/PROJECT.md.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007bb45129462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7e14faeaa0480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6c2f4282874b7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dfe20e0300443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c8de6497ce44a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855eba2ff748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5ACE4F7-213C-4F4E-9B88-118D51EF69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EF2D5E8-746A-4EC8-8D07-484AB236136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8D7C59E-9C32-4A67-AF22-F0794AAA24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D48E855-5393-47AF-ACD0-D523023A5E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A5C6F6C-6E54-4442-B719-C59DD8ABE5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2F84EF0-70D7-4B50-89B3-7FEB85A1B3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1463FEB-D2BA-4E40-9F24-0C2AB02A98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DB17C0B-26FD-489F-BD62-12BD4C871E1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C121C27-CAAB-446A-9585-3035A6CFFE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F9DFF0F-1733-401D-B325-A0472229C1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af597c8c8747c5" /><Relationship Type="http://schemas.openxmlformats.org/officeDocument/2006/relationships/slideLayout" Target="/ppt/slideLayouts/slideLayout1.xml" Id="R1891864003e640c2" /><Relationship Type="http://schemas.openxmlformats.org/officeDocument/2006/relationships/slideLayout" Target="/ppt/slideLayouts/slideLayout2.xml" Id="R0497683b51ae4aa9" /><Relationship Type="http://schemas.openxmlformats.org/officeDocument/2006/relationships/slideLayout" Target="/ppt/slideLayouts/slideLayout3.xml" Id="Rd97c88398ef44a27" /><Relationship Type="http://schemas.openxmlformats.org/officeDocument/2006/relationships/slideLayout" Target="/ppt/slideLayouts/slideLayout4.xml" Id="R06f671bcc4ba44fc" /><Relationship Type="http://schemas.openxmlformats.org/officeDocument/2006/relationships/slideLayout" Target="/ppt/slideLayouts/slideLayout5.xml" Id="R9ececf07a7904de6" /><Relationship Type="http://schemas.openxmlformats.org/officeDocument/2006/relationships/slideLayout" Target="/ppt/slideLayouts/slideLayout6.xml" Id="Rf6b6927b5d8c47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91864003e640c2"/>
    <p:sldLayoutId xmlns:r="http://schemas.openxmlformats.org/officeDocument/2006/relationships" id="2147483650" r:id="R0497683b51ae4aa9"/>
    <p:sldLayoutId xmlns:r="http://schemas.openxmlformats.org/officeDocument/2006/relationships" id="2147483651" r:id="Rd97c88398ef44a27"/>
    <p:sldLayoutId xmlns:r="http://schemas.openxmlformats.org/officeDocument/2006/relationships" id="2147483652" r:id="R06f671bcc4ba44fc"/>
    <p:sldLayoutId xmlns:r="http://schemas.openxmlformats.org/officeDocument/2006/relationships" id="2147483653" r:id="R9ececf07a7904de6"/>
    <p:sldLayoutId xmlns:r="http://schemas.openxmlformats.org/officeDocument/2006/relationships" id="2147483654" r:id="Rf6b6927b5d8c47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43e487770d441f" /><Relationship Type="http://schemas.openxmlformats.org/officeDocument/2006/relationships/notesSlide" Target="/ppt/notesSlides/notesSlide1.xml" Id="Rc5666c29e1ec4c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1c39d78a194587" /><Relationship Type="http://schemas.openxmlformats.org/officeDocument/2006/relationships/notesSlide" Target="/ppt/notesSlides/notesSlide2.xml" Id="R190b6fc2a4f64a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4d7bc0d7f043c3" /><Relationship Type="http://schemas.openxmlformats.org/officeDocument/2006/relationships/notesSlide" Target="/ppt/notesSlides/notesSlide3.xml" Id="Rdae7190d9f934c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67dfb7e4824d6e" /><Relationship Type="http://schemas.openxmlformats.org/officeDocument/2006/relationships/notesSlide" Target="/ppt/notesSlides/notesSlide4.xml" Id="R4b25c12351994c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d7079bf12940de" /><Relationship Type="http://schemas.openxmlformats.org/officeDocument/2006/relationships/notesSlide" Target="/ppt/notesSlides/notesSlide5.xml" Id="Rceb4bae032d3450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6d03093dd0450d" /><Relationship Type="http://schemas.openxmlformats.org/officeDocument/2006/relationships/notesSlide" Target="/ppt/notesSlides/notesSlide6.xml" Id="R83822739b0c9410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c42a573579440f" /><Relationship Type="http://schemas.openxmlformats.org/officeDocument/2006/relationships/notesSlide" Target="/ppt/notesSlides/notesSlide7.xml" Id="Raa3fc148289c484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feac1019584cce" /><Relationship Type="http://schemas.openxmlformats.org/officeDocument/2006/relationships/chart" Target="/ppt/slides/charts/chart1.xml" Id="R7cec8a6bb06f4f62" /><Relationship Type="http://schemas.openxmlformats.org/officeDocument/2006/relationships/notesSlide" Target="/ppt/notesSlides/notesSlide8.xml" Id="R7dfe62f776554dd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5283d7441240fc" /><Relationship Type="http://schemas.openxmlformats.org/officeDocument/2006/relationships/notesSlide" Target="/ppt/notesSlides/notesSlide9.xml" Id="Rb21fc474404d44a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4fa0a360e84338" /><Relationship Type="http://schemas.openxmlformats.org/officeDocument/2006/relationships/chart" Target="/ppt/slides/charts/chart2.xml" Id="R8a1bce6555634553" /><Relationship Type="http://schemas.openxmlformats.org/officeDocument/2006/relationships/chart" Target="/ppt/slides/charts/chart3.xml" Id="R063f354b61f94a6a" /><Relationship Type="http://schemas.openxmlformats.org/officeDocument/2006/relationships/notesSlide" Target="/ppt/notesSlides/notesSlide10.xml" Id="R3b266c1a134b428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0c11bf24c64a6f" /><Relationship Type="http://schemas.openxmlformats.org/officeDocument/2006/relationships/notesSlide" Target="/ppt/notesSlides/notesSlide11.xml" Id="R98e1262b33ad46f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87bd1d1aeb4e59" /><Relationship Type="http://schemas.openxmlformats.org/officeDocument/2006/relationships/notesSlide" Target="/ppt/notesSlides/notesSlide12.xml" Id="R748d9cd2c17d4c0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solidFill>
                  <a:srgbClr val="17364F"/>
                </a:solidFill>
                <a:latin typeface="Arial"/>
                <a:ea typeface="Arial"/>
                <a:cs typeface="Arial"/>
              </a:rPr>
              <a:t>Mean across three training seeds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solidFill>
                <a:srgbClr val="17364F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Seen</c:v>
          </c:tx>
          <c:spPr>
            <a:solidFill xmlns:a="http://schemas.openxmlformats.org/drawingml/2006/main">
              <a:srgbClr val="2266AA"/>
            </a:solidFill>
          </c:spPr>
          <c:cat>
            <c:strRef>
              <c:f>'Chart Data'!$A$2:$A$4</c:f>
              <c:strCache>
                <c:ptCount val="3"/>
                <c:pt idx="0">
                  <c:v>Provider 01</c:v>
                </c:pt>
                <c:pt idx="1">
                  <c:v>Provider 02</c:v>
                </c:pt>
                <c:pt idx="2">
                  <c:v>Provider 03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0.682784</c:v>
                </c:pt>
                <c:pt idx="1">
                  <c:v>0.734716</c:v>
                </c:pt>
                <c:pt idx="2">
                  <c:v>0.711718</c:v>
                </c:pt>
              </c:numCache>
            </c:numRef>
          </c:val>
        </c:ser>
        <c:ser>
          <c:idx val="1"/>
          <c:order val="1"/>
          <c:tx>
            <c:v>Unseen</c:v>
          </c:tx>
          <c:spPr>
            <a:solidFill xmlns:a="http://schemas.openxmlformats.org/drawingml/2006/main">
              <a:srgbClr val="B87716"/>
            </a:solidFill>
          </c:spPr>
          <c:cat>
            <c:strRef>
              <c:f>'Chart Data'!$C$2:$C$4</c:f>
              <c:strCache>
                <c:ptCount val="3"/>
                <c:pt idx="0">
                  <c:v>Provider 01</c:v>
                </c:pt>
                <c:pt idx="1">
                  <c:v>Provider 02</c:v>
                </c:pt>
                <c:pt idx="2">
                  <c:v>Provider 03</c:v>
                </c:pt>
              </c:strCache>
            </c:str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0.63138</c:v>
                </c:pt>
                <c:pt idx="1">
                  <c:v>0.766259</c:v>
                </c:pt>
                <c:pt idx="2">
                  <c:v>0.670868</c:v>
                </c:pt>
              </c:numCache>
            </c:numRef>
          </c:val>
        </c:ser>
        <c:ser>
          <c:idx val="2"/>
          <c:order val="2"/>
          <c:tx>
            <c:v>Constant score</c:v>
          </c:tx>
          <c:spPr>
            <a:solidFill xmlns:a="http://schemas.openxmlformats.org/drawingml/2006/main">
              <a:srgbClr val="8D9AA3"/>
            </a:solidFill>
          </c:spPr>
          <c:cat>
            <c:strRef>
              <c:f>'Chart Data'!$E$2:$E$4</c:f>
              <c:strCache>
                <c:ptCount val="3"/>
                <c:pt idx="0">
                  <c:v>Provider 01</c:v>
                </c:pt>
                <c:pt idx="1">
                  <c:v>Provider 02</c:v>
                </c:pt>
                <c:pt idx="2">
                  <c:v>Provider 03</c:v>
                </c:pt>
              </c:strCache>
            </c:strRef>
          </c:cat>
          <c:val>
            <c:numRef>
              <c:f>'Chart Data'!$F$2:$F$4</c:f>
              <c:numCache>
                <c:formatCode>0.0</c:formatCode>
                <c:ptCount val="3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3443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2E6E9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344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03443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solidFill>
                  <a:srgbClr val="17364F"/>
                </a:solidFill>
                <a:latin typeface="Arial"/>
                <a:ea typeface="Arial"/>
                <a:cs typeface="Arial"/>
              </a:rPr>
              <a:t>Average precision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solidFill>
                <a:srgbClr val="17364F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Seen</c:v>
          </c:tx>
          <c:spPr>
            <a:solidFill xmlns:a="http://schemas.openxmlformats.org/drawingml/2006/main">
              <a:srgbClr val="2266AA"/>
            </a:solidFill>
          </c:spPr>
          <c:cat>
            <c:strRef>
              <c:f>'Chart Data'!$A$2:$A$4</c:f>
              <c:strCache>
                <c:ptCount val="3"/>
                <c:pt idx="0">
                  <c:v>Provider 01</c:v>
                </c:pt>
                <c:pt idx="1">
                  <c:v>Provider 02</c:v>
                </c:pt>
                <c:pt idx="2">
                  <c:v>Provider 03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0.531058</c:v>
                </c:pt>
                <c:pt idx="1">
                  <c:v>0.61579</c:v>
                </c:pt>
                <c:pt idx="2">
                  <c:v>0.602915</c:v>
                </c:pt>
              </c:numCache>
            </c:numRef>
          </c:val>
        </c:ser>
        <c:ser>
          <c:idx val="1"/>
          <c:order val="1"/>
          <c:tx>
            <c:v>Unseen</c:v>
          </c:tx>
          <c:spPr>
            <a:solidFill xmlns:a="http://schemas.openxmlformats.org/drawingml/2006/main">
              <a:srgbClr val="B87716"/>
            </a:solidFill>
          </c:spPr>
          <c:cat>
            <c:strRef>
              <c:f>'Chart Data'!$C$2:$C$4</c:f>
              <c:strCache>
                <c:ptCount val="3"/>
                <c:pt idx="0">
                  <c:v>Provider 01</c:v>
                </c:pt>
                <c:pt idx="1">
                  <c:v>Provider 02</c:v>
                </c:pt>
                <c:pt idx="2">
                  <c:v>Provider 03</c:v>
                </c:pt>
              </c:strCache>
            </c:str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0.501105</c:v>
                </c:pt>
                <c:pt idx="1">
                  <c:v>0.653014</c:v>
                </c:pt>
                <c:pt idx="2">
                  <c:v>0.528131</c:v>
                </c:pt>
              </c:numCache>
            </c:numRef>
          </c:val>
        </c:ser>
        <c:ser>
          <c:idx val="2"/>
          <c:order val="2"/>
          <c:tx>
            <c:v>Constant score</c:v>
          </c:tx>
          <c:spPr>
            <a:solidFill xmlns:a="http://schemas.openxmlformats.org/drawingml/2006/main">
              <a:srgbClr val="8D9AA3"/>
            </a:solidFill>
          </c:spPr>
          <c:cat>
            <c:strRef>
              <c:f>'Chart Data'!$E$2:$E$4</c:f>
              <c:strCache>
                <c:ptCount val="3"/>
                <c:pt idx="0">
                  <c:v>Provider 01</c:v>
                </c:pt>
                <c:pt idx="1">
                  <c:v>Provider 02</c:v>
                </c:pt>
                <c:pt idx="2">
                  <c:v>Provider 03</c:v>
                </c:pt>
              </c:strCache>
            </c:strRef>
          </c:cat>
          <c:val>
            <c:numRef>
              <c:f>'Chart Data'!$F$2:$F$4</c:f>
              <c:numCache>
                <c:formatCode>0.0</c:formatCode>
                <c:ptCount val="3"/>
                <c:pt idx="0">
                  <c:v>0.357798</c:v>
                </c:pt>
                <c:pt idx="1">
                  <c:v>0.366667</c:v>
                </c:pt>
                <c:pt idx="2">
                  <c:v>0.381818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3443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2E6E9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344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03443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solidFill>
                  <a:srgbClr val="17364F"/>
                </a:solidFill>
                <a:latin typeface="Arial"/>
                <a:ea typeface="Arial"/>
                <a:cs typeface="Arial"/>
              </a:rPr>
              <a:t>Brier score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solidFill>
                <a:srgbClr val="17364F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Seen</c:v>
          </c:tx>
          <c:spPr>
            <a:solidFill xmlns:a="http://schemas.openxmlformats.org/drawingml/2006/main">
              <a:srgbClr val="2266AA"/>
            </a:solidFill>
          </c:spPr>
          <c:cat>
            <c:strRef>
              <c:f>'Chart Data'!$A$2:$A$4</c:f>
              <c:strCache>
                <c:ptCount val="3"/>
                <c:pt idx="0">
                  <c:v>Provider 01</c:v>
                </c:pt>
                <c:pt idx="1">
                  <c:v>Provider 02</c:v>
                </c:pt>
                <c:pt idx="2">
                  <c:v>Provider 03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0.21471</c:v>
                </c:pt>
                <c:pt idx="1">
                  <c:v>0.207765</c:v>
                </c:pt>
                <c:pt idx="2">
                  <c:v>0.221207</c:v>
                </c:pt>
              </c:numCache>
            </c:numRef>
          </c:val>
        </c:ser>
        <c:ser>
          <c:idx val="1"/>
          <c:order val="1"/>
          <c:tx>
            <c:v>Unseen</c:v>
          </c:tx>
          <c:spPr>
            <a:solidFill xmlns:a="http://schemas.openxmlformats.org/drawingml/2006/main">
              <a:srgbClr val="B87716"/>
            </a:solidFill>
          </c:spPr>
          <c:cat>
            <c:strRef>
              <c:f>'Chart Data'!$C$2:$C$4</c:f>
              <c:strCache>
                <c:ptCount val="3"/>
                <c:pt idx="0">
                  <c:v>Provider 01</c:v>
                </c:pt>
                <c:pt idx="1">
                  <c:v>Provider 02</c:v>
                </c:pt>
                <c:pt idx="2">
                  <c:v>Provider 03</c:v>
                </c:pt>
              </c:strCache>
            </c:str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0.229738</c:v>
                </c:pt>
                <c:pt idx="1">
                  <c:v>0.190161</c:v>
                </c:pt>
                <c:pt idx="2">
                  <c:v>0.235298</c:v>
                </c:pt>
              </c:numCache>
            </c:numRef>
          </c:val>
        </c:ser>
        <c:ser>
          <c:idx val="2"/>
          <c:order val="2"/>
          <c:tx>
            <c:v>Constant score</c:v>
          </c:tx>
          <c:spPr>
            <a:solidFill xmlns:a="http://schemas.openxmlformats.org/drawingml/2006/main">
              <a:srgbClr val="8D9AA3"/>
            </a:solidFill>
          </c:spPr>
          <c:cat>
            <c:strRef>
              <c:f>'Chart Data'!$E$2:$E$4</c:f>
              <c:strCache>
                <c:ptCount val="3"/>
                <c:pt idx="0">
                  <c:v>Provider 01</c:v>
                </c:pt>
                <c:pt idx="1">
                  <c:v>Provider 02</c:v>
                </c:pt>
                <c:pt idx="2">
                  <c:v>Provider 03</c:v>
                </c:pt>
              </c:strCache>
            </c:strRef>
          </c:cat>
          <c:val>
            <c:numRef>
              <c:f>'Chart Data'!$F$2:$F$4</c:f>
              <c:numCache>
                <c:formatCode>0.0</c:formatCode>
                <c:ptCount val="3"/>
                <c:pt idx="0">
                  <c:v>0.246124</c:v>
                </c:pt>
                <c:pt idx="1">
                  <c:v>0.257105</c:v>
                </c:pt>
                <c:pt idx="2">
                  <c:v>0.261964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3443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2E6E9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344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03443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6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BA0BD8-A100-4991-A328-0F6551AF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10477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Chest X-ray models</a:t>
            </a:r>
            <a:b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across physician cohorts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536266-3C7A-4EDA-AA98-8B8FE7C5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624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325" b="0">
                <a:solidFill>
                  <a:srgbClr val="D4E4EF"/>
                </a:solidFill>
                <a:latin typeface="Arial"/>
                <a:ea typeface="Arial"/>
                <a:cs typeface="Arial"/>
              </a:rPr>
              <a:t>A paired study of atelectasis classification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60856F-7E84-4E56-8435-EA3DAC76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7687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D4E4EF"/>
                </a:solidFill>
                <a:latin typeface="Arial"/>
                <a:ea typeface="Arial"/>
                <a:cs typeface="Arial"/>
              </a:rPr>
              <a:t>BN5212 Final Project</a:t>
            </a:r>
          </a:p>
        </p:txBody>
      </p:sp>
    </p:spTree>
    <p:extLst>
      <p:ext uri="{BB962C8B-B14F-4D97-AF65-F5344CB8AC3E}">
        <p14:creationId xmlns:p14="http://schemas.microsoft.com/office/powerpoint/2010/main" val="19595879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7FA62F-A205-498C-874B-8211667C2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"/>
            <a:ext cx="10782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3300" b="1">
                <a:solidFill>
                  <a:srgbClr val="17364F"/>
                </a:solidFill>
                <a:latin typeface="Arial"/>
                <a:ea typeface="Arial"/>
                <a:cs typeface="Arial"/>
              </a:rPr>
              <a:t>Research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4CB3F8-D60B-4016-A0A3-93691D54D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0">
                <a:solidFill>
                  <a:srgbClr val="5261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A60237-C88F-425C-AAEB-6AD29523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38300"/>
            <a:ext cx="10477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17364F"/>
                </a:solidFill>
                <a:latin typeface="Arial"/>
                <a:ea typeface="Arial"/>
                <a:cs typeface="Arial"/>
              </a:rPr>
              <a:t>Does training exposure to a physician-associated cohort change performance on that cohort?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F70CC0-7045-4969-81B2-1128F651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400" b="0">
                <a:solidFill>
                  <a:srgbClr val="203443"/>
                </a:solidFill>
                <a:latin typeface="Arial"/>
                <a:ea typeface="Arial"/>
                <a:cs typeface="Arial"/>
              </a:rPr>
              <a:t>We compare two training sets on the same held-out cohort.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E1118E-C74E-4655-ADD3-3CF3C1F0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95875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950" b="0">
                <a:solidFill>
                  <a:srgbClr val="52616C"/>
                </a:solidFill>
                <a:latin typeface="Arial"/>
                <a:ea typeface="Arial"/>
                <a:cs typeface="Arial"/>
              </a:rPr>
              <a:t>Provider identifiers describe study associations. They do not identify independent image readers.</a:t>
            </a:r>
          </a:p>
        </p:txBody>
      </p:sp>
    </p:spTree>
    <p:extLst>
      <p:ext uri="{BB962C8B-B14F-4D97-AF65-F5344CB8AC3E}">
        <p14:creationId xmlns:p14="http://schemas.microsoft.com/office/powerpoint/2010/main" val="323547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D96841-E055-4704-8199-548B2A3C2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"/>
            <a:ext cx="10782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3300" b="1">
                <a:solidFill>
                  <a:srgbClr val="17364F"/>
                </a:solidFill>
                <a:latin typeface="Arial"/>
                <a:ea typeface="Arial"/>
                <a:cs typeface="Arial"/>
              </a:rPr>
              <a:t>Related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ED6580-1379-4C52-8CF2-14F1C351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0">
                <a:solidFill>
                  <a:srgbClr val="5261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73C5C7-7203-4524-97E1-4CE1EFB93C9A}"/>
              </a:ext>
            </a:extLst>
          </p:cNvPr>
          <p:cNvGraphicFramePr/>
          <p:nvPr/>
        </p:nvGraphicFramePr>
        <p:xfrm>
          <a:off xmlns:a="http://schemas.openxmlformats.org/drawingml/2006/main" x="838200" y="1562100"/>
          <a:ext xmlns:a="http://schemas.openxmlformats.org/drawingml/2006/main" cx="10515600" cy="3143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48000"/>
                <a:gridCol w="7467600"/>
              </a:tblGrid>
              <a:tr h="785813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Study</a:t>
                      </a:r>
                    </a:p>
                  </a:txBody>
                  <a:tcPr marL="91440" marR="91440" marT="45720" marB="45720">
                    <a:solidFill>
                      <a:srgbClr val="17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Relevance</a:t>
                      </a:r>
                    </a:p>
                  </a:txBody>
                  <a:tcPr marL="91440" marR="91440" marT="45720" marB="45720">
                    <a:solidFill>
                      <a:srgbClr val="17364F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He et al. 2016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Residual networks for image classification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Smit et al. 2020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CheXbert labels from radiology reports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Zech et al. 2018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Cohort shifts and confounding in chest X-ray evaluation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A20455-7544-4ABF-84E5-AEC03BE1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0542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175" b="0">
                <a:solidFill>
                  <a:srgbClr val="203443"/>
                </a:solidFill>
                <a:latin typeface="Arial"/>
                <a:ea typeface="Arial"/>
                <a:cs typeface="Arial"/>
              </a:rPr>
              <a:t>Our contribution is a controlled cohort comparison using an established network.</a:t>
            </a:r>
          </a:p>
        </p:txBody>
      </p:sp>
    </p:spTree>
    <p:extLst>
      <p:ext uri="{BB962C8B-B14F-4D97-AF65-F5344CB8AC3E}">
        <p14:creationId xmlns:p14="http://schemas.microsoft.com/office/powerpoint/2010/main" val="13611697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1EAA5B-0B00-406D-8658-91586C80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"/>
            <a:ext cx="10782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3300" b="1">
                <a:solidFill>
                  <a:srgbClr val="17364F"/>
                </a:solidFill>
                <a:latin typeface="Arial"/>
                <a:ea typeface="Arial"/>
                <a:cs typeface="Arial"/>
              </a:rPr>
              <a:t>Dataset and report-derived labels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749060-767C-4BF1-89A5-A3921E8F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0">
                <a:solidFill>
                  <a:srgbClr val="52616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0055E8-3A45-44EF-A04F-62570B9E30FA}"/>
              </a:ext>
            </a:extLst>
          </p:cNvPr>
          <p:cNvGraphicFramePr/>
          <p:nvPr/>
        </p:nvGraphicFramePr>
        <p:xfrm>
          <a:off xmlns:a="http://schemas.openxmlformats.org/drawingml/2006/main" x="838200" y="1562100"/>
          <a:ext xmlns:a="http://schemas.openxmlformats.org/drawingml/2006/main" cx="10515600" cy="27146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953000"/>
                <a:gridCol w="5562600"/>
              </a:tblGrid>
              <a:tr h="678656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Material</a:t>
                      </a:r>
                    </a:p>
                  </a:txBody>
                  <a:tcPr marL="91440" marR="91440" marT="45720" marB="45720">
                    <a:solidFill>
                      <a:srgbClr val="17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Scope</a:t>
                      </a:r>
                    </a:p>
                  </a:txBody>
                  <a:tcPr marL="91440" marR="91440" marT="45720" marB="45720">
                    <a:solidFill>
                      <a:srgbClr val="17364F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Course subset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3,351 studies from 1,000 patients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Usable frontal-image cohort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2,904 studies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Existing human review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272 decisions with 51 rule-coordinated changes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46F205-12E1-4C53-ABA7-731F74437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76775"/>
            <a:ext cx="1047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100" b="0">
                <a:solidFill>
                  <a:srgbClr val="203443"/>
                </a:solidFill>
                <a:latin typeface="Arial"/>
                <a:ea typeface="Arial"/>
                <a:cs typeface="Arial"/>
              </a:rPr>
              <a:t>Likely: uncertain. Most likely: positive. Very mild volume loss: excluded from positives.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360C97-58A1-4783-AA2A-E76FFCE0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673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 b="0">
                <a:solidFill>
                  <a:srgbClr val="52616C"/>
                </a:solidFill>
                <a:latin typeface="Arial"/>
                <a:ea typeface="Arial"/>
                <a:cs typeface="Arial"/>
              </a:rPr>
              <a:t>No new expert image review. Unmentioned findings do not establish medical absence.</a:t>
            </a:r>
          </a:p>
        </p:txBody>
      </p:sp>
    </p:spTree>
    <p:extLst>
      <p:ext uri="{BB962C8B-B14F-4D97-AF65-F5344CB8AC3E}">
        <p14:creationId xmlns:p14="http://schemas.microsoft.com/office/powerpoint/2010/main" val="12320197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62CE4D-4EB5-4FD6-A90F-838E4CF5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"/>
            <a:ext cx="10782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3300" b="1">
                <a:solidFill>
                  <a:srgbClr val="17364F"/>
                </a:solidFill>
                <a:latin typeface="Arial"/>
                <a:ea typeface="Arial"/>
                <a:cs typeface="Arial"/>
              </a:rPr>
              <a:t>Paired study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A269FA-344A-4B64-A1CD-41F775644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0">
                <a:solidFill>
                  <a:srgbClr val="52616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5C9E8F-F778-40F9-B48D-53CFF628C780}"/>
              </a:ext>
            </a:extLst>
          </p:cNvPr>
          <p:cNvGraphicFramePr/>
          <p:nvPr/>
        </p:nvGraphicFramePr>
        <p:xfrm>
          <a:off xmlns:a="http://schemas.openxmlformats.org/drawingml/2006/main" x="838200" y="1562100"/>
          <a:ext xmlns:a="http://schemas.openxmlformats.org/drawingml/2006/main" cx="10515600" cy="3810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143250"/>
                <a:gridCol w="7372350"/>
              </a:tblGrid>
              <a:tr h="7620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17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Construction</a:t>
                      </a:r>
                    </a:p>
                  </a:txBody>
                  <a:tcPr marL="91440" marR="91440" marT="45720" marB="45720">
                    <a:solidFill>
                      <a:srgbClr val="17364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Patient split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Reuse frozen train, validation and test patients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Seen training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Include target-provider studies with matched label and view counts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Unseen training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Exclude target-provider studies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Validation and test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Shared validation excludes target. Same target test for both models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D2E43B-579C-455B-967B-3BB20FEF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959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950" b="0">
                <a:solidFill>
                  <a:srgbClr val="52616C"/>
                </a:solidFill>
                <a:latin typeface="Arial"/>
                <a:ea typeface="Arial"/>
                <a:cs typeface="Arial"/>
              </a:rPr>
              <a:t>Images enter ResNet18. Reports provide labels. Provider IDs only define groups.</a:t>
            </a:r>
          </a:p>
        </p:txBody>
      </p:sp>
    </p:spTree>
    <p:extLst>
      <p:ext uri="{BB962C8B-B14F-4D97-AF65-F5344CB8AC3E}">
        <p14:creationId xmlns:p14="http://schemas.microsoft.com/office/powerpoint/2010/main" val="9896970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EF0F31-F687-4D9B-9660-97D8C38A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"/>
            <a:ext cx="10782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3300" b="1">
                <a:solidFill>
                  <a:srgbClr val="17364F"/>
                </a:solidFill>
                <a:latin typeface="Arial"/>
                <a:ea typeface="Arial"/>
                <a:cs typeface="Arial"/>
              </a:rPr>
              <a:t>Three cohorts and repeated seeds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B308D1-C6FE-46C5-81AA-79F30BCE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0">
                <a:solidFill>
                  <a:srgbClr val="52616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FB6F63-1B1B-43A5-A08A-FD8D0C919FA5}"/>
              </a:ext>
            </a:extLst>
          </p:cNvPr>
          <p:cNvGraphicFramePr/>
          <p:nvPr/>
        </p:nvGraphicFramePr>
        <p:xfrm>
          <a:off xmlns:a="http://schemas.openxmlformats.org/drawingml/2006/main" x="838200" y="1562100"/>
          <a:ext xmlns:a="http://schemas.openxmlformats.org/drawingml/2006/main" cx="10515600" cy="25241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714500"/>
                <a:gridCol w="2571750"/>
                <a:gridCol w="2095500"/>
                <a:gridCol w="2095500"/>
                <a:gridCol w="2038350"/>
              </a:tblGrid>
              <a:tr h="631031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Provider</a:t>
                      </a:r>
                    </a:p>
                  </a:txBody>
                  <a:tcPr marL="91440" marR="91440" marT="45720" marB="45720">
                    <a:solidFill>
                      <a:srgbClr val="17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Train per group</a:t>
                      </a:r>
                    </a:p>
                  </a:txBody>
                  <a:tcPr marL="91440" marR="91440" marT="45720" marB="45720">
                    <a:solidFill>
                      <a:srgbClr val="17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Validation</a:t>
                      </a:r>
                    </a:p>
                  </a:txBody>
                  <a:tcPr marL="91440" marR="91440" marT="45720" marB="45720">
                    <a:solidFill>
                      <a:srgbClr val="17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Test studies</a:t>
                      </a:r>
                    </a:p>
                  </a:txBody>
                  <a:tcPr marL="91440" marR="91440" marT="45720" marB="45720">
                    <a:solidFill>
                      <a:srgbClr val="17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Test patients</a:t>
                      </a:r>
                    </a:p>
                  </a:txBody>
                  <a:tcPr marL="91440" marR="91440" marT="45720" marB="45720">
                    <a:solidFill>
                      <a:srgbClr val="17364F"/>
                    </a:solidFill>
                  </a:tcPr>
                </a:tc>
              </a:tr>
              <a:tr h="631031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1409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477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109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55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1031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02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1412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475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90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49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1031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1472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485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110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51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C439C4-9648-4D43-8538-1148FBF7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325" b="1">
                <a:solidFill>
                  <a:srgbClr val="17364F"/>
                </a:solidFill>
                <a:latin typeface="Arial"/>
                <a:ea typeface="Arial"/>
                <a:cs typeface="Arial"/>
              </a:rPr>
              <a:t>3 fixed seeds, 5 epochs per model, 18 trained models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4F6FFC-7E8C-456F-892B-490BB4BC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100" b="0">
                <a:solidFill>
                  <a:srgbClr val="203443"/>
                </a:solidFill>
                <a:latin typeface="Arial"/>
                <a:ea typeface="Arial"/>
                <a:cs typeface="Arial"/>
              </a:rPr>
              <a:t>ImageNet ResNet18 at 224 pixels. AdamW, batch 32. Shared validation BCE selects the checkpoint.</a:t>
            </a:r>
          </a:p>
        </p:txBody>
      </p:sp>
    </p:spTree>
    <p:extLst>
      <p:ext uri="{BB962C8B-B14F-4D97-AF65-F5344CB8AC3E}">
        <p14:creationId xmlns:p14="http://schemas.microsoft.com/office/powerpoint/2010/main" val="2122024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65D4F4-FE1A-4E60-86A3-A432C61D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"/>
            <a:ext cx="10782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3300" b="1">
                <a:solidFill>
                  <a:srgbClr val="17364F"/>
                </a:solidFill>
                <a:latin typeface="Arial"/>
                <a:ea typeface="Arial"/>
                <a:cs typeface="Arial"/>
              </a:rPr>
              <a:t>Metrics and uncertainty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F6A1E2-8642-4377-B5D7-E9EDA1D8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0">
                <a:solidFill>
                  <a:srgbClr val="52616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AEED7A-1E8F-453D-B39D-14C30A76FD95}"/>
              </a:ext>
            </a:extLst>
          </p:cNvPr>
          <p:cNvGraphicFramePr/>
          <p:nvPr/>
        </p:nvGraphicFramePr>
        <p:xfrm>
          <a:off xmlns:a="http://schemas.openxmlformats.org/drawingml/2006/main" x="838200" y="1562100"/>
          <a:ext xmlns:a="http://schemas.openxmlformats.org/drawingml/2006/main" cx="10515600" cy="2952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571750"/>
                <a:gridCol w="5810250"/>
                <a:gridCol w="2133600"/>
              </a:tblGrid>
              <a:tr h="73818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 marL="91440" marR="91440" marT="45720" marB="45720">
                    <a:solidFill>
                      <a:srgbClr val="17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Interpretation</a:t>
                      </a:r>
                    </a:p>
                  </a:txBody>
                  <a:tcPr marL="91440" marR="91440" marT="45720" marB="45720">
                    <a:solidFill>
                      <a:srgbClr val="17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Preferred direction</a:t>
                      </a:r>
                    </a:p>
                  </a:txBody>
                  <a:tcPr marL="91440" marR="91440" marT="45720" marB="45720">
                    <a:solidFill>
                      <a:srgbClr val="17364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AUROC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Ranking positives above negatives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Higher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Average precision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Precision and recall across score thresholds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Higher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Brier score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Mean squared probability error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Lower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79B11D-A33D-4EA8-866D-C07BB2E5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17364F"/>
                </a:solidFill>
                <a:latin typeface="Arial"/>
                <a:ea typeface="Arial"/>
                <a:cs typeface="Arial"/>
              </a:rPr>
              <a:t>1,000 paired patient bootstrap samples per trained model pair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4D73E0-2F42-4978-884A-A6F5F9C2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435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 b="0">
                <a:solidFill>
                  <a:srgbClr val="52616C"/>
                </a:solidFill>
                <a:latin typeface="Arial"/>
                <a:ea typeface="Arial"/>
                <a:cs typeface="Arial"/>
              </a:rPr>
              <a:t>Intervals condition on trained models. Seed variation is reported separately.</a:t>
            </a:r>
          </a:p>
        </p:txBody>
      </p:sp>
    </p:spTree>
    <p:extLst>
      <p:ext uri="{BB962C8B-B14F-4D97-AF65-F5344CB8AC3E}">
        <p14:creationId xmlns:p14="http://schemas.microsoft.com/office/powerpoint/2010/main" val="16449322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0BD648-AFD3-4117-94C8-BD7CBBFC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"/>
            <a:ext cx="10782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3300" b="1">
                <a:solidFill>
                  <a:srgbClr val="17364F"/>
                </a:solidFill>
                <a:latin typeface="Arial"/>
                <a:ea typeface="Arial"/>
                <a:cs typeface="Arial"/>
              </a:rPr>
              <a:t>AUROC across cohorts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A6EB01-E95A-4B73-944E-FBD0E365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0">
                <a:solidFill>
                  <a:srgbClr val="52616C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017AF316-DAA3-49D9-87A4-0F65A4BD0718}"/>
              </a:ext>
            </a:extLst>
          </p:cNvPr>
          <p:cNvGraphicFramePr/>
          <p:nvPr/>
        </p:nvGraphicFramePr>
        <p:xfrm>
          <a:off xmlns:a="http://schemas.openxmlformats.org/drawingml/2006/main" x="685800" y="1314450"/>
          <a:ext xmlns:a="http://schemas.openxmlformats.org/drawingml/2006/main" cx="10820400" cy="42195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cec8a6bb06f4f62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F3BBFB-6B6F-42DF-814E-28500A3E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054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443"/>
                </a:solidFill>
                <a:latin typeface="Arial"/>
                <a:ea typeface="Arial"/>
                <a:cs typeface="Arial"/>
              </a:rPr>
              <a:t>Provider 01: 0.683 / 0.631     Provider 02: 0.735 / 0.766     Provider 03: 0.712 / 0.671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2226D8-4BE8-4A77-8169-2A7AEDA4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00775"/>
            <a:ext cx="1000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0">
                <a:solidFill>
                  <a:srgbClr val="52616C"/>
                </a:solidFill>
                <a:latin typeface="Arial"/>
                <a:ea typeface="Arial"/>
                <a:cs typeface="Arial"/>
              </a:rPr>
              <a:t>Means are descriptive. Paired intervals and seed variation appear next.</a:t>
            </a:r>
          </a:p>
        </p:txBody>
      </p:sp>
    </p:spTree>
    <p:extLst>
      <p:ext uri="{BB962C8B-B14F-4D97-AF65-F5344CB8AC3E}">
        <p14:creationId xmlns:p14="http://schemas.microsoft.com/office/powerpoint/2010/main" val="10556100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F655DB-C28C-45D2-8EC8-43CC9BF1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"/>
            <a:ext cx="10782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3300" b="1">
                <a:solidFill>
                  <a:srgbClr val="17364F"/>
                </a:solidFill>
                <a:latin typeface="Arial"/>
                <a:ea typeface="Arial"/>
                <a:cs typeface="Arial"/>
              </a:rPr>
              <a:t>Paired AUROC intervals by seed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E3CB04-387C-4725-9744-DA550914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0">
                <a:solidFill>
                  <a:srgbClr val="52616C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712C0D-D034-430B-A4A1-E00CD73B055E}"/>
              </a:ext>
            </a:extLst>
          </p:cNvPr>
          <p:cNvGraphicFramePr/>
          <p:nvPr/>
        </p:nvGraphicFramePr>
        <p:xfrm>
          <a:off xmlns:a="http://schemas.openxmlformats.org/drawingml/2006/main" x="838200" y="1428750"/>
          <a:ext xmlns:a="http://schemas.openxmlformats.org/drawingml/2006/main" cx="10515600" cy="41719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714500"/>
                <a:gridCol w="1428750"/>
                <a:gridCol w="3143250"/>
                <a:gridCol w="4229100"/>
              </a:tblGrid>
              <a:tr h="41719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Provider</a:t>
                      </a:r>
                    </a:p>
                  </a:txBody>
                  <a:tcPr marL="91440" marR="91440" marT="45720" marB="45720">
                    <a:solidFill>
                      <a:srgbClr val="17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Seed</a:t>
                      </a:r>
                    </a:p>
                  </a:txBody>
                  <a:tcPr marL="91440" marR="91440" marT="45720" marB="45720">
                    <a:solidFill>
                      <a:srgbClr val="17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Seen minus unseen</a:t>
                      </a:r>
                    </a:p>
                  </a:txBody>
                  <a:tcPr marL="91440" marR="91440" marT="45720" marB="45720">
                    <a:solidFill>
                      <a:srgbClr val="17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95% patient interval</a:t>
                      </a:r>
                    </a:p>
                  </a:txBody>
                  <a:tcPr marL="91440" marR="91440" marT="45720" marB="45720">
                    <a:solidFill>
                      <a:srgbClr val="17364F"/>
                    </a:solidFill>
                  </a:tcPr>
                </a:tc>
              </a:tr>
              <a:tr h="41719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S1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+0.127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[-0.001, +0.227]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719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S2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-0.042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[-0.124, +0.035]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719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S3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+0.070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[-0.009, +0.157]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719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02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S1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-0.019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[-0.129, +0.084]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719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02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S2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-0.056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[-0.135, +0.017]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719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02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S3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-0.020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[-0.099, +0.065]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719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S1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+0.018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[-0.057, +0.092]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719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S2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+0.049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[-0.032, +0.127]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719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S3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+0.056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3"/>
                          </a:solidFill>
                          <a:latin typeface="Arial"/>
                          <a:ea typeface="Arial"/>
                          <a:cs typeface="Arial"/>
                        </a:rPr>
                        <a:t>[-0.030, +0.128]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D755CA-3A36-4893-A369-665C3185F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 b="1">
                <a:solidFill>
                  <a:srgbClr val="17364F"/>
                </a:solidFill>
                <a:latin typeface="Arial"/>
                <a:ea typeface="Arial"/>
                <a:cs typeface="Arial"/>
              </a:rPr>
              <a:t>All nine intervals include zero. These intervals exclude retraining uncertainty.</a:t>
            </a:r>
          </a:p>
        </p:txBody>
      </p:sp>
    </p:spTree>
    <p:extLst>
      <p:ext uri="{BB962C8B-B14F-4D97-AF65-F5344CB8AC3E}">
        <p14:creationId xmlns:p14="http://schemas.microsoft.com/office/powerpoint/2010/main" val="2719860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C67095-2A84-4AE4-A2B5-3705596F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"/>
            <a:ext cx="10782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3300" b="1">
                <a:solidFill>
                  <a:srgbClr val="17364F"/>
                </a:solidFill>
                <a:latin typeface="Arial"/>
                <a:ea typeface="Arial"/>
                <a:cs typeface="Arial"/>
              </a:rPr>
              <a:t>Average precision and probability error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A87CFD-FD68-450F-849B-7375BCB7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0">
                <a:solidFill>
                  <a:srgbClr val="52616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C93B93AE-81B9-4C28-8B28-926570FADDC1}"/>
              </a:ext>
            </a:extLst>
          </p:cNvPr>
          <p:cNvGraphicFramePr/>
          <p:nvPr/>
        </p:nvGraphicFramePr>
        <p:xfrm>
          <a:off xmlns:a="http://schemas.openxmlformats.org/drawingml/2006/main" x="619125" y="1438275"/>
          <a:ext xmlns:a="http://schemas.openxmlformats.org/drawingml/2006/main" cx="5286375" cy="3695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a1bce6555634553"/>
          </a:graphicData>
        </a:graphic>
      </p:graphicFrame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2F2C2154-5C05-4264-9DCF-6E9B740C932E}"/>
              </a:ext>
            </a:extLst>
          </p:cNvPr>
          <p:cNvGraphicFramePr/>
          <p:nvPr/>
        </p:nvGraphicFramePr>
        <p:xfrm>
          <a:off xmlns:a="http://schemas.openxmlformats.org/drawingml/2006/main" x="6153150" y="1438275"/>
          <a:ext xmlns:a="http://schemas.openxmlformats.org/drawingml/2006/main" cx="5286375" cy="3695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63f354b61f94a6a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AF6A93-571A-454F-AC9F-865136EB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768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175" b="1">
                <a:solidFill>
                  <a:srgbClr val="17364F"/>
                </a:solidFill>
                <a:latin typeface="Arial"/>
                <a:ea typeface="Arial"/>
                <a:cs typeface="Arial"/>
              </a:rPr>
              <a:t>Higher AP is better. Lower Brier is better.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36AF97-88A4-4BF0-AE59-0E37C764C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007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52616C"/>
                </a:solidFill>
                <a:latin typeface="Arial"/>
                <a:ea typeface="Arial"/>
                <a:cs typeface="Arial"/>
              </a:rPr>
              <a:t>Constant score uses training prevalence and reads no images. Values are seed means.</a:t>
            </a:r>
          </a:p>
        </p:txBody>
      </p:sp>
    </p:spTree>
    <p:extLst>
      <p:ext uri="{BB962C8B-B14F-4D97-AF65-F5344CB8AC3E}">
        <p14:creationId xmlns:p14="http://schemas.microsoft.com/office/powerpoint/2010/main" val="1173566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FC6EEB-D886-40B5-8218-A5BF85B2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"/>
            <a:ext cx="10782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3300" b="1">
                <a:solidFill>
                  <a:srgbClr val="17364F"/>
                </a:solidFill>
                <a:latin typeface="Arial"/>
                <a:ea typeface="Arial"/>
                <a:cs typeface="Arial"/>
              </a:rPr>
              <a:t>Case mix and limitations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7F6D03-705F-436D-9C33-3417DC68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0">
                <a:solidFill>
                  <a:srgbClr val="52616C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6E649D-F1BB-413D-BAD7-4973BCFA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1038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175" b="0">
                <a:solidFill>
                  <a:srgbClr val="203443"/>
                </a:solidFill>
                <a:latin typeface="Arial"/>
                <a:ea typeface="Arial"/>
                <a:cs typeface="Arial"/>
              </a:rPr>
              <a:t>Report-based labels still contain uncertainty.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547956-91C6-4BB0-A4B3-04D27EC2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1038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175" b="0">
                <a:solidFill>
                  <a:srgbClr val="203443"/>
                </a:solidFill>
                <a:latin typeface="Arial"/>
                <a:ea typeface="Arial"/>
                <a:cs typeface="Arial"/>
              </a:rPr>
              <a:t>Label and view matching does not balance all clinical case mix.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50F655-6AC0-4745-B89A-597BD95CB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48050"/>
            <a:ext cx="1038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175" b="0">
                <a:solidFill>
                  <a:srgbClr val="203443"/>
                </a:solidFill>
                <a:latin typeface="Arial"/>
                <a:ea typeface="Arial"/>
                <a:cs typeface="Arial"/>
              </a:rPr>
              <a:t>Test patients overlap across providers. Three seeds give limited repeatability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3666F5-DBB1-4BCA-A34D-1E224BD3C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0"/>
            <a:ext cx="1038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175" b="0">
                <a:solidFill>
                  <a:srgbClr val="203443"/>
                </a:solidFill>
                <a:latin typeface="Arial"/>
                <a:ea typeface="Arial"/>
                <a:cs typeface="Arial"/>
              </a:rPr>
              <a:t>This extension reuses existing splits and does not establish a causal provider effect.</a:t>
            </a:r>
          </a:p>
        </p:txBody>
      </p:sp>
    </p:spTree>
    <p:extLst>
      <p:ext uri="{BB962C8B-B14F-4D97-AF65-F5344CB8AC3E}">
        <p14:creationId xmlns:p14="http://schemas.microsoft.com/office/powerpoint/2010/main" val="81057774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4AC2B8-009D-4C0C-AF64-A9E8A312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"/>
            <a:ext cx="10782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3300" b="1">
                <a:solidFill>
                  <a:srgbClr val="17364F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DA3BE4-4287-4541-BDE3-BAD0B003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0">
                <a:solidFill>
                  <a:srgbClr val="52616C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A22014-69FB-443B-A5DF-DA30AFDA3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9725"/>
            <a:ext cx="10382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17364F"/>
                </a:solidFill>
                <a:latin typeface="Arial"/>
                <a:ea typeface="Arial"/>
                <a:cs typeface="Arial"/>
              </a:rPr>
              <a:t>Performance differences vary across cohorts and seeds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CEFF98-CF24-480F-9B67-0E37B6455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1038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175" b="0">
                <a:solidFill>
                  <a:srgbClr val="203443"/>
                </a:solidFill>
                <a:latin typeface="Arial"/>
                <a:ea typeface="Arial"/>
                <a:cs typeface="Arial"/>
              </a:rPr>
              <a:t>Mean AUROC differences: +0.051, −0.032 and +0.041.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6B4248-C885-44AE-810A-FD91F822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76700"/>
            <a:ext cx="1038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175" b="0">
                <a:solidFill>
                  <a:srgbClr val="203443"/>
                </a:solidFill>
                <a:latin typeface="Arial"/>
                <a:ea typeface="Arial"/>
                <a:cs typeface="Arial"/>
              </a:rPr>
              <a:t>All nine conditional AUROC intervals include zero.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462FD3-D698-44CD-8711-6E2C3063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0150"/>
            <a:ext cx="1038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175" b="0">
                <a:solidFill>
                  <a:srgbClr val="203443"/>
                </a:solidFill>
                <a:latin typeface="Arial"/>
                <a:ea typeface="Arial"/>
                <a:cs typeface="Arial"/>
              </a:rPr>
              <a:t>No reliable general benefit from inclusion emerged in this study.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D400AF-5145-457A-9CAB-45A94A1D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1027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0">
                <a:solidFill>
                  <a:srgbClr val="52616C"/>
                </a:solidFill>
                <a:latin typeface="Arial"/>
                <a:ea typeface="Arial"/>
                <a:cs typeface="Arial"/>
              </a:rPr>
              <a:t>Future work: independent label validation and new external cohorts.</a:t>
            </a:r>
          </a:p>
        </p:txBody>
      </p:sp>
    </p:spTree>
    <p:extLst>
      <p:ext uri="{BB962C8B-B14F-4D97-AF65-F5344CB8AC3E}">
        <p14:creationId xmlns:p14="http://schemas.microsoft.com/office/powerpoint/2010/main" val="13512191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2026-10-08T11:59:47.0690000Z</dcterms:created>
  <dcterms:modified xsi:type="dcterms:W3CDTF">2026-10-08T11:59:47.0690000Z</dcterms:modified>
</coreProperties>
</file>