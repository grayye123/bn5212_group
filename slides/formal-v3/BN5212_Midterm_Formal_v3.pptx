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Studies</c:v>
                </c:pt>
              </c:strCache>
            </c:strRef>
          </c:tx>
          <c:spPr>
            <a:solidFill>
              <a:srgbClr val="0E1E33"/>
            </a:solidFill>
            <a:effectLst/>
          </c:spPr>
          <c:invertIfNegative val="0"/>
          <c:dLbls>
            <c:numFmt formatCode="#,##0" sourceLinked="0"/>
            <c:txPr>
              <a:bodyPr/>
              <a:lstStyle/>
              <a:p>
                <a:pPr>
                  <a:defRPr b="0" i="0" strike="noStrike" sz="1050" u="none">
                    <a:solidFill>
                      <a:srgbClr val="24364F"/>
                    </a:solidFill>
                    <a:latin typeface="Calibri"/>
                  </a:defRPr>
                </a:pPr>
              </a:p>
            </c:txPr>
            <c:showLegendKey val="0"/>
            <c:showVal val="1"/>
            <c:showCatName val="0"/>
            <c:showSerName val="0"/>
            <c:showPercent val="0"/>
            <c:showBubbleSize val="0"/>
            <c:showLeaderLines val="0"/>
          </c:dLbls>
          <c:dPt>
            <c:idx val="0"/>
            <c:invertIfNegative val="0"/>
            <c:bubble3D val="0"/>
            <c:spPr>
              <a:solidFill>
                <a:srgbClr val="0E1E33"/>
              </a:solidFill>
              <a:effectLst/>
            </c:spPr>
          </c:dPt>
          <c:dPt>
            <c:idx val="1"/>
            <c:invertIfNegative val="0"/>
            <c:bubble3D val="0"/>
            <c:spPr>
              <a:solidFill>
                <a:srgbClr val="0E1E33"/>
              </a:solidFill>
              <a:effectLst/>
            </c:spPr>
          </c:dPt>
          <c:dPt>
            <c:idx val="2"/>
            <c:invertIfNegative val="0"/>
            <c:bubble3D val="0"/>
            <c:spPr>
              <a:solidFill>
                <a:srgbClr val="0E1E33"/>
              </a:solidFill>
              <a:effectLst/>
            </c:spPr>
          </c:dPt>
          <c:dPt>
            <c:idx val="3"/>
            <c:invertIfNegative val="0"/>
            <c:bubble3D val="0"/>
            <c:spPr>
              <a:solidFill>
                <a:srgbClr val="8FA3B8"/>
              </a:solidFill>
              <a:effectLst/>
            </c:spPr>
          </c:dPt>
          <c:dPt>
            <c:idx val="4"/>
            <c:invertIfNegative val="0"/>
            <c:bubble3D val="0"/>
            <c:spPr>
              <a:solidFill>
                <a:srgbClr val="8FA3B8"/>
              </a:solidFill>
              <a:effectLst/>
            </c:spPr>
          </c:dPt>
          <c:dPt>
            <c:idx val="5"/>
            <c:invertIfNegative val="0"/>
            <c:bubble3D val="0"/>
            <c:spPr>
              <a:solidFill>
                <a:srgbClr val="8FA3B8"/>
              </a:solidFill>
              <a:effectLst/>
            </c:spPr>
          </c:dPt>
          <c:dPt>
            <c:idx val="6"/>
            <c:invertIfNegative val="0"/>
            <c:bubble3D val="0"/>
            <c:spPr>
              <a:solidFill>
                <a:srgbClr val="8FA3B8"/>
              </a:solidFill>
              <a:effectLst/>
            </c:spPr>
          </c:dPt>
          <c:dPt>
            <c:idx val="7"/>
            <c:invertIfNegative val="0"/>
            <c:bubble3D val="0"/>
            <c:spPr>
              <a:solidFill>
                <a:srgbClr val="8FA3B8"/>
              </a:solidFill>
              <a:effectLst/>
            </c:spPr>
          </c:dPt>
          <c:dPt>
            <c:idx val="8"/>
            <c:invertIfNegative val="0"/>
            <c:bubble3D val="0"/>
            <c:spPr>
              <a:solidFill>
                <a:srgbClr val="8FA3B8"/>
              </a:solidFill>
              <a:effectLst/>
            </c:spPr>
          </c:dPt>
          <c:dPt>
            <c:idx val="9"/>
            <c:invertIfNegative val="0"/>
            <c:bubble3D val="0"/>
            <c:spPr>
              <a:solidFill>
                <a:srgbClr val="8FA3B8"/>
              </a:solidFill>
              <a:effectLst/>
            </c:spPr>
          </c:dPt>
          <c:dPt>
            <c:idx val="10"/>
            <c:invertIfNegative val="0"/>
            <c:bubble3D val="0"/>
            <c:spPr>
              <a:solidFill>
                <a:srgbClr val="8FA3B8"/>
              </a:solidFill>
              <a:effectLst/>
            </c:spPr>
          </c:dPt>
          <c:dPt>
            <c:idx val="11"/>
            <c:invertIfNegative val="0"/>
            <c:bubble3D val="0"/>
            <c:spPr>
              <a:solidFill>
                <a:srgbClr val="8FA3B8"/>
              </a:solidFill>
              <a:effectLst/>
            </c:spPr>
          </c:dPt>
          <c:cat>
            <c:multiLvlStrRef>
              <c:f>Sheet1!$A$2:$A$13</c:f>
              <c:multiLvlStrCache>
                <c:ptCount val="12"/>
                <c:lvl>
                  <c:pt idx="0">
                    <c:v>D01</c:v>
                  </c:pt>
                  <c:pt idx="1">
                    <c:v>D02</c:v>
                  </c:pt>
                  <c:pt idx="2">
                    <c:v>D03</c:v>
                  </c:pt>
                  <c:pt idx="3">
                    <c:v>D04</c:v>
                  </c:pt>
                  <c:pt idx="4">
                    <c:v>D05</c:v>
                  </c:pt>
                  <c:pt idx="5">
                    <c:v>D06</c:v>
                  </c:pt>
                  <c:pt idx="6">
                    <c:v>D07</c:v>
                  </c:pt>
                  <c:pt idx="7">
                    <c:v>D08</c:v>
                  </c:pt>
                  <c:pt idx="8">
                    <c:v>D09</c:v>
                  </c:pt>
                  <c:pt idx="9">
                    <c:v>D10</c:v>
                  </c:pt>
                  <c:pt idx="10">
                    <c:v>D11</c:v>
                  </c:pt>
                  <c:pt idx="11">
                    <c:v>D12</c:v>
                  </c:pt>
                </c:lvl>
              </c:multiLvlStrCache>
            </c:multiLvlStrRef>
          </c:cat>
          <c:val>
            <c:numRef>
              <c:f>Sheet1!$B$2:$B$13</c:f>
              <c:numCache>
                <c:formatCode>General</c:formatCode>
                <c:ptCount val="12"/>
                <c:pt idx="0">
                  <c:v>506</c:v>
                </c:pt>
                <c:pt idx="1">
                  <c:v>461</c:v>
                </c:pt>
                <c:pt idx="2">
                  <c:v>426</c:v>
                </c:pt>
                <c:pt idx="3">
                  <c:v>252</c:v>
                </c:pt>
                <c:pt idx="4">
                  <c:v>243</c:v>
                </c:pt>
                <c:pt idx="5">
                  <c:v>220</c:v>
                </c:pt>
                <c:pt idx="6">
                  <c:v>216</c:v>
                </c:pt>
                <c:pt idx="7">
                  <c:v>209</c:v>
                </c:pt>
                <c:pt idx="8">
                  <c:v>194</c:v>
                </c:pt>
                <c:pt idx="9">
                  <c:v>148</c:v>
                </c:pt>
                <c:pt idx="10">
                  <c:v>86</c:v>
                </c:pt>
                <c:pt idx="11">
                  <c:v>72</c:v>
                </c:pt>
              </c:numCache>
            </c:numRef>
          </c:val>
        </c:ser>
        <c:dLbls>
          <c:numFmt formatCode="#,##0" sourceLinked="0"/>
          <c:txPr>
            <a:bodyPr/>
            <a:lstStyle/>
            <a:p>
              <a:pPr>
                <a:defRPr b="0" i="0" strike="noStrike" sz="1050" u="none">
                  <a:solidFill>
                    <a:srgbClr val="24364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E0E8"/>
            </a:solidFill>
            <a:prstDash val="solid"/>
            <a:round/>
          </a:ln>
        </c:spPr>
        <c:txPr>
          <a:bodyPr/>
          <a:lstStyle/>
          <a:p>
            <a:pPr>
              <a:defRPr sz="1050" b="0" i="0" u="none" strike="noStrike">
                <a:solidFill>
                  <a:srgbClr val="5B6B7F"/>
                </a:solidFill>
                <a:latin typeface="Calibri"/>
              </a:defRPr>
            </a:pPr>
            <a:endParaRPr lang="en-US"/>
          </a:p>
        </c:txPr>
        <c:crossAx val="2094734552"/>
        <c:crosses val="autoZero"/>
        <c:auto val="1"/>
        <c:lblAlgn val="ctr"/>
        <c:noMultiLvlLbl val="1"/>
      </c:catAx>
      <c:valAx>
        <c:axId val="2094734552"/>
        <c:scaling>
          <c:orientation val="minMax"/>
          <c:max val="56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grouping val="standard"/>
        <c:varyColors val="0"/>
        <c:ser>
          <c:idx val="0"/>
          <c:order val="0"/>
          <c:tx>
            <c:strRef>
              <c:f>Sheet1!$B$1</c:f>
              <c:strCache>
                <c:ptCount val="1"/>
                <c:pt idx="0">
                  <c:v>Seen</c:v>
                </c:pt>
              </c:strCache>
            </c:strRef>
          </c:tx>
          <c:spPr>
            <a:solidFill>
              <a:srgbClr val="2266AA"/>
            </a:solidFill>
            <a:ln w="31750" cap="flat">
              <a:solidFill>
                <a:srgbClr val="2266AA"/>
              </a:solidFill>
              <a:prstDash val="solid"/>
              <a:round/>
            </a:ln>
            <a:effectLst/>
          </c:spPr>
          <c:marker>
            <c:symbol val="circle"/>
            <c:size val="8"/>
            <c:spPr>
              <a:solidFill>
                <a:srgbClr val="2266AA"/>
              </a:solidFill>
              <a:ln w="9525" cap="flat">
                <a:solidFill>
                  <a:srgbClr val="2266AA"/>
                </a:solidFill>
                <a:prstDash val="solid"/>
                <a:round/>
              </a:ln>
              <a:effectLst/>
            </c:spPr>
          </c:mark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0.7120800241827965</c:v>
                </c:pt>
                <c:pt idx="1">
                  <c:v>0.37502919510006905</c:v>
                </c:pt>
                <c:pt idx="2">
                  <c:v>0.18488107807934284</c:v>
                </c:pt>
                <c:pt idx="3">
                  <c:v>0.07655384205281734</c:v>
                </c:pt>
                <c:pt idx="4">
                  <c:v>0.047625562408939004</c:v>
                </c:pt>
              </c:numCache>
            </c:numRef>
          </c:val>
          <c:smooth val="0"/>
        </c:ser>
        <c:ser>
          <c:idx val="1"/>
          <c:order val="1"/>
          <c:tx>
            <c:strRef>
              <c:f>Sheet1!$C$1</c:f>
              <c:strCache>
                <c:ptCount val="1"/>
                <c:pt idx="0">
                  <c:v>Unseen</c:v>
                </c:pt>
              </c:strCache>
            </c:strRef>
          </c:tx>
          <c:spPr>
            <a:solidFill>
              <a:srgbClr val="B87716"/>
            </a:solidFill>
            <a:ln w="31750" cap="flat">
              <a:solidFill>
                <a:srgbClr val="B87716"/>
              </a:solidFill>
              <a:prstDash val="dash"/>
              <a:round/>
            </a:ln>
            <a:effectLst/>
          </c:spPr>
          <c:marker>
            <c:symbol val="circle"/>
            <c:size val="8"/>
            <c:spPr>
              <a:solidFill>
                <a:srgbClr val="B87716"/>
              </a:solidFill>
              <a:ln w="9525" cap="flat">
                <a:solidFill>
                  <a:srgbClr val="B87716"/>
                </a:solidFill>
                <a:prstDash val="solid"/>
                <a:round/>
              </a:ln>
              <a:effectLst/>
            </c:spPr>
          </c:mark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Sheet1!$C$2:$C$6</c:f>
              <c:numCache>
                <c:formatCode>General</c:formatCode>
                <c:ptCount val="5"/>
                <c:pt idx="0">
                  <c:v>0.6848403960466385</c:v>
                </c:pt>
                <c:pt idx="1">
                  <c:v>0.3280321955680847</c:v>
                </c:pt>
                <c:pt idx="2">
                  <c:v>0.17191379331052303</c:v>
                </c:pt>
                <c:pt idx="3">
                  <c:v>0.06915102922357619</c:v>
                </c:pt>
                <c:pt idx="4">
                  <c:v>0.04019160626921803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7F"/>
                    </a:solidFill>
                    <a:latin typeface="Calibri"/>
                  </a:defRPr>
                </a:pPr>
                <a:r>
                  <a:rPr sz="1100" b="0" i="0" u="none" strike="noStrike">
                    <a:solidFill>
                      <a:srgbClr val="5B6B7F"/>
                    </a:solidFill>
                    <a:latin typeface="Calibri"/>
                  </a:rPr>
                  <a:t>Epoch</a:t>
                </a:r>
              </a:p>
            </c:rich>
          </c:tx>
          <c:layout/>
          <c:overlay val="0"/>
        </c:title>
        <c:numFmt formatCode="General" sourceLinked="1"/>
        <c:majorTickMark val="out"/>
        <c:minorTickMark val="none"/>
        <c:tickLblPos val="low"/>
        <c:spPr>
          <a:ln w="12700" cap="flat">
            <a:solidFill>
              <a:srgbClr val="D9E0E8"/>
            </a:solidFill>
            <a:prstDash val="solid"/>
            <a:round/>
          </a:ln>
        </c:spPr>
        <c:txPr>
          <a:bodyPr/>
          <a:lstStyle/>
          <a:p>
            <a:pPr>
              <a:defRPr sz="1100" b="0" i="0" u="none" strike="noStrike">
                <a:solidFill>
                  <a:srgbClr val="5B6B7F"/>
                </a:solidFill>
                <a:latin typeface="Calibri"/>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E4E9EF"/>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B6B7F"/>
                </a:solidFill>
                <a:latin typeface="Calibri"/>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grouping val="standard"/>
        <c:varyColors val="0"/>
        <c:ser>
          <c:idx val="0"/>
          <c:order val="0"/>
          <c:tx>
            <c:strRef>
              <c:f>Sheet1!$B$1</c:f>
              <c:strCache>
                <c:ptCount val="1"/>
                <c:pt idx="0">
                  <c:v>Seen</c:v>
                </c:pt>
              </c:strCache>
            </c:strRef>
          </c:tx>
          <c:spPr>
            <a:solidFill>
              <a:srgbClr val="2266AA"/>
            </a:solidFill>
            <a:ln w="31750" cap="flat">
              <a:solidFill>
                <a:srgbClr val="2266AA"/>
              </a:solidFill>
              <a:prstDash val="solid"/>
              <a:round/>
            </a:ln>
            <a:effectLst/>
          </c:spPr>
          <c:marker>
            <c:symbol val="circle"/>
            <c:size val="8"/>
            <c:spPr>
              <a:solidFill>
                <a:srgbClr val="2266AA"/>
              </a:solidFill>
              <a:ln w="9525" cap="flat">
                <a:solidFill>
                  <a:srgbClr val="2266AA"/>
                </a:solidFill>
                <a:prstDash val="solid"/>
                <a:round/>
              </a:ln>
              <a:effectLst/>
            </c:spPr>
          </c:marker>
          <c:dPt>
            <c:idx val="2"/>
            <c:marker>
              <c:symbol val="circle"/>
              <c:size val="14"/>
              <c:spPr>
                <a:solidFill>
                  <a:srgbClr val="FFFFFF"/>
                </a:solidFill>
                <a:ln w="38100">
                  <a:solidFill>
                    <a:srgbClr val="2266AA"/>
                  </a:solidFill>
                </a:ln>
              </c:spPr>
            </c:marker>
            <c:bubble3D val="0"/>
          </c:dPt>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0.6105333318986086</c:v>
                </c:pt>
                <c:pt idx="1">
                  <c:v>0.5422324469675204</c:v>
                </c:pt>
                <c:pt idx="2">
                  <c:v>0.5207364961503704</c:v>
                </c:pt>
                <c:pt idx="3">
                  <c:v>0.5297727298364734</c:v>
                </c:pt>
                <c:pt idx="4">
                  <c:v>0.5433557251236965</c:v>
                </c:pt>
              </c:numCache>
            </c:numRef>
          </c:val>
          <c:smooth val="0"/>
        </c:ser>
        <c:ser>
          <c:idx val="1"/>
          <c:order val="1"/>
          <c:tx>
            <c:strRef>
              <c:f>Sheet1!$C$1</c:f>
              <c:strCache>
                <c:ptCount val="1"/>
                <c:pt idx="0">
                  <c:v>Unseen</c:v>
                </c:pt>
              </c:strCache>
            </c:strRef>
          </c:tx>
          <c:spPr>
            <a:solidFill>
              <a:srgbClr val="B87716"/>
            </a:solidFill>
            <a:ln w="31750" cap="flat">
              <a:solidFill>
                <a:srgbClr val="B87716"/>
              </a:solidFill>
              <a:prstDash val="dash"/>
              <a:round/>
            </a:ln>
            <a:effectLst/>
          </c:spPr>
          <c:marker>
            <c:symbol val="circle"/>
            <c:size val="8"/>
            <c:spPr>
              <a:solidFill>
                <a:srgbClr val="B87716"/>
              </a:solidFill>
              <a:ln w="9525" cap="flat">
                <a:solidFill>
                  <a:srgbClr val="B87716"/>
                </a:solidFill>
                <a:prstDash val="solid"/>
                <a:round/>
              </a:ln>
              <a:effectLst/>
            </c:spPr>
          </c:marker>
          <c:dPt>
            <c:idx val="3"/>
            <c:marker>
              <c:symbol val="circle"/>
              <c:size val="14"/>
              <c:spPr>
                <a:solidFill>
                  <a:srgbClr val="FFFFFF"/>
                </a:solidFill>
                <a:ln w="38100">
                  <a:solidFill>
                    <a:srgbClr val="B87716"/>
                  </a:solidFill>
                </a:ln>
              </c:spPr>
            </c:marker>
            <c:bubble3D val="0"/>
          </c:dPt>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Sheet1!$C$2:$C$6</c:f>
              <c:numCache>
                <c:formatCode>General</c:formatCode>
                <c:ptCount val="5"/>
                <c:pt idx="0">
                  <c:v>0.6405593561970678</c:v>
                </c:pt>
                <c:pt idx="1">
                  <c:v>0.6076022378872644</c:v>
                </c:pt>
                <c:pt idx="2">
                  <c:v>0.5978689600981446</c:v>
                </c:pt>
                <c:pt idx="3">
                  <c:v>0.5970703711211955</c:v>
                </c:pt>
                <c:pt idx="4">
                  <c:v>0.6268779907167561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7F"/>
                    </a:solidFill>
                    <a:latin typeface="Calibri"/>
                  </a:defRPr>
                </a:pPr>
                <a:r>
                  <a:rPr sz="1100" b="0" i="0" u="none" strike="noStrike">
                    <a:solidFill>
                      <a:srgbClr val="5B6B7F"/>
                    </a:solidFill>
                    <a:latin typeface="Calibri"/>
                  </a:rPr>
                  <a:t>Epoch</a:t>
                </a:r>
              </a:p>
            </c:rich>
          </c:tx>
          <c:layout/>
          <c:overlay val="0"/>
        </c:title>
        <c:numFmt formatCode="General" sourceLinked="1"/>
        <c:majorTickMark val="out"/>
        <c:minorTickMark val="none"/>
        <c:tickLblPos val="low"/>
        <c:spPr>
          <a:ln w="12700" cap="flat">
            <a:solidFill>
              <a:srgbClr val="D9E0E8"/>
            </a:solidFill>
            <a:prstDash val="solid"/>
            <a:round/>
          </a:ln>
        </c:spPr>
        <c:txPr>
          <a:bodyPr/>
          <a:lstStyle/>
          <a:p>
            <a:pPr>
              <a:defRPr sz="1100" b="0" i="0" u="none" strike="noStrike">
                <a:solidFill>
                  <a:srgbClr val="5B6B7F"/>
                </a:solidFill>
                <a:latin typeface="Calibri"/>
              </a:defRPr>
            </a:pPr>
            <a:endParaRPr lang="en-US"/>
          </a:p>
        </c:txPr>
        <c:crossAx val="2094734552"/>
        <c:crosses val="autoZero"/>
        <c:auto val="1"/>
        <c:lblAlgn val="ctr"/>
        <c:noMultiLvlLbl val="1"/>
      </c:catAx>
      <c:valAx>
        <c:axId val="2094734552"/>
        <c:scaling>
          <c:orientation val="minMax"/>
          <c:max val="0.66"/>
          <c:min val="0.5"/>
        </c:scaling>
        <c:delete val="0"/>
        <c:axPos val="l"/>
        <c:majorGridlines>
          <c:spPr>
            <a:ln w="9525" cap="flat">
              <a:solidFill>
                <a:srgbClr val="E4E9EF"/>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B6B7F"/>
                </a:solidFill>
                <a:latin typeface="Calibri"/>
              </a:defRPr>
            </a:pPr>
            <a:endParaRPr lang="en-US"/>
          </a:p>
        </c:txPr>
        <c:crossAx val="2094734554"/>
        <c:crosses val="autoZero"/>
        <c:crossBetween val="between"/>
        <c:majorUnit val="0.04"/>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秒 | 建议分段 1：第 1–3 页，约 100 秒 | 全套主讲 420 秒
EN script:
Hello everyone. We ask: if a chest X-ray model has seen one physician’s cases in training, does it perform differently on that physician’s new patients? Today we present a small paired pilot on real images.
中文要点：
开场点题：同一种胸片模型，训练时是否见过医生 A 关联的病例，会不会改变它在 A 的新病人上的表现。本次完成的是一次真实图像的小规模配对实验。医生编号只用于分组，不评价医生。
Sources: results/midterm_v1/README.md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秒 | 建议分段 1：第 1–3 页，约 100 秒 | 全套主讲 420 秒
EN script:
Why might the physician matter? Chest X-ray labels are usually mined from radiology reports — here with CheXbert — rather than drawn on the image. Every report is linked to an attending physician, and case mix and wording, such as “likely atelectasis”, can differ between physicians. We also know CNNs pick up source-specific signals: Zech and colleagues found pneumonia models generalised unevenly across hospitals and could even recognise the source hospital. So we ask: if training includes physician A’s cases, does the model perform differently on A’s held-out patients? This is a robustness check, not a judgement of any physician.
中文要点：
动机链条：标签来自报告文本（CheXbert），每份报告关联一位主治医生，不同医生的病例构成与措辞可能不同；Zech 2018 发现肺炎模型跨医院表现不稳定，甚至能识别来源医院。由此提出研究问题。强调这是稳健性检查，不评价医生水平，也不推断因果。
Sources: arxiv.org/abs/2004.09167 ; doi.org/10.1371/journal.pmed.1002683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秒 | 建议分段 1：第 1–3 页，约 100 秒 | 全套主讲 420 秒
EN script:
Three lines of work shape our design. Zech et al. compared hospitals, so each comparison also changed the test population. CheXbert showed that report text can be turned into positive, negative, uncertain or blank labels at scale — that is how our targets are made. MIMIC-CXR provides the images, reports and anonymised provider links. Our angle is a paired contrast: two identical ResNet-18 models share the recipe, the validation set and the exact same test studies; the training sets are matched on size, positives and views, and differ in whether they include A’s studies — 46 versus none.
中文要点：
三条相关工作：跨医院泛化（Zech）、报告标签抽取（CheXbert）、影像-报告-医生关联数据（MIMIC-CXR）。我们的新意在于“配对”：同一测试集、同一验证集、同一训练配方；两组训练集在规模、阳性数和体位上匹配，区别在于是否包含 A 的检查（46 次 vs 0 次）。这样测试人群差异不会混进比较。注意其余非 A 病例并不完全相同，且只有一个种子，所以不能说“唯一差别”。
Sources: physionet.org/content/mimic-cxr/2.1.0 ; arxiv.org/abs/2004.09167 ; doi.org/10.1371/journal.pmed.1002683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秒 | 建议分段 2：第 4–5 页，约 90 秒 | 全套主讲 420 秒
EN script:
Our data is the MIMIC-CXR course subset: 1,000 patients, 3,351 studies and 5,534 images. Each study links a patient, its images, one report and an anonymised attending ID. The model sees only one frontal image per study, PA preferred. The report provides the label, and the attending ID only defines groups. The 35 IDs are very uneven: the top three account for 42 percent of studies and only ten have at least 100 patients, so only a high-volume physician gives a usable test cohort.
中文要点：
课程子集 1,000 位病人 / 3,351 次检查 / 5,534 张影像；每次检查只选一张正面片（PA 优先，其次 AP）。报告只用于生成标签，医生编号只用于分组，都不输入模型。35 位主治医生工作量极不均衡：前三位占 42% 的检查，仅 10 位有 ≥100 位病人——只有高工作量医生才有足够的测试病人。D01–D12 是排名，不是真实编号。
Sources: docs/DATA_AUDIT.md ; docs/PROJECT.md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 秒 | 建议分段 2：第 4–5 页，约 90 秒 | 全套主讲 420 秒
EN script:
Our target is atelectasis as stated in the report. CheXbert labelled all 3,351 reports. The four of us then made 272 decisions: 222 cases where two labellers disagreed, plus 50 agreement spot-checks. We applied fixed rules conservatively: “likely” is uncertain, “most likely” is positive, very mild volume loss is not counted, and unresolved conflicts are excluded. The result: 731 positive, 11 explicit negative, 333 uncertain and 2,276 not mentioned. Positives become 1, uncertain studies are dropped, and the rest become 0 — meaning “not stated”, not “disease absent”. After filtering, 2,904 studies from 940 patients remain.
中文要点：
标签流程：CheXbert 全量打标 → 四人完成 272 条判定（222 条分歧 + 50 条一致抽查）→ 按小组规则保守协调（likely 记不确定，most likely 记阳性，非常轻微 volume loss 不计入，难以解析的冲突排除）。51 条人工判定被规则调整，原判定保留。最终：阳性 731 / 明确阴性 11 / 不确定 333 / 未提及 2,276。训练目标：阳性=1，不确定排除，其余=0；0 表示报告未明确报出，不等于确定无病。筛选后可用 2,904 次检查 / 940 位病人 / 709 次阳性。
Sources: results/midterm_v1/summary.json ; docs/PROJECT.md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 秒 | 建议分段 3：第 6–8 页，约 115 秒 | 全套主讲 420 秒
EN script:
This is the paired design. We split patients 60/20/20, so no patient appears in two sets. Physician A is the attending ID with the most eligible patients, fixed before any training. We then built two training sets of 256 studies with the same number of positives and the same PA and AP counts. The seen set keeps 46 of A’s studies; the unseen set has none. Both models choose their epoch on the same 128-study validation set, which excludes A, and both are tested on the same 109 studies from 55 of A’s held-out patients. This budget was fixed before training.
中文要点：
配对设计：按病人 60/20/20 划分（按病人是否有阳性分层，种子 20260927，病人不跨集合）。目标医生 A 按可用独立病人数最多选定，训练前确定，不按模型结果挑选。两组训练集各 256 次检查，阳性数和 PA/AP 完全一致；seen 含 A 的 46 次，unseen 为 0；独立病人数 167 / 171 未强制相等。共享验证集 128 次、不含 A，只用于选轮次。同一测试集为 A 的 109 次检查 / 55 位病人 / 39 次阳性。256/128 的规模在任何训练与测试评估前确定，原每组 1,409 次的完整清单留待期末，未按该规模训练。
Sources: results/midterm_v1/summary.json ; results/midterm_v1/README.md ; docs/PROJECT.md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秒 | 建议分段 3：第 6–8 页，约 115 秒 | 全套主讲 420 秒
EN script:
Both models use the same image-only ResNet-18, initialised from ImageNet with all layers fine-tuned. Images are decoded from DICOM, contrast-clipped and padded to 224 by 224, without augmentation. We train with AdamW at learning rate 1e-4 and batch size 32 for five epochs, and keep the epoch with the lowest validation loss. AUROC is the primary metric, supported by AUPRC and Brier score. We report seen minus unseen, with 95 percent intervals from 1,000 patient-level bootstrap resamples; the test set is never used for choices.
中文要点：
模型：ImageNet 预训练 ResNet-18，只输入胸片，全参数微调。预处理：DICOM 解码与 rescale、MONOCHROME1 反转、0.5–99.5 百分位截断、保持比例缩放并补边到 224×224、ImageNet 归一化、无数据增强。AdamW，lr 1e-4，weight decay 1e-4，batch 32，AMP，5 轮；只按共享验证集 BCE 选轮次。主要指标 AUROC，辅以 AUPRC、Brier；差值 = seen − unseen，按病人配对 bootstrap 1,000 次得 95% 区间；测试集不参与任何选择。图中胸部为示意图，实验使用真实正面胸片。
Sources: code/README.md ; results/midterm_v1/run_config.json ; arxiv.org/abs/1512.03385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 秒 | 建议分段 3：第 6–8 页，约 115 秒 | 全套主讲 420 秒
EN script:
Training loss fell steadily for both models. Validation loss bottomed out at epoch 3 for the seen model and epoch 4 for the unseen model, then rose, so those checkpoints were kept. These curves only select epochs: the validation set excludes A and each curve is one run.
中文要点：
训练损失两组都持续下降（0.712→0.048；0.685→0.040）。验证 BCE：seen 第 3 轮最低（0.521），unseen 第 4 轮最低（0.597），之后回升，所以保留这两个检查点。两图纵轴范围不同。验证集不含 A，且只有一个种子——曲线只用来选轮次；两条验证曲线高低不同也不能解读为组间差异。
Sources: results/midterm_v1/results.json (history = validation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秒 | 建议分段 4：第 9–11 页，约 115 秒 | 全套主讲 420 秒
EN script:
On the common test cohort, the seen model reaches an AUROC of 0.673 and the unseen model 0.677, and the ROC curves cross repeatedly. AUROC is the probability that a random positive study is ranked above a random negative one — it is not accuracy. AUPRC is 0.511 versus 0.573, against a chance level of 0.358, and the Brier scores are 0.222 and 0.219, versus 0.246 for a constant prediction. So both models learned some signal, but performance is modest.
中文要点：
同一测试集上 AUROC：seen 0.673，unseen 0.677，两条 ROC 曲线多次交叉。AUROC 表示随机一个阳性排在随机一个阴性之前的概率，不是正确率（不能说“准确率 67%”）。AUPRC 0.511 / 0.573（随机水平 = 阳性比例 0.358）；Brier 0.222 / 0.219（常数基线 0.246，越低越好）。两模型点估计均优于常数基线，但未单独做显著性检验；整体性能属中等。本版未报告阈值下的混淆矩阵，不要从 AUROC 推算假阳性/假阴性比例。
Sources: results/midterm_v1/results.json ; results/midterm_v1/results.png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35 秒 | 建议分段 4：第 9–11 页，约 115 秒 | 全套主讲 420 秒
EN script:
The key result is the paired difference. Seen minus unseen AUROC is minus 0.004, with a 95 percent interval from minus 0.080 to plus 0.060. The AUPRC and Brier intervals also include zero. So this pilot shows no stable difference. That is not proof of equivalence: the intervals are wide, and they only reflect which patients were sampled, not the randomness of retraining.
中文要点：
核心结论：AUROC 差值 −0.004，95% 区间 [−0.080, 0.060]；AUPRC、Brier 的区间也都包含 0 → 本次小规模实验没有稳定的组间差异证据。不能说“两组等效”或“医生没有影响”：区间很宽，且只反映测试病人抽样，不包含换种子重新训练的随机性。三项点估计在数值上都偏向 unseen，但都不稳定。
Sources: results/midterm_v1/results.json (paired_bootstrap)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35 秒 | 建议分段 4：第 9–11 页，约 115 秒 | 全套主讲 420 秒
EN script:
To conclude: the paired pipeline works end to end on real images, but this pilot has one physician group, one seed, small samples and report-derived labels. For the final project we will repeat it across more physicians and seeds, train on the full-size sets, audit “not mentioned” labels, and examine case mix and higher resolution — with test cohorts and selection rules fixed in advance. Thank you.
中文要点：
总结：配对流程已在真实图像上跑通；限制是单医生组、单种子、小样本、报告来源标签（机械未提及部分未复核）、病例构成未完全匹配。期末计划：扩展到更多主治医生和多个种子；使用已准备的完整规模训练集（每组 1,409 次，尚未训练）；随机抽查“未提及”报告；分析体位、病人重叠等病例构成，尝试 512 像素。测试集和选择规则提前固定，不为更好的结果改选医生或测试集。结束语：谢谢。
Sources: HANDOFF.md ; results/midterm_v1/README.md ; docs/PROJECT.md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 秒 | 备用页 | 全套主讲 420 秒
EN script:
Backup slide with full references; not presented within the 7 minutes.
中文要点：
参考文献与图片来源，不计入七分钟主讲。项目结果对应 results/midterm_v1（实验运行于 2026-09-27；单医生组、单种子）。本演示文稿未重新训练模型，所有数字取自公开结果文件。
Sources: results/midterm_v1/README.md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physionet.org/content/mimic-cxr/2.1.0/" TargetMode="External"/><Relationship Id="rId2" Type="http://schemas.openxmlformats.org/officeDocument/2006/relationships/hyperlink" Target="https://arxiv.org/abs/2004.09167" TargetMode="External"/><Relationship Id="rId3" Type="http://schemas.openxmlformats.org/officeDocument/2006/relationships/hyperlink" Target="https://doi.org/10.1371/journal.pmed.1002683" TargetMode="External"/><Relationship Id="rId4" Type="http://schemas.openxmlformats.org/officeDocument/2006/relationships/hyperlink" Target="https://arxiv.org/abs/1512.03385" TargetMode="External"/><Relationship Id="rId5" Type="http://schemas.openxmlformats.org/officeDocument/2006/relationships/hyperlink" Target="https://github.com/Grayye123/BN5212_group/tree/main/results/midterm_v1" TargetMode="External"/><Relationship Id="rId6" Type="http://schemas.openxmlformats.org/officeDocument/2006/relationships/hyperlink" Target="https://smart.servier.com/" TargetMode="External"/><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86600" y="0"/>
            <a:ext cx="5105095" cy="6858000"/>
          </a:xfrm>
          <a:prstGeom prst="rect">
            <a:avLst/>
          </a:prstGeom>
          <a:solidFill>
            <a:srgbClr val="0E1E33"/>
          </a:solidFill>
          <a:ln/>
        </p:spPr>
      </p:sp>
      <p:pic>
        <p:nvPicPr>
          <p:cNvPr id="3" name="Image 0" descr="Schematic lung illustration adapted from Servier Medical Art (CC BY 4.0)">    </p:cNvPr>
          <p:cNvPicPr>
            <a:picLocks noChangeAspect="1"/>
          </p:cNvPicPr>
          <p:nvPr/>
        </p:nvPicPr>
        <p:blipFill>
          <a:blip r:embed="rId1"/>
          <a:stretch>
            <a:fillRect/>
          </a:stretch>
        </p:blipFill>
        <p:spPr>
          <a:xfrm>
            <a:off x="7281055" y="502920"/>
            <a:ext cx="4716184" cy="4983480"/>
          </a:xfrm>
          <a:prstGeom prst="rect">
            <a:avLst/>
          </a:prstGeom>
        </p:spPr>
      </p:pic>
      <p:sp>
        <p:nvSpPr>
          <p:cNvPr id="4" name="Text 1"/>
          <p:cNvSpPr txBox="1"/>
          <p:nvPr/>
        </p:nvSpPr>
        <p:spPr>
          <a:xfrm>
            <a:off x="7269480" y="5669280"/>
            <a:ext cx="4754880" cy="292608"/>
          </a:xfrm>
          <a:prstGeom prst="rect">
            <a:avLst/>
          </a:prstGeom>
          <a:noFill/>
          <a:ln/>
        </p:spPr>
        <p:txBody>
          <a:bodyPr wrap="square" lIns="0" tIns="0" rIns="0" bIns="0" rtlCol="0" anchor="ctr"/>
          <a:lstStyle/>
          <a:p>
            <a:pPr algn="ctr" indent="0" marL="0">
              <a:buNone/>
            </a:pPr>
            <a:r>
              <a:rPr lang="en-US" sz="1200" dirty="0">
                <a:solidFill>
                  <a:srgbClr val="D7E2EE"/>
                </a:solidFill>
                <a:latin typeface="Calibri" pitchFamily="34" charset="0"/>
                <a:ea typeface="Calibri" pitchFamily="34" charset="-122"/>
                <a:cs typeface="Calibri" pitchFamily="34" charset="-120"/>
              </a:rPr>
              <a:t>Prediction target: atelectasis as stated in the radiology report</a:t>
            </a:r>
            <a:endParaRPr lang="en-US" sz="1200" dirty="0"/>
          </a:p>
        </p:txBody>
      </p:sp>
      <p:sp>
        <p:nvSpPr>
          <p:cNvPr id="5" name="Text 2"/>
          <p:cNvSpPr txBox="1"/>
          <p:nvPr/>
        </p:nvSpPr>
        <p:spPr>
          <a:xfrm>
            <a:off x="7269480" y="6263640"/>
            <a:ext cx="4754880" cy="228600"/>
          </a:xfrm>
          <a:prstGeom prst="rect">
            <a:avLst/>
          </a:prstGeom>
          <a:noFill/>
          <a:ln/>
        </p:spPr>
        <p:txBody>
          <a:bodyPr wrap="square" lIns="0" tIns="0" rIns="0" bIns="0" rtlCol="0" anchor="ctr"/>
          <a:lstStyle/>
          <a:p>
            <a:pPr algn="ctr" indent="0" marL="0">
              <a:buNone/>
            </a:pPr>
            <a:r>
              <a:rPr lang="en-US" sz="800" dirty="0">
                <a:solidFill>
                  <a:srgbClr val="6F8299"/>
                </a:solidFill>
                <a:latin typeface="Calibri" pitchFamily="34" charset="0"/>
                <a:ea typeface="Calibri" pitchFamily="34" charset="-122"/>
                <a:cs typeface="Calibri" pitchFamily="34" charset="-120"/>
              </a:rPr>
              <a:t>Lung illustration adapted from Servier Medical Art · CC BY 4.0</a:t>
            </a:r>
            <a:endParaRPr lang="en-US" sz="800" dirty="0"/>
          </a:p>
        </p:txBody>
      </p:sp>
      <p:pic>
        <p:nvPicPr>
          <p:cNvPr id="6" name="Image 1" descr="National University of Singapore logo">    </p:cNvPr>
          <p:cNvPicPr>
            <a:picLocks noChangeAspect="1"/>
          </p:cNvPicPr>
          <p:nvPr/>
        </p:nvPicPr>
        <p:blipFill>
          <a:blip r:embed="rId2"/>
          <a:stretch>
            <a:fillRect/>
          </a:stretch>
        </p:blipFill>
        <p:spPr>
          <a:xfrm>
            <a:off x="548640" y="457200"/>
            <a:ext cx="554361" cy="731520"/>
          </a:xfrm>
          <a:prstGeom prst="rect">
            <a:avLst/>
          </a:prstGeom>
        </p:spPr>
      </p:pic>
      <p:sp>
        <p:nvSpPr>
          <p:cNvPr id="7" name="Text 3"/>
          <p:cNvSpPr txBox="1"/>
          <p:nvPr/>
        </p:nvSpPr>
        <p:spPr>
          <a:xfrm>
            <a:off x="1298448" y="658368"/>
            <a:ext cx="5029200" cy="310896"/>
          </a:xfrm>
          <a:prstGeom prst="rect">
            <a:avLst/>
          </a:prstGeom>
          <a:noFill/>
          <a:ln/>
        </p:spPr>
        <p:txBody>
          <a:bodyPr wrap="square" lIns="0" tIns="0" rIns="0" bIns="0" rtlCol="0" anchor="ctr"/>
          <a:lstStyle/>
          <a:p>
            <a:pPr indent="0" marL="0">
              <a:buNone/>
            </a:pPr>
            <a:r>
              <a:rPr lang="en-US" sz="1250" b="1" spc="200" kern="0" dirty="0">
                <a:solidFill>
                  <a:srgbClr val="2266AA"/>
                </a:solidFill>
                <a:latin typeface="Calibri" pitchFamily="34" charset="0"/>
                <a:ea typeface="Calibri" pitchFamily="34" charset="-122"/>
                <a:cs typeface="Calibri" pitchFamily="34" charset="-120"/>
              </a:rPr>
              <a:t>BN5212  ·  MIDTERM PROJECT</a:t>
            </a:r>
            <a:endParaRPr lang="en-US" sz="1250" dirty="0"/>
          </a:p>
        </p:txBody>
      </p:sp>
      <p:sp>
        <p:nvSpPr>
          <p:cNvPr id="8" name="Text 4"/>
          <p:cNvSpPr txBox="1"/>
          <p:nvPr/>
        </p:nvSpPr>
        <p:spPr>
          <a:xfrm>
            <a:off x="548640" y="1600200"/>
            <a:ext cx="6217920" cy="2057400"/>
          </a:xfrm>
          <a:prstGeom prst="rect">
            <a:avLst/>
          </a:prstGeom>
          <a:noFill/>
          <a:ln/>
        </p:spPr>
        <p:txBody>
          <a:bodyPr wrap="square" lIns="0" tIns="0" rIns="0" bIns="0" rtlCol="0" anchor="t"/>
          <a:lstStyle/>
          <a:p>
            <a:pPr indent="0" marL="0">
              <a:lnSpc>
                <a:spcPct val="95000"/>
              </a:lnSpc>
              <a:buNone/>
            </a:pPr>
            <a:r>
              <a:rPr lang="en-US" sz="4000" b="1" dirty="0">
                <a:solidFill>
                  <a:srgbClr val="0E1E33"/>
                </a:solidFill>
                <a:latin typeface="Calibri" pitchFamily="34" charset="0"/>
                <a:ea typeface="Calibri" pitchFamily="34" charset="-122"/>
                <a:cs typeface="Calibri" pitchFamily="34" charset="-120"/>
              </a:rPr>
              <a:t>Physician-associated variation in chest X-ray prediction</a:t>
            </a:r>
            <a:endParaRPr lang="en-US" sz="4000" dirty="0"/>
          </a:p>
        </p:txBody>
      </p:sp>
      <p:sp>
        <p:nvSpPr>
          <p:cNvPr id="9" name="Text 5"/>
          <p:cNvSpPr txBox="1"/>
          <p:nvPr/>
        </p:nvSpPr>
        <p:spPr>
          <a:xfrm>
            <a:off x="548640" y="3840480"/>
            <a:ext cx="5943600" cy="256032"/>
          </a:xfrm>
          <a:prstGeom prst="rect">
            <a:avLst/>
          </a:prstGeom>
          <a:noFill/>
          <a:ln/>
        </p:spPr>
        <p:txBody>
          <a:bodyPr wrap="square" lIns="0" tIns="0" rIns="0" bIns="0" rtlCol="0" anchor="t"/>
          <a:lstStyle/>
          <a:p>
            <a:pPr indent="0" marL="0">
              <a:buNone/>
            </a:pPr>
            <a:r>
              <a:rPr lang="en-US" sz="1100" b="1" spc="150" kern="0" dirty="0">
                <a:solidFill>
                  <a:srgbClr val="2266AA"/>
                </a:solidFill>
                <a:latin typeface="Calibri" pitchFamily="34" charset="0"/>
                <a:ea typeface="Calibri" pitchFamily="34" charset="-122"/>
                <a:cs typeface="Calibri" pitchFamily="34" charset="-120"/>
              </a:rPr>
              <a:t>RESEARCH QUESTION</a:t>
            </a:r>
            <a:endParaRPr lang="en-US" sz="1100" dirty="0"/>
          </a:p>
        </p:txBody>
      </p:sp>
      <p:sp>
        <p:nvSpPr>
          <p:cNvPr id="10" name="Text 6"/>
          <p:cNvSpPr txBox="1"/>
          <p:nvPr/>
        </p:nvSpPr>
        <p:spPr>
          <a:xfrm>
            <a:off x="548640" y="4133088"/>
            <a:ext cx="5989320" cy="960120"/>
          </a:xfrm>
          <a:prstGeom prst="rect">
            <a:avLst/>
          </a:prstGeom>
          <a:noFill/>
          <a:ln/>
        </p:spPr>
        <p:txBody>
          <a:bodyPr wrap="square" lIns="0" tIns="0" rIns="0" bIns="0" rtlCol="0" anchor="t"/>
          <a:lstStyle/>
          <a:p>
            <a:pPr indent="0" marL="0">
              <a:buNone/>
            </a:pPr>
            <a:r>
              <a:rPr lang="en-US" sz="1700" dirty="0">
                <a:solidFill>
                  <a:srgbClr val="24364F"/>
                </a:solidFill>
                <a:latin typeface="Calibri" pitchFamily="34" charset="0"/>
                <a:ea typeface="Calibri" pitchFamily="34" charset="-122"/>
                <a:cs typeface="Calibri" pitchFamily="34" charset="-120"/>
              </a:rPr>
              <a:t>Does including one attending physician’s cases in training change a model’s atelectasis predictions for that physician’s held-out patients?</a:t>
            </a:r>
            <a:endParaRPr lang="en-US" sz="1700" dirty="0"/>
          </a:p>
        </p:txBody>
      </p:sp>
      <p:sp>
        <p:nvSpPr>
          <p:cNvPr id="11" name="Text 7"/>
          <p:cNvSpPr txBox="1"/>
          <p:nvPr/>
        </p:nvSpPr>
        <p:spPr>
          <a:xfrm>
            <a:off x="548640" y="5468112"/>
            <a:ext cx="1371600" cy="256032"/>
          </a:xfrm>
          <a:prstGeom prst="rect">
            <a:avLst/>
          </a:prstGeom>
          <a:noFill/>
          <a:ln/>
        </p:spPr>
        <p:txBody>
          <a:bodyPr wrap="square" lIns="0" tIns="0" rIns="0" bIns="0" rtlCol="0" anchor="t"/>
          <a:lstStyle/>
          <a:p>
            <a:pPr indent="0" marL="0">
              <a:buNone/>
            </a:pPr>
            <a:r>
              <a:rPr lang="en-US" sz="1200" b="1" dirty="0">
                <a:solidFill>
                  <a:srgbClr val="2266AA"/>
                </a:solidFill>
                <a:latin typeface="Calibri" pitchFamily="34" charset="0"/>
                <a:ea typeface="Calibri" pitchFamily="34" charset="-122"/>
                <a:cs typeface="Calibri" pitchFamily="34" charset="-120"/>
              </a:rPr>
              <a:t>01</a:t>
            </a:r>
            <a:endParaRPr lang="en-US" sz="1200" dirty="0"/>
          </a:p>
        </p:txBody>
      </p:sp>
      <p:sp>
        <p:nvSpPr>
          <p:cNvPr id="12" name="Text 8"/>
          <p:cNvSpPr txBox="1"/>
          <p:nvPr/>
        </p:nvSpPr>
        <p:spPr>
          <a:xfrm>
            <a:off x="548640" y="5724144"/>
            <a:ext cx="1463040" cy="274320"/>
          </a:xfrm>
          <a:prstGeom prst="rect">
            <a:avLst/>
          </a:prstGeom>
          <a:noFill/>
          <a:ln/>
        </p:spPr>
        <p:txBody>
          <a:bodyPr wrap="square" lIns="0" tIns="0" rIns="0" bIns="0" rtlCol="0" anchor="t"/>
          <a:lstStyle/>
          <a:p>
            <a:pPr indent="0" marL="0">
              <a:buNone/>
            </a:pPr>
            <a:r>
              <a:rPr lang="en-US" sz="1250" dirty="0">
                <a:solidFill>
                  <a:srgbClr val="24364F"/>
                </a:solidFill>
                <a:latin typeface="Calibri" pitchFamily="34" charset="0"/>
                <a:ea typeface="Calibri" pitchFamily="34" charset="-122"/>
                <a:cs typeface="Calibri" pitchFamily="34" charset="-120"/>
              </a:rPr>
              <a:t>Motivation</a:t>
            </a:r>
            <a:endParaRPr lang="en-US" sz="1250" dirty="0"/>
          </a:p>
        </p:txBody>
      </p:sp>
      <p:sp>
        <p:nvSpPr>
          <p:cNvPr id="13" name="Text 9"/>
          <p:cNvSpPr txBox="1"/>
          <p:nvPr/>
        </p:nvSpPr>
        <p:spPr>
          <a:xfrm>
            <a:off x="2066544" y="5468112"/>
            <a:ext cx="1371600" cy="256032"/>
          </a:xfrm>
          <a:prstGeom prst="rect">
            <a:avLst/>
          </a:prstGeom>
          <a:noFill/>
          <a:ln/>
        </p:spPr>
        <p:txBody>
          <a:bodyPr wrap="square" lIns="0" tIns="0" rIns="0" bIns="0" rtlCol="0" anchor="t"/>
          <a:lstStyle/>
          <a:p>
            <a:pPr indent="0" marL="0">
              <a:buNone/>
            </a:pPr>
            <a:r>
              <a:rPr lang="en-US" sz="1200" b="1" dirty="0">
                <a:solidFill>
                  <a:srgbClr val="2266AA"/>
                </a:solidFill>
                <a:latin typeface="Calibri" pitchFamily="34" charset="0"/>
                <a:ea typeface="Calibri" pitchFamily="34" charset="-122"/>
                <a:cs typeface="Calibri" pitchFamily="34" charset="-120"/>
              </a:rPr>
              <a:t>02</a:t>
            </a:r>
            <a:endParaRPr lang="en-US" sz="1200" dirty="0"/>
          </a:p>
        </p:txBody>
      </p:sp>
      <p:sp>
        <p:nvSpPr>
          <p:cNvPr id="14" name="Text 10"/>
          <p:cNvSpPr txBox="1"/>
          <p:nvPr/>
        </p:nvSpPr>
        <p:spPr>
          <a:xfrm>
            <a:off x="2066544" y="5724144"/>
            <a:ext cx="1463040" cy="274320"/>
          </a:xfrm>
          <a:prstGeom prst="rect">
            <a:avLst/>
          </a:prstGeom>
          <a:noFill/>
          <a:ln/>
        </p:spPr>
        <p:txBody>
          <a:bodyPr wrap="square" lIns="0" tIns="0" rIns="0" bIns="0" rtlCol="0" anchor="t"/>
          <a:lstStyle/>
          <a:p>
            <a:pPr indent="0" marL="0">
              <a:buNone/>
            </a:pPr>
            <a:r>
              <a:rPr lang="en-US" sz="1250" dirty="0">
                <a:solidFill>
                  <a:srgbClr val="24364F"/>
                </a:solidFill>
                <a:latin typeface="Calibri" pitchFamily="34" charset="0"/>
                <a:ea typeface="Calibri" pitchFamily="34" charset="-122"/>
                <a:cs typeface="Calibri" pitchFamily="34" charset="-120"/>
              </a:rPr>
              <a:t>Data &amp; labels</a:t>
            </a:r>
            <a:endParaRPr lang="en-US" sz="1250" dirty="0"/>
          </a:p>
        </p:txBody>
      </p:sp>
      <p:sp>
        <p:nvSpPr>
          <p:cNvPr id="15" name="Text 11"/>
          <p:cNvSpPr txBox="1"/>
          <p:nvPr/>
        </p:nvSpPr>
        <p:spPr>
          <a:xfrm>
            <a:off x="3584448" y="5468112"/>
            <a:ext cx="1371600" cy="256032"/>
          </a:xfrm>
          <a:prstGeom prst="rect">
            <a:avLst/>
          </a:prstGeom>
          <a:noFill/>
          <a:ln/>
        </p:spPr>
        <p:txBody>
          <a:bodyPr wrap="square" lIns="0" tIns="0" rIns="0" bIns="0" rtlCol="0" anchor="t"/>
          <a:lstStyle/>
          <a:p>
            <a:pPr indent="0" marL="0">
              <a:buNone/>
            </a:pPr>
            <a:r>
              <a:rPr lang="en-US" sz="1200" b="1" dirty="0">
                <a:solidFill>
                  <a:srgbClr val="2266AA"/>
                </a:solidFill>
                <a:latin typeface="Calibri" pitchFamily="34" charset="0"/>
                <a:ea typeface="Calibri" pitchFamily="34" charset="-122"/>
                <a:cs typeface="Calibri" pitchFamily="34" charset="-120"/>
              </a:rPr>
              <a:t>03</a:t>
            </a:r>
            <a:endParaRPr lang="en-US" sz="1200" dirty="0"/>
          </a:p>
        </p:txBody>
      </p:sp>
      <p:sp>
        <p:nvSpPr>
          <p:cNvPr id="16" name="Text 12"/>
          <p:cNvSpPr txBox="1"/>
          <p:nvPr/>
        </p:nvSpPr>
        <p:spPr>
          <a:xfrm>
            <a:off x="3584448" y="5724144"/>
            <a:ext cx="1463040" cy="274320"/>
          </a:xfrm>
          <a:prstGeom prst="rect">
            <a:avLst/>
          </a:prstGeom>
          <a:noFill/>
          <a:ln/>
        </p:spPr>
        <p:txBody>
          <a:bodyPr wrap="square" lIns="0" tIns="0" rIns="0" bIns="0" rtlCol="0" anchor="t"/>
          <a:lstStyle/>
          <a:p>
            <a:pPr indent="0" marL="0">
              <a:buNone/>
            </a:pPr>
            <a:r>
              <a:rPr lang="en-US" sz="1250" dirty="0">
                <a:solidFill>
                  <a:srgbClr val="24364F"/>
                </a:solidFill>
                <a:latin typeface="Calibri" pitchFamily="34" charset="0"/>
                <a:ea typeface="Calibri" pitchFamily="34" charset="-122"/>
                <a:cs typeface="Calibri" pitchFamily="34" charset="-120"/>
              </a:rPr>
              <a:t>Method</a:t>
            </a:r>
            <a:endParaRPr lang="en-US" sz="1250" dirty="0"/>
          </a:p>
        </p:txBody>
      </p:sp>
      <p:sp>
        <p:nvSpPr>
          <p:cNvPr id="17" name="Text 13"/>
          <p:cNvSpPr txBox="1"/>
          <p:nvPr/>
        </p:nvSpPr>
        <p:spPr>
          <a:xfrm>
            <a:off x="5102352" y="5468112"/>
            <a:ext cx="1371600" cy="256032"/>
          </a:xfrm>
          <a:prstGeom prst="rect">
            <a:avLst/>
          </a:prstGeom>
          <a:noFill/>
          <a:ln/>
        </p:spPr>
        <p:txBody>
          <a:bodyPr wrap="square" lIns="0" tIns="0" rIns="0" bIns="0" rtlCol="0" anchor="t"/>
          <a:lstStyle/>
          <a:p>
            <a:pPr indent="0" marL="0">
              <a:buNone/>
            </a:pPr>
            <a:r>
              <a:rPr lang="en-US" sz="1200" b="1" dirty="0">
                <a:solidFill>
                  <a:srgbClr val="2266AA"/>
                </a:solidFill>
                <a:latin typeface="Calibri" pitchFamily="34" charset="0"/>
                <a:ea typeface="Calibri" pitchFamily="34" charset="-122"/>
                <a:cs typeface="Calibri" pitchFamily="34" charset="-120"/>
              </a:rPr>
              <a:t>04</a:t>
            </a:r>
            <a:endParaRPr lang="en-US" sz="1200" dirty="0"/>
          </a:p>
        </p:txBody>
      </p:sp>
      <p:sp>
        <p:nvSpPr>
          <p:cNvPr id="18" name="Text 14"/>
          <p:cNvSpPr txBox="1"/>
          <p:nvPr/>
        </p:nvSpPr>
        <p:spPr>
          <a:xfrm>
            <a:off x="5102352" y="5724144"/>
            <a:ext cx="1920240" cy="274320"/>
          </a:xfrm>
          <a:prstGeom prst="rect">
            <a:avLst/>
          </a:prstGeom>
          <a:noFill/>
          <a:ln/>
        </p:spPr>
        <p:txBody>
          <a:bodyPr wrap="square" lIns="0" tIns="0" rIns="0" bIns="0" rtlCol="0" anchor="t"/>
          <a:lstStyle/>
          <a:p>
            <a:pPr indent="0" marL="0">
              <a:buNone/>
            </a:pPr>
            <a:r>
              <a:rPr lang="en-US" sz="1250" dirty="0">
                <a:solidFill>
                  <a:srgbClr val="24364F"/>
                </a:solidFill>
                <a:latin typeface="Calibri" pitchFamily="34" charset="0"/>
                <a:ea typeface="Calibri" pitchFamily="34" charset="-122"/>
                <a:cs typeface="Calibri" pitchFamily="34" charset="-120"/>
              </a:rPr>
              <a:t>Results &amp; next steps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84048"/>
            <a:ext cx="384048" cy="237744"/>
          </a:xfrm>
          <a:prstGeom prst="roundRect">
            <a:avLst>
              <a:gd name="adj" fmla="val 19231"/>
            </a:avLst>
          </a:prstGeom>
          <a:solidFill>
            <a:srgbClr val="0E1E33"/>
          </a:solidFill>
          <a:ln/>
        </p:spPr>
      </p:sp>
      <p:sp>
        <p:nvSpPr>
          <p:cNvPr id="3" name="Text 1"/>
          <p:cNvSpPr txBox="1"/>
          <p:nvPr/>
        </p:nvSpPr>
        <p:spPr>
          <a:xfrm>
            <a:off x="548640" y="384048"/>
            <a:ext cx="38404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4" name="Text 2"/>
          <p:cNvSpPr txBox="1"/>
          <p:nvPr/>
        </p:nvSpPr>
        <p:spPr>
          <a:xfrm>
            <a:off x="1060704" y="384048"/>
            <a:ext cx="6400800" cy="237744"/>
          </a:xfrm>
          <a:prstGeom prst="rect">
            <a:avLst/>
          </a:prstGeom>
          <a:noFill/>
          <a:ln/>
        </p:spPr>
        <p:txBody>
          <a:bodyPr wrap="square" lIns="0" tIns="0" rIns="0" bIns="0" rtlCol="0" anchor="ctr"/>
          <a:lstStyle/>
          <a:p>
            <a:pPr indent="0" marL="0">
              <a:buNone/>
            </a:pPr>
            <a:r>
              <a:rPr lang="en-US" sz="1050" b="1" spc="150" kern="0" dirty="0">
                <a:solidFill>
                  <a:srgbClr val="5B6B7F"/>
                </a:solidFill>
                <a:latin typeface="Calibri" pitchFamily="34" charset="0"/>
                <a:ea typeface="Calibri" pitchFamily="34" charset="-122"/>
                <a:cs typeface="Calibri" pitchFamily="34" charset="-120"/>
              </a:rPr>
              <a:t>PROBLEM &amp; MOTIVATION</a:t>
            </a:r>
            <a:endParaRPr lang="en-US" sz="1050" dirty="0"/>
          </a:p>
        </p:txBody>
      </p:sp>
      <p:sp>
        <p:nvSpPr>
          <p:cNvPr id="5" name="Text 3"/>
          <p:cNvSpPr txBox="1"/>
          <p:nvPr/>
        </p:nvSpPr>
        <p:spPr>
          <a:xfrm>
            <a:off x="548640" y="731520"/>
            <a:ext cx="11094415" cy="548640"/>
          </a:xfrm>
          <a:prstGeom prst="rect">
            <a:avLst/>
          </a:prstGeom>
          <a:noFill/>
          <a:ln/>
        </p:spPr>
        <p:txBody>
          <a:bodyPr wrap="square" lIns="0" tIns="0" rIns="0" bIns="0" rtlCol="0" anchor="ctr"/>
          <a:lstStyle/>
          <a:p>
            <a:pPr indent="0" marL="0">
              <a:buNone/>
            </a:pPr>
            <a:r>
              <a:rPr lang="en-US" sz="2800" b="1" dirty="0">
                <a:solidFill>
                  <a:srgbClr val="0E1E33"/>
                </a:solidFill>
                <a:latin typeface="Calibri" pitchFamily="34" charset="0"/>
                <a:ea typeface="Calibri" pitchFamily="34" charset="-122"/>
                <a:cs typeface="Calibri" pitchFamily="34" charset="-120"/>
              </a:rPr>
              <a:t>Labels come from reports, and reports come from physicians</a:t>
            </a:r>
            <a:endParaRPr lang="en-US" sz="2800" dirty="0"/>
          </a:p>
        </p:txBody>
      </p:sp>
      <p:sp>
        <p:nvSpPr>
          <p:cNvPr id="6" name="Text 4"/>
          <p:cNvSpPr txBox="1"/>
          <p:nvPr/>
        </p:nvSpPr>
        <p:spPr>
          <a:xfrm>
            <a:off x="548640" y="1280160"/>
            <a:ext cx="11094415" cy="329184"/>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So a model trained on report-derived labels could also absorb physician-associated patterns.</a:t>
            </a:r>
            <a:endParaRPr lang="en-US" sz="1500" dirty="0"/>
          </a:p>
        </p:txBody>
      </p:sp>
      <p:sp>
        <p:nvSpPr>
          <p:cNvPr id="7" name="Shape 5"/>
          <p:cNvSpPr/>
          <p:nvPr/>
        </p:nvSpPr>
        <p:spPr>
          <a:xfrm>
            <a:off x="841248" y="2596896"/>
            <a:ext cx="0" cy="594360"/>
          </a:xfrm>
          <a:prstGeom prst="line">
            <a:avLst/>
          </a:prstGeom>
          <a:noFill/>
          <a:ln w="19050">
            <a:solidFill>
              <a:srgbClr val="C9D5E2"/>
            </a:solidFill>
            <a:prstDash val="dash"/>
          </a:ln>
        </p:spPr>
      </p:sp>
      <p:sp>
        <p:nvSpPr>
          <p:cNvPr id="8" name="Shape 6"/>
          <p:cNvSpPr/>
          <p:nvPr/>
        </p:nvSpPr>
        <p:spPr>
          <a:xfrm>
            <a:off x="548640" y="1938528"/>
            <a:ext cx="585216" cy="585216"/>
          </a:xfrm>
          <a:prstGeom prst="ellipse">
            <a:avLst/>
          </a:prstGeom>
          <a:solidFill>
            <a:srgbClr val="E7EDF4"/>
          </a:solidFill>
          <a:ln/>
        </p:spPr>
      </p:sp>
      <p:pic>
        <p:nvPicPr>
          <p:cNvPr id="9" name="Image 0" descr="file text icon">    </p:cNvPr>
          <p:cNvPicPr>
            <a:picLocks noChangeAspect="1"/>
          </p:cNvPicPr>
          <p:nvPr/>
        </p:nvPicPr>
        <p:blipFill>
          <a:blip r:embed="rId1"/>
          <a:stretch>
            <a:fillRect/>
          </a:stretch>
        </p:blipFill>
        <p:spPr>
          <a:xfrm>
            <a:off x="689092" y="2078980"/>
            <a:ext cx="304312" cy="304312"/>
          </a:xfrm>
          <a:prstGeom prst="rect">
            <a:avLst/>
          </a:prstGeom>
        </p:spPr>
      </p:pic>
      <p:sp>
        <p:nvSpPr>
          <p:cNvPr id="10" name="Text 7"/>
          <p:cNvSpPr txBox="1"/>
          <p:nvPr/>
        </p:nvSpPr>
        <p:spPr>
          <a:xfrm>
            <a:off x="1371600" y="1920240"/>
            <a:ext cx="5120640" cy="329184"/>
          </a:xfrm>
          <a:prstGeom prst="rect">
            <a:avLst/>
          </a:prstGeom>
          <a:noFill/>
          <a:ln/>
        </p:spPr>
        <p:txBody>
          <a:bodyPr wrap="square" lIns="0" tIns="0" rIns="0" bIns="0" rtlCol="0" anchor="t"/>
          <a:lstStyle/>
          <a:p>
            <a:pPr indent="0" marL="0">
              <a:buNone/>
            </a:pPr>
            <a:r>
              <a:rPr lang="en-US" sz="1700" b="1" dirty="0">
                <a:solidFill>
                  <a:srgbClr val="0E1E33"/>
                </a:solidFill>
                <a:latin typeface="Calibri" pitchFamily="34" charset="0"/>
                <a:ea typeface="Calibri" pitchFamily="34" charset="-122"/>
                <a:cs typeface="Calibri" pitchFamily="34" charset="-120"/>
              </a:rPr>
              <a:t>Labels are read from report text</a:t>
            </a:r>
            <a:endParaRPr lang="en-US" sz="1700" dirty="0"/>
          </a:p>
        </p:txBody>
      </p:sp>
      <p:sp>
        <p:nvSpPr>
          <p:cNvPr id="11" name="Text 8"/>
          <p:cNvSpPr txBox="1"/>
          <p:nvPr/>
        </p:nvSpPr>
        <p:spPr>
          <a:xfrm>
            <a:off x="1371600" y="2286000"/>
            <a:ext cx="5074920" cy="64008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CheXbert turns each radiology report into positive, negative, uncertain or not mentioned [2].</a:t>
            </a:r>
            <a:endParaRPr lang="en-US" sz="1350" dirty="0"/>
          </a:p>
        </p:txBody>
      </p:sp>
      <p:sp>
        <p:nvSpPr>
          <p:cNvPr id="12" name="Shape 9"/>
          <p:cNvSpPr/>
          <p:nvPr/>
        </p:nvSpPr>
        <p:spPr>
          <a:xfrm>
            <a:off x="841248" y="3922776"/>
            <a:ext cx="0" cy="594360"/>
          </a:xfrm>
          <a:prstGeom prst="line">
            <a:avLst/>
          </a:prstGeom>
          <a:noFill/>
          <a:ln w="19050">
            <a:solidFill>
              <a:srgbClr val="C9D5E2"/>
            </a:solidFill>
            <a:prstDash val="dash"/>
          </a:ln>
        </p:spPr>
      </p:sp>
      <p:sp>
        <p:nvSpPr>
          <p:cNvPr id="13" name="Shape 10"/>
          <p:cNvSpPr/>
          <p:nvPr/>
        </p:nvSpPr>
        <p:spPr>
          <a:xfrm>
            <a:off x="548640" y="3264408"/>
            <a:ext cx="585216" cy="585216"/>
          </a:xfrm>
          <a:prstGeom prst="ellipse">
            <a:avLst/>
          </a:prstGeom>
          <a:solidFill>
            <a:srgbClr val="E7EDF4"/>
          </a:solidFill>
          <a:ln/>
        </p:spPr>
      </p:sp>
      <p:pic>
        <p:nvPicPr>
          <p:cNvPr id="14" name="Image 1" descr="stethoscope icon">    </p:cNvPr>
          <p:cNvPicPr>
            <a:picLocks noChangeAspect="1"/>
          </p:cNvPicPr>
          <p:nvPr/>
        </p:nvPicPr>
        <p:blipFill>
          <a:blip r:embed="rId2"/>
          <a:stretch>
            <a:fillRect/>
          </a:stretch>
        </p:blipFill>
        <p:spPr>
          <a:xfrm>
            <a:off x="689092" y="3404860"/>
            <a:ext cx="304312" cy="304312"/>
          </a:xfrm>
          <a:prstGeom prst="rect">
            <a:avLst/>
          </a:prstGeom>
        </p:spPr>
      </p:pic>
      <p:sp>
        <p:nvSpPr>
          <p:cNvPr id="15" name="Text 11"/>
          <p:cNvSpPr txBox="1"/>
          <p:nvPr/>
        </p:nvSpPr>
        <p:spPr>
          <a:xfrm>
            <a:off x="1371600" y="3246120"/>
            <a:ext cx="5120640" cy="329184"/>
          </a:xfrm>
          <a:prstGeom prst="rect">
            <a:avLst/>
          </a:prstGeom>
          <a:noFill/>
          <a:ln/>
        </p:spPr>
        <p:txBody>
          <a:bodyPr wrap="square" lIns="0" tIns="0" rIns="0" bIns="0" rtlCol="0" anchor="t"/>
          <a:lstStyle/>
          <a:p>
            <a:pPr indent="0" marL="0">
              <a:buNone/>
            </a:pPr>
            <a:r>
              <a:rPr lang="en-US" sz="1700" b="1" dirty="0">
                <a:solidFill>
                  <a:srgbClr val="0E1E33"/>
                </a:solidFill>
                <a:latin typeface="Calibri" pitchFamily="34" charset="0"/>
                <a:ea typeface="Calibri" pitchFamily="34" charset="-122"/>
                <a:cs typeface="Calibri" pitchFamily="34" charset="-120"/>
              </a:rPr>
              <a:t>Every report is linked to an attending physician</a:t>
            </a:r>
            <a:endParaRPr lang="en-US" sz="1700" dirty="0"/>
          </a:p>
        </p:txBody>
      </p:sp>
      <p:sp>
        <p:nvSpPr>
          <p:cNvPr id="16" name="Text 12"/>
          <p:cNvSpPr txBox="1"/>
          <p:nvPr/>
        </p:nvSpPr>
        <p:spPr>
          <a:xfrm>
            <a:off x="1371600" y="3611880"/>
            <a:ext cx="5074920" cy="64008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Case mix and wording (e.g. “likely atelectasis”) can differ from one physician to another.</a:t>
            </a:r>
            <a:endParaRPr lang="en-US" sz="1350" dirty="0"/>
          </a:p>
        </p:txBody>
      </p:sp>
      <p:sp>
        <p:nvSpPr>
          <p:cNvPr id="17" name="Shape 13"/>
          <p:cNvSpPr/>
          <p:nvPr/>
        </p:nvSpPr>
        <p:spPr>
          <a:xfrm>
            <a:off x="548640" y="4590288"/>
            <a:ext cx="585216" cy="585216"/>
          </a:xfrm>
          <a:prstGeom prst="ellipse">
            <a:avLst/>
          </a:prstGeom>
          <a:solidFill>
            <a:srgbClr val="E7EDF4"/>
          </a:solidFill>
          <a:ln/>
        </p:spPr>
      </p:sp>
      <p:pic>
        <p:nvPicPr>
          <p:cNvPr id="18" name="Image 2" descr="hospital icon">    </p:cNvPr>
          <p:cNvPicPr>
            <a:picLocks noChangeAspect="1"/>
          </p:cNvPicPr>
          <p:nvPr/>
        </p:nvPicPr>
        <p:blipFill>
          <a:blip r:embed="rId3"/>
          <a:stretch>
            <a:fillRect/>
          </a:stretch>
        </p:blipFill>
        <p:spPr>
          <a:xfrm>
            <a:off x="689092" y="4730740"/>
            <a:ext cx="304312" cy="304312"/>
          </a:xfrm>
          <a:prstGeom prst="rect">
            <a:avLst/>
          </a:prstGeom>
        </p:spPr>
      </p:pic>
      <p:sp>
        <p:nvSpPr>
          <p:cNvPr id="19" name="Text 14"/>
          <p:cNvSpPr txBox="1"/>
          <p:nvPr/>
        </p:nvSpPr>
        <p:spPr>
          <a:xfrm>
            <a:off x="1371600" y="4572000"/>
            <a:ext cx="5120640" cy="329184"/>
          </a:xfrm>
          <a:prstGeom prst="rect">
            <a:avLst/>
          </a:prstGeom>
          <a:noFill/>
          <a:ln/>
        </p:spPr>
        <p:txBody>
          <a:bodyPr wrap="square" lIns="0" tIns="0" rIns="0" bIns="0" rtlCol="0" anchor="t"/>
          <a:lstStyle/>
          <a:p>
            <a:pPr indent="0" marL="0">
              <a:buNone/>
            </a:pPr>
            <a:r>
              <a:rPr lang="en-US" sz="1700" b="1" dirty="0">
                <a:solidFill>
                  <a:srgbClr val="0E1E33"/>
                </a:solidFill>
                <a:latin typeface="Calibri" pitchFamily="34" charset="0"/>
                <a:ea typeface="Calibri" pitchFamily="34" charset="-122"/>
                <a:cs typeface="Calibri" pitchFamily="34" charset="-120"/>
              </a:rPr>
              <a:t>CNNs can pick up source-specific signals</a:t>
            </a:r>
            <a:endParaRPr lang="en-US" sz="1700" dirty="0"/>
          </a:p>
        </p:txBody>
      </p:sp>
      <p:sp>
        <p:nvSpPr>
          <p:cNvPr id="20" name="Text 15"/>
          <p:cNvSpPr txBox="1"/>
          <p:nvPr/>
        </p:nvSpPr>
        <p:spPr>
          <a:xfrm>
            <a:off x="1371600" y="4937760"/>
            <a:ext cx="5074920" cy="64008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Pneumonia CNNs generalised unevenly across hospitals and could even identify the source hospital [3].</a:t>
            </a:r>
            <a:endParaRPr lang="en-US" sz="1350" dirty="0"/>
          </a:p>
        </p:txBody>
      </p:sp>
      <p:sp>
        <p:nvSpPr>
          <p:cNvPr id="21" name="Shape 16"/>
          <p:cNvSpPr/>
          <p:nvPr/>
        </p:nvSpPr>
        <p:spPr>
          <a:xfrm>
            <a:off x="6949440" y="1874520"/>
            <a:ext cx="4693615" cy="3703320"/>
          </a:xfrm>
          <a:prstGeom prst="roundRect">
            <a:avLst>
              <a:gd name="adj" fmla="val 3704"/>
            </a:avLst>
          </a:prstGeom>
          <a:solidFill>
            <a:srgbClr val="0E1E33"/>
          </a:solidFill>
          <a:ln/>
        </p:spPr>
      </p:sp>
      <p:sp>
        <p:nvSpPr>
          <p:cNvPr id="22" name="Text 17"/>
          <p:cNvSpPr txBox="1"/>
          <p:nvPr/>
        </p:nvSpPr>
        <p:spPr>
          <a:xfrm>
            <a:off x="7296912" y="2194560"/>
            <a:ext cx="4023360" cy="256032"/>
          </a:xfrm>
          <a:prstGeom prst="rect">
            <a:avLst/>
          </a:prstGeom>
          <a:noFill/>
          <a:ln/>
        </p:spPr>
        <p:txBody>
          <a:bodyPr wrap="square" lIns="0" tIns="0" rIns="0" bIns="0" rtlCol="0" anchor="t"/>
          <a:lstStyle/>
          <a:p>
            <a:pPr indent="0" marL="0">
              <a:buNone/>
            </a:pPr>
            <a:r>
              <a:rPr lang="en-US" sz="1100" b="1" spc="150" kern="0" dirty="0">
                <a:solidFill>
                  <a:srgbClr val="8DB8E8"/>
                </a:solidFill>
                <a:latin typeface="Calibri" pitchFamily="34" charset="0"/>
                <a:ea typeface="Calibri" pitchFamily="34" charset="-122"/>
                <a:cs typeface="Calibri" pitchFamily="34" charset="-120"/>
              </a:rPr>
              <a:t>RESEARCH QUESTION</a:t>
            </a:r>
            <a:endParaRPr lang="en-US" sz="1100" dirty="0"/>
          </a:p>
        </p:txBody>
      </p:sp>
      <p:sp>
        <p:nvSpPr>
          <p:cNvPr id="23" name="Text 18"/>
          <p:cNvSpPr txBox="1"/>
          <p:nvPr/>
        </p:nvSpPr>
        <p:spPr>
          <a:xfrm>
            <a:off x="7296912" y="2514600"/>
            <a:ext cx="4023360" cy="1508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If training includes studies linked to physician A, does the model perform differently on A’s held-out patients?</a:t>
            </a:r>
            <a:endParaRPr lang="en-US" sz="2000" dirty="0"/>
          </a:p>
        </p:txBody>
      </p:sp>
      <p:sp>
        <p:nvSpPr>
          <p:cNvPr id="24" name="Text 19"/>
          <p:cNvSpPr txBox="1"/>
          <p:nvPr/>
        </p:nvSpPr>
        <p:spPr>
          <a:xfrm>
            <a:off x="7296912" y="4023360"/>
            <a:ext cx="4023360" cy="256032"/>
          </a:xfrm>
          <a:prstGeom prst="rect">
            <a:avLst/>
          </a:prstGeom>
          <a:noFill/>
          <a:ln/>
        </p:spPr>
        <p:txBody>
          <a:bodyPr wrap="square" lIns="0" tIns="0" rIns="0" bIns="0" rtlCol="0" anchor="t"/>
          <a:lstStyle/>
          <a:p>
            <a:pPr indent="0" marL="0">
              <a:buNone/>
            </a:pPr>
            <a:r>
              <a:rPr lang="en-US" sz="1200" b="1" dirty="0">
                <a:solidFill>
                  <a:srgbClr val="8DB8E8"/>
                </a:solidFill>
                <a:latin typeface="Calibri" pitchFamily="34" charset="0"/>
                <a:ea typeface="Calibri" pitchFamily="34" charset="-122"/>
                <a:cs typeface="Calibri" pitchFamily="34" charset="-120"/>
              </a:rPr>
              <a:t>Why it matters</a:t>
            </a:r>
            <a:endParaRPr lang="en-US" sz="1200" dirty="0"/>
          </a:p>
        </p:txBody>
      </p:sp>
      <p:sp>
        <p:nvSpPr>
          <p:cNvPr id="25" name="Text 20"/>
          <p:cNvSpPr txBox="1"/>
          <p:nvPr/>
        </p:nvSpPr>
        <p:spPr>
          <a:xfrm>
            <a:off x="7296912" y="4288536"/>
            <a:ext cx="4023360" cy="457200"/>
          </a:xfrm>
          <a:prstGeom prst="rect">
            <a:avLst/>
          </a:prstGeom>
          <a:noFill/>
          <a:ln/>
        </p:spPr>
        <p:txBody>
          <a:bodyPr wrap="square" lIns="0" tIns="0" rIns="0" bIns="0" rtlCol="0" anchor="t"/>
          <a:lstStyle/>
          <a:p>
            <a:pPr indent="0" marL="0">
              <a:buNone/>
            </a:pPr>
            <a:r>
              <a:rPr lang="en-US" sz="1350" dirty="0">
                <a:solidFill>
                  <a:srgbClr val="D7E2EE"/>
                </a:solidFill>
                <a:latin typeface="Calibri" pitchFamily="34" charset="0"/>
                <a:ea typeface="Calibri" pitchFamily="34" charset="-122"/>
                <a:cs typeface="Calibri" pitchFamily="34" charset="-120"/>
              </a:rPr>
              <a:t>Scores on familiar sources may overstate how a model does on new ones.</a:t>
            </a:r>
            <a:endParaRPr lang="en-US" sz="1350" dirty="0"/>
          </a:p>
        </p:txBody>
      </p:sp>
      <p:sp>
        <p:nvSpPr>
          <p:cNvPr id="26" name="Text 21"/>
          <p:cNvSpPr txBox="1"/>
          <p:nvPr/>
        </p:nvSpPr>
        <p:spPr>
          <a:xfrm>
            <a:off x="7296912" y="4846320"/>
            <a:ext cx="4023360" cy="256032"/>
          </a:xfrm>
          <a:prstGeom prst="rect">
            <a:avLst/>
          </a:prstGeom>
          <a:noFill/>
          <a:ln/>
        </p:spPr>
        <p:txBody>
          <a:bodyPr wrap="square" lIns="0" tIns="0" rIns="0" bIns="0" rtlCol="0" anchor="t"/>
          <a:lstStyle/>
          <a:p>
            <a:pPr indent="0" marL="0">
              <a:buNone/>
            </a:pPr>
            <a:r>
              <a:rPr lang="en-US" sz="1200" b="1" dirty="0">
                <a:solidFill>
                  <a:srgbClr val="8DB8E8"/>
                </a:solidFill>
                <a:latin typeface="Calibri" pitchFamily="34" charset="0"/>
                <a:ea typeface="Calibri" pitchFamily="34" charset="-122"/>
                <a:cs typeface="Calibri" pitchFamily="34" charset="-120"/>
              </a:rPr>
              <a:t>Scope</a:t>
            </a:r>
            <a:endParaRPr lang="en-US" sz="1200" dirty="0"/>
          </a:p>
        </p:txBody>
      </p:sp>
      <p:sp>
        <p:nvSpPr>
          <p:cNvPr id="27" name="Text 22"/>
          <p:cNvSpPr txBox="1"/>
          <p:nvPr/>
        </p:nvSpPr>
        <p:spPr>
          <a:xfrm>
            <a:off x="7296912" y="5111496"/>
            <a:ext cx="4023360" cy="274320"/>
          </a:xfrm>
          <a:prstGeom prst="rect">
            <a:avLst/>
          </a:prstGeom>
          <a:noFill/>
          <a:ln/>
        </p:spPr>
        <p:txBody>
          <a:bodyPr wrap="square" lIns="0" tIns="0" rIns="0" bIns="0" rtlCol="0" anchor="t"/>
          <a:lstStyle/>
          <a:p>
            <a:pPr indent="0" marL="0">
              <a:buNone/>
            </a:pPr>
            <a:r>
              <a:rPr lang="en-US" sz="1350" dirty="0">
                <a:solidFill>
                  <a:srgbClr val="D7E2EE"/>
                </a:solidFill>
                <a:latin typeface="Calibri" pitchFamily="34" charset="0"/>
                <a:ea typeface="Calibri" pitchFamily="34" charset="-122"/>
                <a:cs typeface="Calibri" pitchFamily="34" charset="-120"/>
              </a:rPr>
              <a:t>A robustness check, not a judgement of physician quality.</a:t>
            </a:r>
            <a:endParaRPr lang="en-US" sz="1350" dirty="0"/>
          </a:p>
        </p:txBody>
      </p:sp>
      <p:sp>
        <p:nvSpPr>
          <p:cNvPr id="28" name="Text 23"/>
          <p:cNvSpPr txBox="1"/>
          <p:nvPr/>
        </p:nvSpPr>
        <p:spPr>
          <a:xfrm>
            <a:off x="548640" y="6144768"/>
            <a:ext cx="10241280" cy="384048"/>
          </a:xfrm>
          <a:prstGeom prst="rect">
            <a:avLst/>
          </a:prstGeom>
          <a:noFill/>
          <a:ln/>
        </p:spPr>
        <p:txBody>
          <a:bodyPr wrap="square" lIns="0" tIns="0" rIns="0" bIns="0" rtlCol="0" anchor="b"/>
          <a:lstStyle/>
          <a:p>
            <a:pPr indent="0" marL="0">
              <a:buNone/>
            </a:pPr>
            <a:r>
              <a:rPr lang="en-US" sz="950" dirty="0">
                <a:solidFill>
                  <a:srgbClr val="8793A3"/>
                </a:solidFill>
                <a:latin typeface="Calibri" pitchFamily="34" charset="0"/>
                <a:ea typeface="Calibri" pitchFamily="34" charset="-122"/>
                <a:cs typeface="Calibri" pitchFamily="34" charset="-120"/>
              </a:rPr>
              <a:t>[2] Smit et al., EMNLP 2020   [3] Zech et al., PLOS Medicine 2018</a:t>
            </a:r>
            <a:endParaRPr lang="en-US" sz="950" dirty="0"/>
          </a:p>
        </p:txBody>
      </p:sp>
      <p:sp>
        <p:nvSpPr>
          <p:cNvPr id="29" name="Text 24"/>
          <p:cNvSpPr txBox="1"/>
          <p:nvPr/>
        </p:nvSpPr>
        <p:spPr>
          <a:xfrm>
            <a:off x="11094415" y="6254496"/>
            <a:ext cx="548640" cy="274320"/>
          </a:xfrm>
          <a:prstGeom prst="rect">
            <a:avLst/>
          </a:prstGeom>
          <a:noFill/>
          <a:ln/>
        </p:spPr>
        <p:txBody>
          <a:bodyPr wrap="square" lIns="0" tIns="0" rIns="0" bIns="0" rtlCol="0" anchor="b"/>
          <a:lstStyle/>
          <a:p>
            <a:pPr algn="r" indent="0" marL="0">
              <a:buNone/>
            </a:pPr>
            <a:r>
              <a:rPr lang="en-US" sz="1000" b="1" dirty="0">
                <a:solidFill>
                  <a:srgbClr val="5B6B7F"/>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84048"/>
            <a:ext cx="384048" cy="237744"/>
          </a:xfrm>
          <a:prstGeom prst="roundRect">
            <a:avLst>
              <a:gd name="adj" fmla="val 19231"/>
            </a:avLst>
          </a:prstGeom>
          <a:solidFill>
            <a:srgbClr val="0E1E33"/>
          </a:solidFill>
          <a:ln/>
        </p:spPr>
      </p:sp>
      <p:sp>
        <p:nvSpPr>
          <p:cNvPr id="3" name="Text 1"/>
          <p:cNvSpPr txBox="1"/>
          <p:nvPr/>
        </p:nvSpPr>
        <p:spPr>
          <a:xfrm>
            <a:off x="548640" y="384048"/>
            <a:ext cx="38404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4" name="Text 2"/>
          <p:cNvSpPr txBox="1"/>
          <p:nvPr/>
        </p:nvSpPr>
        <p:spPr>
          <a:xfrm>
            <a:off x="1060704" y="384048"/>
            <a:ext cx="6400800" cy="237744"/>
          </a:xfrm>
          <a:prstGeom prst="rect">
            <a:avLst/>
          </a:prstGeom>
          <a:noFill/>
          <a:ln/>
        </p:spPr>
        <p:txBody>
          <a:bodyPr wrap="square" lIns="0" tIns="0" rIns="0" bIns="0" rtlCol="0" anchor="ctr"/>
          <a:lstStyle/>
          <a:p>
            <a:pPr indent="0" marL="0">
              <a:buNone/>
            </a:pPr>
            <a:r>
              <a:rPr lang="en-US" sz="1050" b="1" spc="150" kern="0" dirty="0">
                <a:solidFill>
                  <a:srgbClr val="5B6B7F"/>
                </a:solidFill>
                <a:latin typeface="Calibri" pitchFamily="34" charset="0"/>
                <a:ea typeface="Calibri" pitchFamily="34" charset="-122"/>
                <a:cs typeface="Calibri" pitchFamily="34" charset="-120"/>
              </a:rPr>
              <a:t>RELATED WORK</a:t>
            </a:r>
            <a:endParaRPr lang="en-US" sz="1050" dirty="0"/>
          </a:p>
        </p:txBody>
      </p:sp>
      <p:sp>
        <p:nvSpPr>
          <p:cNvPr id="5" name="Text 3"/>
          <p:cNvSpPr txBox="1"/>
          <p:nvPr/>
        </p:nvSpPr>
        <p:spPr>
          <a:xfrm>
            <a:off x="548640" y="731520"/>
            <a:ext cx="11094415" cy="548640"/>
          </a:xfrm>
          <a:prstGeom prst="rect">
            <a:avLst/>
          </a:prstGeom>
          <a:noFill/>
          <a:ln/>
        </p:spPr>
        <p:txBody>
          <a:bodyPr wrap="square" lIns="0" tIns="0" rIns="0" bIns="0" rtlCol="0" anchor="ctr"/>
          <a:lstStyle/>
          <a:p>
            <a:pPr indent="0" marL="0">
              <a:buNone/>
            </a:pPr>
            <a:r>
              <a:rPr lang="en-US" sz="2800" b="1" dirty="0">
                <a:solidFill>
                  <a:srgbClr val="0E1E33"/>
                </a:solidFill>
                <a:latin typeface="Calibri" pitchFamily="34" charset="0"/>
                <a:ea typeface="Calibri" pitchFamily="34" charset="-122"/>
                <a:cs typeface="Calibri" pitchFamily="34" charset="-120"/>
              </a:rPr>
              <a:t>Prior work compares sites; we compare training exposure</a:t>
            </a:r>
            <a:endParaRPr lang="en-US" sz="2800" dirty="0"/>
          </a:p>
        </p:txBody>
      </p:sp>
      <p:sp>
        <p:nvSpPr>
          <p:cNvPr id="6" name="Text 4"/>
          <p:cNvSpPr txBox="1"/>
          <p:nvPr/>
        </p:nvSpPr>
        <p:spPr>
          <a:xfrm>
            <a:off x="548640" y="1280160"/>
            <a:ext cx="11094415" cy="329184"/>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Holding the test patients fixed removes test-set differences from the comparison.</a:t>
            </a:r>
            <a:endParaRPr lang="en-US" sz="1500" dirty="0"/>
          </a:p>
        </p:txBody>
      </p:sp>
      <p:sp>
        <p:nvSpPr>
          <p:cNvPr id="7" name="Shape 5"/>
          <p:cNvSpPr/>
          <p:nvPr/>
        </p:nvSpPr>
        <p:spPr>
          <a:xfrm>
            <a:off x="548640" y="1874520"/>
            <a:ext cx="3545738" cy="2606040"/>
          </a:xfrm>
          <a:prstGeom prst="roundRect">
            <a:avLst>
              <a:gd name="adj" fmla="val 4211"/>
            </a:avLst>
          </a:prstGeom>
          <a:solidFill>
            <a:srgbClr val="F3F6FA"/>
          </a:solidFill>
          <a:ln/>
        </p:spPr>
      </p:sp>
      <p:sp>
        <p:nvSpPr>
          <p:cNvPr id="8" name="Shape 6"/>
          <p:cNvSpPr/>
          <p:nvPr/>
        </p:nvSpPr>
        <p:spPr>
          <a:xfrm>
            <a:off x="822960" y="2148840"/>
            <a:ext cx="530352" cy="530352"/>
          </a:xfrm>
          <a:prstGeom prst="ellipse">
            <a:avLst/>
          </a:prstGeom>
          <a:solidFill>
            <a:srgbClr val="FFFFFF"/>
          </a:solidFill>
          <a:ln/>
        </p:spPr>
      </p:sp>
      <p:pic>
        <p:nvPicPr>
          <p:cNvPr id="9" name="Image 0" descr="hospital icon">    </p:cNvPr>
          <p:cNvPicPr>
            <a:picLocks noChangeAspect="1"/>
          </p:cNvPicPr>
          <p:nvPr/>
        </p:nvPicPr>
        <p:blipFill>
          <a:blip r:embed="rId1"/>
          <a:stretch>
            <a:fillRect/>
          </a:stretch>
        </p:blipFill>
        <p:spPr>
          <a:xfrm>
            <a:off x="950244" y="2276124"/>
            <a:ext cx="275783" cy="275783"/>
          </a:xfrm>
          <a:prstGeom prst="rect">
            <a:avLst/>
          </a:prstGeom>
        </p:spPr>
      </p:pic>
      <p:sp>
        <p:nvSpPr>
          <p:cNvPr id="10" name="Text 7"/>
          <p:cNvSpPr txBox="1"/>
          <p:nvPr/>
        </p:nvSpPr>
        <p:spPr>
          <a:xfrm>
            <a:off x="822960" y="2834640"/>
            <a:ext cx="2997098" cy="329184"/>
          </a:xfrm>
          <a:prstGeom prst="rect">
            <a:avLst/>
          </a:prstGeom>
          <a:noFill/>
          <a:ln/>
        </p:spPr>
        <p:txBody>
          <a:bodyPr wrap="square" lIns="0" tIns="0" rIns="0" bIns="0" rtlCol="0" anchor="t"/>
          <a:lstStyle/>
          <a:p>
            <a:pPr indent="0" marL="0">
              <a:buNone/>
            </a:pPr>
            <a:r>
              <a:rPr lang="en-US" sz="1650" b="1" dirty="0">
                <a:solidFill>
                  <a:srgbClr val="0E1E33"/>
                </a:solidFill>
                <a:latin typeface="Calibri" pitchFamily="34" charset="0"/>
                <a:ea typeface="Calibri" pitchFamily="34" charset="-122"/>
                <a:cs typeface="Calibri" pitchFamily="34" charset="-120"/>
              </a:rPr>
              <a:t>Generalisation across sites</a:t>
            </a:r>
            <a:endParaRPr lang="en-US" sz="1650" dirty="0"/>
          </a:p>
        </p:txBody>
      </p:sp>
      <p:sp>
        <p:nvSpPr>
          <p:cNvPr id="11" name="Text 8"/>
          <p:cNvSpPr txBox="1"/>
          <p:nvPr/>
        </p:nvSpPr>
        <p:spPr>
          <a:xfrm>
            <a:off x="822960" y="3172968"/>
            <a:ext cx="2997098" cy="256032"/>
          </a:xfrm>
          <a:prstGeom prst="rect">
            <a:avLst/>
          </a:prstGeom>
          <a:noFill/>
          <a:ln/>
        </p:spPr>
        <p:txBody>
          <a:bodyPr wrap="square" lIns="0" tIns="0" rIns="0" bIns="0" rtlCol="0" anchor="t"/>
          <a:lstStyle/>
          <a:p>
            <a:pPr indent="0" marL="0">
              <a:buNone/>
            </a:pPr>
            <a:r>
              <a:rPr lang="en-US" sz="1150" b="1" dirty="0">
                <a:solidFill>
                  <a:srgbClr val="2266AA"/>
                </a:solidFill>
                <a:latin typeface="Calibri" pitchFamily="34" charset="0"/>
                <a:ea typeface="Calibri" pitchFamily="34" charset="-122"/>
                <a:cs typeface="Calibri" pitchFamily="34" charset="-120"/>
              </a:rPr>
              <a:t>Zech et al., PLOS Medicine 2018 [3]</a:t>
            </a:r>
            <a:endParaRPr lang="en-US" sz="1150" dirty="0"/>
          </a:p>
        </p:txBody>
      </p:sp>
      <p:sp>
        <p:nvSpPr>
          <p:cNvPr id="12" name="Text 9"/>
          <p:cNvSpPr txBox="1"/>
          <p:nvPr/>
        </p:nvSpPr>
        <p:spPr>
          <a:xfrm>
            <a:off x="822960" y="3502152"/>
            <a:ext cx="2997098" cy="868680"/>
          </a:xfrm>
          <a:prstGeom prst="rect">
            <a:avLst/>
          </a:prstGeom>
          <a:noFill/>
          <a:ln/>
        </p:spPr>
        <p:txBody>
          <a:bodyPr wrap="square" lIns="0" tIns="0" rIns="0" bIns="0" rtlCol="0" anchor="t"/>
          <a:lstStyle/>
          <a:p>
            <a:pPr indent="0" marL="0">
              <a:buNone/>
            </a:pPr>
            <a:r>
              <a:rPr lang="en-US" sz="1300" dirty="0">
                <a:solidFill>
                  <a:srgbClr val="24364F"/>
                </a:solidFill>
                <a:latin typeface="Calibri" pitchFamily="34" charset="0"/>
                <a:ea typeface="Calibri" pitchFamily="34" charset="-122"/>
                <a:cs typeface="Calibri" pitchFamily="34" charset="-120"/>
              </a:rPr>
              <a:t>Pneumonia CNNs performed differently on other hospitals’ data and could recognise which hospital an image came from.</a:t>
            </a:r>
            <a:endParaRPr lang="en-US" sz="1300" dirty="0"/>
          </a:p>
        </p:txBody>
      </p:sp>
      <p:sp>
        <p:nvSpPr>
          <p:cNvPr id="13" name="Shape 10"/>
          <p:cNvSpPr/>
          <p:nvPr/>
        </p:nvSpPr>
        <p:spPr>
          <a:xfrm>
            <a:off x="4322978" y="1874520"/>
            <a:ext cx="3545738" cy="2606040"/>
          </a:xfrm>
          <a:prstGeom prst="roundRect">
            <a:avLst>
              <a:gd name="adj" fmla="val 4211"/>
            </a:avLst>
          </a:prstGeom>
          <a:solidFill>
            <a:srgbClr val="F3F6FA"/>
          </a:solidFill>
          <a:ln/>
        </p:spPr>
      </p:sp>
      <p:sp>
        <p:nvSpPr>
          <p:cNvPr id="14" name="Shape 11"/>
          <p:cNvSpPr/>
          <p:nvPr/>
        </p:nvSpPr>
        <p:spPr>
          <a:xfrm>
            <a:off x="4597298" y="2148840"/>
            <a:ext cx="530352" cy="530352"/>
          </a:xfrm>
          <a:prstGeom prst="ellipse">
            <a:avLst/>
          </a:prstGeom>
          <a:solidFill>
            <a:srgbClr val="FFFFFF"/>
          </a:solidFill>
          <a:ln/>
        </p:spPr>
      </p:sp>
      <p:pic>
        <p:nvPicPr>
          <p:cNvPr id="15" name="Image 1" descr="file text icon">    </p:cNvPr>
          <p:cNvPicPr>
            <a:picLocks noChangeAspect="1"/>
          </p:cNvPicPr>
          <p:nvPr/>
        </p:nvPicPr>
        <p:blipFill>
          <a:blip r:embed="rId2"/>
          <a:stretch>
            <a:fillRect/>
          </a:stretch>
        </p:blipFill>
        <p:spPr>
          <a:xfrm>
            <a:off x="4724583" y="2276124"/>
            <a:ext cx="275783" cy="275783"/>
          </a:xfrm>
          <a:prstGeom prst="rect">
            <a:avLst/>
          </a:prstGeom>
        </p:spPr>
      </p:pic>
      <p:sp>
        <p:nvSpPr>
          <p:cNvPr id="16" name="Text 12"/>
          <p:cNvSpPr txBox="1"/>
          <p:nvPr/>
        </p:nvSpPr>
        <p:spPr>
          <a:xfrm>
            <a:off x="4597298" y="2834640"/>
            <a:ext cx="2997098" cy="329184"/>
          </a:xfrm>
          <a:prstGeom prst="rect">
            <a:avLst/>
          </a:prstGeom>
          <a:noFill/>
          <a:ln/>
        </p:spPr>
        <p:txBody>
          <a:bodyPr wrap="square" lIns="0" tIns="0" rIns="0" bIns="0" rtlCol="0" anchor="t"/>
          <a:lstStyle/>
          <a:p>
            <a:pPr indent="0" marL="0">
              <a:buNone/>
            </a:pPr>
            <a:r>
              <a:rPr lang="en-US" sz="1650" b="1" dirty="0">
                <a:solidFill>
                  <a:srgbClr val="0E1E33"/>
                </a:solidFill>
                <a:latin typeface="Calibri" pitchFamily="34" charset="0"/>
                <a:ea typeface="Calibri" pitchFamily="34" charset="-122"/>
                <a:cs typeface="Calibri" pitchFamily="34" charset="-120"/>
              </a:rPr>
              <a:t>Labels from report text</a:t>
            </a:r>
            <a:endParaRPr lang="en-US" sz="1650" dirty="0"/>
          </a:p>
        </p:txBody>
      </p:sp>
      <p:sp>
        <p:nvSpPr>
          <p:cNvPr id="17" name="Text 13"/>
          <p:cNvSpPr txBox="1"/>
          <p:nvPr/>
        </p:nvSpPr>
        <p:spPr>
          <a:xfrm>
            <a:off x="4597298" y="3172968"/>
            <a:ext cx="2997098" cy="256032"/>
          </a:xfrm>
          <a:prstGeom prst="rect">
            <a:avLst/>
          </a:prstGeom>
          <a:noFill/>
          <a:ln/>
        </p:spPr>
        <p:txBody>
          <a:bodyPr wrap="square" lIns="0" tIns="0" rIns="0" bIns="0" rtlCol="0" anchor="t"/>
          <a:lstStyle/>
          <a:p>
            <a:pPr indent="0" marL="0">
              <a:buNone/>
            </a:pPr>
            <a:r>
              <a:rPr lang="en-US" sz="1150" b="1" dirty="0">
                <a:solidFill>
                  <a:srgbClr val="2266AA"/>
                </a:solidFill>
                <a:latin typeface="Calibri" pitchFamily="34" charset="0"/>
                <a:ea typeface="Calibri" pitchFamily="34" charset="-122"/>
                <a:cs typeface="Calibri" pitchFamily="34" charset="-120"/>
              </a:rPr>
              <a:t>Smit et al., EMNLP 2020 [2]</a:t>
            </a:r>
            <a:endParaRPr lang="en-US" sz="1150" dirty="0"/>
          </a:p>
        </p:txBody>
      </p:sp>
      <p:sp>
        <p:nvSpPr>
          <p:cNvPr id="18" name="Text 14"/>
          <p:cNvSpPr txBox="1"/>
          <p:nvPr/>
        </p:nvSpPr>
        <p:spPr>
          <a:xfrm>
            <a:off x="4597298" y="3502152"/>
            <a:ext cx="2997098" cy="868680"/>
          </a:xfrm>
          <a:prstGeom prst="rect">
            <a:avLst/>
          </a:prstGeom>
          <a:noFill/>
          <a:ln/>
        </p:spPr>
        <p:txBody>
          <a:bodyPr wrap="square" lIns="0" tIns="0" rIns="0" bIns="0" rtlCol="0" anchor="t"/>
          <a:lstStyle/>
          <a:p>
            <a:pPr indent="0" marL="0">
              <a:buNone/>
            </a:pPr>
            <a:r>
              <a:rPr lang="en-US" sz="1300" dirty="0">
                <a:solidFill>
                  <a:srgbClr val="24364F"/>
                </a:solidFill>
                <a:latin typeface="Calibri" pitchFamily="34" charset="0"/>
                <a:ea typeface="Calibri" pitchFamily="34" charset="-122"/>
                <a:cs typeface="Calibri" pitchFamily="34" charset="-120"/>
              </a:rPr>
              <a:t>CheXbert labels 14 findings from report text as positive, negative, uncertain or blank (not mentioned).</a:t>
            </a:r>
            <a:endParaRPr lang="en-US" sz="1300" dirty="0"/>
          </a:p>
        </p:txBody>
      </p:sp>
      <p:sp>
        <p:nvSpPr>
          <p:cNvPr id="19" name="Shape 15"/>
          <p:cNvSpPr/>
          <p:nvPr/>
        </p:nvSpPr>
        <p:spPr>
          <a:xfrm>
            <a:off x="8097317" y="1874520"/>
            <a:ext cx="3545738" cy="2606040"/>
          </a:xfrm>
          <a:prstGeom prst="roundRect">
            <a:avLst>
              <a:gd name="adj" fmla="val 4211"/>
            </a:avLst>
          </a:prstGeom>
          <a:solidFill>
            <a:srgbClr val="F3F6FA"/>
          </a:solidFill>
          <a:ln/>
        </p:spPr>
      </p:sp>
      <p:sp>
        <p:nvSpPr>
          <p:cNvPr id="20" name="Shape 16"/>
          <p:cNvSpPr/>
          <p:nvPr/>
        </p:nvSpPr>
        <p:spPr>
          <a:xfrm>
            <a:off x="8371637" y="2148840"/>
            <a:ext cx="530352" cy="530352"/>
          </a:xfrm>
          <a:prstGeom prst="ellipse">
            <a:avLst/>
          </a:prstGeom>
          <a:solidFill>
            <a:srgbClr val="FFFFFF"/>
          </a:solidFill>
          <a:ln/>
        </p:spPr>
      </p:sp>
      <p:pic>
        <p:nvPicPr>
          <p:cNvPr id="21" name="Image 2" descr="database icon">    </p:cNvPr>
          <p:cNvPicPr>
            <a:picLocks noChangeAspect="1"/>
          </p:cNvPicPr>
          <p:nvPr/>
        </p:nvPicPr>
        <p:blipFill>
          <a:blip r:embed="rId3"/>
          <a:stretch>
            <a:fillRect/>
          </a:stretch>
        </p:blipFill>
        <p:spPr>
          <a:xfrm>
            <a:off x="8498921" y="2276124"/>
            <a:ext cx="275783" cy="275783"/>
          </a:xfrm>
          <a:prstGeom prst="rect">
            <a:avLst/>
          </a:prstGeom>
        </p:spPr>
      </p:pic>
      <p:sp>
        <p:nvSpPr>
          <p:cNvPr id="22" name="Text 17"/>
          <p:cNvSpPr txBox="1"/>
          <p:nvPr/>
        </p:nvSpPr>
        <p:spPr>
          <a:xfrm>
            <a:off x="8371637" y="2834640"/>
            <a:ext cx="2997098" cy="329184"/>
          </a:xfrm>
          <a:prstGeom prst="rect">
            <a:avLst/>
          </a:prstGeom>
          <a:noFill/>
          <a:ln/>
        </p:spPr>
        <p:txBody>
          <a:bodyPr wrap="square" lIns="0" tIns="0" rIns="0" bIns="0" rtlCol="0" anchor="t"/>
          <a:lstStyle/>
          <a:p>
            <a:pPr indent="0" marL="0">
              <a:buNone/>
            </a:pPr>
            <a:r>
              <a:rPr lang="en-US" sz="1650" b="1" dirty="0">
                <a:solidFill>
                  <a:srgbClr val="0E1E33"/>
                </a:solidFill>
                <a:latin typeface="Calibri" pitchFamily="34" charset="0"/>
                <a:ea typeface="Calibri" pitchFamily="34" charset="-122"/>
                <a:cs typeface="Calibri" pitchFamily="34" charset="-120"/>
              </a:rPr>
              <a:t>Images, reports, providers</a:t>
            </a:r>
            <a:endParaRPr lang="en-US" sz="1650" dirty="0"/>
          </a:p>
        </p:txBody>
      </p:sp>
      <p:sp>
        <p:nvSpPr>
          <p:cNvPr id="23" name="Text 18"/>
          <p:cNvSpPr txBox="1"/>
          <p:nvPr/>
        </p:nvSpPr>
        <p:spPr>
          <a:xfrm>
            <a:off x="8371637" y="3172968"/>
            <a:ext cx="2997098" cy="256032"/>
          </a:xfrm>
          <a:prstGeom prst="rect">
            <a:avLst/>
          </a:prstGeom>
          <a:noFill/>
          <a:ln/>
        </p:spPr>
        <p:txBody>
          <a:bodyPr wrap="square" lIns="0" tIns="0" rIns="0" bIns="0" rtlCol="0" anchor="t"/>
          <a:lstStyle/>
          <a:p>
            <a:pPr indent="0" marL="0">
              <a:buNone/>
            </a:pPr>
            <a:r>
              <a:rPr lang="en-US" sz="1150" b="1" dirty="0">
                <a:solidFill>
                  <a:srgbClr val="2266AA"/>
                </a:solidFill>
                <a:latin typeface="Calibri" pitchFamily="34" charset="0"/>
                <a:ea typeface="Calibri" pitchFamily="34" charset="-122"/>
                <a:cs typeface="Calibri" pitchFamily="34" charset="-120"/>
              </a:rPr>
              <a:t>MIMIC-CXR v2.1.0; Johnson et al., 2019 [1]</a:t>
            </a:r>
            <a:endParaRPr lang="en-US" sz="1150" dirty="0"/>
          </a:p>
        </p:txBody>
      </p:sp>
      <p:sp>
        <p:nvSpPr>
          <p:cNvPr id="24" name="Text 19"/>
          <p:cNvSpPr txBox="1"/>
          <p:nvPr/>
        </p:nvSpPr>
        <p:spPr>
          <a:xfrm>
            <a:off x="8371637" y="3502152"/>
            <a:ext cx="2997098" cy="868680"/>
          </a:xfrm>
          <a:prstGeom prst="rect">
            <a:avLst/>
          </a:prstGeom>
          <a:noFill/>
          <a:ln/>
        </p:spPr>
        <p:txBody>
          <a:bodyPr wrap="square" lIns="0" tIns="0" rIns="0" bIns="0" rtlCol="0" anchor="t"/>
          <a:lstStyle/>
          <a:p>
            <a:pPr indent="0" marL="0">
              <a:buNone/>
            </a:pPr>
            <a:r>
              <a:rPr lang="en-US" sz="1300" dirty="0">
                <a:solidFill>
                  <a:srgbClr val="24364F"/>
                </a:solidFill>
                <a:latin typeface="Calibri" pitchFamily="34" charset="0"/>
                <a:ea typeface="Calibri" pitchFamily="34" charset="-122"/>
                <a:cs typeface="Calibri" pitchFamily="34" charset="-120"/>
              </a:rPr>
              <a:t>De-identified radiographs with free-text reports; each study links to anonymised attending IDs.</a:t>
            </a:r>
            <a:endParaRPr lang="en-US" sz="1300" dirty="0"/>
          </a:p>
        </p:txBody>
      </p:sp>
      <p:sp>
        <p:nvSpPr>
          <p:cNvPr id="25" name="Shape 20"/>
          <p:cNvSpPr/>
          <p:nvPr/>
        </p:nvSpPr>
        <p:spPr>
          <a:xfrm>
            <a:off x="548640" y="4709160"/>
            <a:ext cx="11094415" cy="1280160"/>
          </a:xfrm>
          <a:prstGeom prst="roundRect">
            <a:avLst>
              <a:gd name="adj" fmla="val 8571"/>
            </a:avLst>
          </a:prstGeom>
          <a:solidFill>
            <a:srgbClr val="0E1E33"/>
          </a:solidFill>
          <a:ln/>
        </p:spPr>
      </p:sp>
      <p:sp>
        <p:nvSpPr>
          <p:cNvPr id="26" name="Shape 21"/>
          <p:cNvSpPr/>
          <p:nvPr/>
        </p:nvSpPr>
        <p:spPr>
          <a:xfrm>
            <a:off x="841248" y="4983480"/>
            <a:ext cx="731520" cy="731520"/>
          </a:xfrm>
          <a:prstGeom prst="ellipse">
            <a:avLst/>
          </a:prstGeom>
          <a:solidFill>
            <a:srgbClr val="2A4466"/>
          </a:solidFill>
          <a:ln/>
        </p:spPr>
      </p:sp>
      <p:pic>
        <p:nvPicPr>
          <p:cNvPr id="27" name="Image 3" descr="git compare arrows icon">    </p:cNvPr>
          <p:cNvPicPr>
            <a:picLocks noChangeAspect="1"/>
          </p:cNvPicPr>
          <p:nvPr/>
        </p:nvPicPr>
        <p:blipFill>
          <a:blip r:embed="rId4"/>
          <a:stretch>
            <a:fillRect/>
          </a:stretch>
        </p:blipFill>
        <p:spPr>
          <a:xfrm>
            <a:off x="1024128" y="5166360"/>
            <a:ext cx="365760" cy="365760"/>
          </a:xfrm>
          <a:prstGeom prst="rect">
            <a:avLst/>
          </a:prstGeom>
        </p:spPr>
      </p:pic>
      <p:sp>
        <p:nvSpPr>
          <p:cNvPr id="28" name="Text 22"/>
          <p:cNvSpPr txBox="1"/>
          <p:nvPr/>
        </p:nvSpPr>
        <p:spPr>
          <a:xfrm>
            <a:off x="1783080" y="4892040"/>
            <a:ext cx="658368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Our angle: a paired, physician-level contrast</a:t>
            </a:r>
            <a:endParaRPr lang="en-US" sz="1700" dirty="0"/>
          </a:p>
        </p:txBody>
      </p:sp>
      <p:sp>
        <p:nvSpPr>
          <p:cNvPr id="29" name="Text 23"/>
          <p:cNvSpPr txBox="1"/>
          <p:nvPr/>
        </p:nvSpPr>
        <p:spPr>
          <a:xfrm>
            <a:off x="1783080" y="5276088"/>
            <a:ext cx="6492240" cy="603504"/>
          </a:xfrm>
          <a:prstGeom prst="rect">
            <a:avLst/>
          </a:prstGeom>
          <a:noFill/>
          <a:ln/>
        </p:spPr>
        <p:txBody>
          <a:bodyPr wrap="square" lIns="0" tIns="0" rIns="0" bIns="0" rtlCol="0" anchor="t"/>
          <a:lstStyle/>
          <a:p>
            <a:pPr indent="0" marL="0">
              <a:buNone/>
            </a:pPr>
            <a:r>
              <a:rPr lang="en-US" sz="1350" dirty="0">
                <a:solidFill>
                  <a:srgbClr val="D7E2EE"/>
                </a:solidFill>
                <a:latin typeface="Calibri" pitchFamily="34" charset="0"/>
                <a:ea typeface="Calibri" pitchFamily="34" charset="-122"/>
                <a:cs typeface="Calibri" pitchFamily="34" charset="-120"/>
              </a:rPr>
              <a:t>Same recipe, validation set and 109 test studies. Training sets are matched on size, positives and views; one includes 46 of A’s studies, the other none.</a:t>
            </a:r>
            <a:endParaRPr lang="en-US" sz="1350" dirty="0"/>
          </a:p>
        </p:txBody>
      </p:sp>
      <p:sp>
        <p:nvSpPr>
          <p:cNvPr id="30" name="Shape 24"/>
          <p:cNvSpPr/>
          <p:nvPr/>
        </p:nvSpPr>
        <p:spPr>
          <a:xfrm>
            <a:off x="8732520" y="4956048"/>
            <a:ext cx="1417320" cy="329184"/>
          </a:xfrm>
          <a:prstGeom prst="roundRect">
            <a:avLst>
              <a:gd name="adj" fmla="val 50000"/>
            </a:avLst>
          </a:prstGeom>
          <a:solidFill>
            <a:srgbClr val="2266AA"/>
          </a:solidFill>
          <a:ln/>
        </p:spPr>
      </p:sp>
      <p:sp>
        <p:nvSpPr>
          <p:cNvPr id="31" name="Text 25"/>
          <p:cNvSpPr txBox="1"/>
          <p:nvPr/>
        </p:nvSpPr>
        <p:spPr>
          <a:xfrm>
            <a:off x="8732520" y="4956048"/>
            <a:ext cx="141732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Seen · with A</a:t>
            </a:r>
            <a:endParaRPr lang="en-US" sz="1150" dirty="0"/>
          </a:p>
        </p:txBody>
      </p:sp>
      <p:sp>
        <p:nvSpPr>
          <p:cNvPr id="32" name="Shape 26"/>
          <p:cNvSpPr/>
          <p:nvPr/>
        </p:nvSpPr>
        <p:spPr>
          <a:xfrm>
            <a:off x="8732520" y="5413248"/>
            <a:ext cx="1417320" cy="329184"/>
          </a:xfrm>
          <a:prstGeom prst="roundRect">
            <a:avLst>
              <a:gd name="adj" fmla="val 50000"/>
            </a:avLst>
          </a:prstGeom>
          <a:solidFill>
            <a:srgbClr val="B87716"/>
          </a:solidFill>
          <a:ln/>
        </p:spPr>
      </p:sp>
      <p:sp>
        <p:nvSpPr>
          <p:cNvPr id="33" name="Text 27"/>
          <p:cNvSpPr txBox="1"/>
          <p:nvPr/>
        </p:nvSpPr>
        <p:spPr>
          <a:xfrm>
            <a:off x="8732520" y="5413248"/>
            <a:ext cx="141732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Unseen · no A</a:t>
            </a:r>
            <a:endParaRPr lang="en-US" sz="1150" dirty="0"/>
          </a:p>
        </p:txBody>
      </p:sp>
      <p:sp>
        <p:nvSpPr>
          <p:cNvPr id="34" name="Shape 28"/>
          <p:cNvSpPr/>
          <p:nvPr/>
        </p:nvSpPr>
        <p:spPr>
          <a:xfrm>
            <a:off x="10149840" y="5120640"/>
            <a:ext cx="201168" cy="0"/>
          </a:xfrm>
          <a:prstGeom prst="line">
            <a:avLst/>
          </a:prstGeom>
          <a:noFill/>
          <a:ln w="15875">
            <a:solidFill>
              <a:srgbClr val="9FB3C8"/>
            </a:solidFill>
            <a:prstDash val="solid"/>
          </a:ln>
        </p:spPr>
      </p:sp>
      <p:sp>
        <p:nvSpPr>
          <p:cNvPr id="35" name="Shape 29"/>
          <p:cNvSpPr/>
          <p:nvPr/>
        </p:nvSpPr>
        <p:spPr>
          <a:xfrm>
            <a:off x="10149840" y="5577840"/>
            <a:ext cx="201168" cy="0"/>
          </a:xfrm>
          <a:prstGeom prst="line">
            <a:avLst/>
          </a:prstGeom>
          <a:noFill/>
          <a:ln w="15875">
            <a:solidFill>
              <a:srgbClr val="9FB3C8"/>
            </a:solidFill>
            <a:prstDash val="solid"/>
          </a:ln>
        </p:spPr>
      </p:sp>
      <p:sp>
        <p:nvSpPr>
          <p:cNvPr id="36" name="Shape 30"/>
          <p:cNvSpPr/>
          <p:nvPr/>
        </p:nvSpPr>
        <p:spPr>
          <a:xfrm>
            <a:off x="10351008" y="5120640"/>
            <a:ext cx="0" cy="457200"/>
          </a:xfrm>
          <a:prstGeom prst="line">
            <a:avLst/>
          </a:prstGeom>
          <a:noFill/>
          <a:ln w="15875">
            <a:solidFill>
              <a:srgbClr val="9FB3C8"/>
            </a:solidFill>
            <a:prstDash val="solid"/>
          </a:ln>
        </p:spPr>
      </p:sp>
      <p:sp>
        <p:nvSpPr>
          <p:cNvPr id="37" name="Shape 31"/>
          <p:cNvSpPr/>
          <p:nvPr/>
        </p:nvSpPr>
        <p:spPr>
          <a:xfrm>
            <a:off x="10351008" y="5349240"/>
            <a:ext cx="256032" cy="0"/>
          </a:xfrm>
          <a:prstGeom prst="line">
            <a:avLst/>
          </a:prstGeom>
          <a:noFill/>
          <a:ln w="15875">
            <a:solidFill>
              <a:srgbClr val="9FB3C8"/>
            </a:solidFill>
            <a:prstDash val="solid"/>
            <a:tailEnd type="triangle"/>
          </a:ln>
        </p:spPr>
      </p:sp>
      <p:sp>
        <p:nvSpPr>
          <p:cNvPr id="38" name="Shape 32"/>
          <p:cNvSpPr/>
          <p:nvPr/>
        </p:nvSpPr>
        <p:spPr>
          <a:xfrm>
            <a:off x="10625328" y="5184648"/>
            <a:ext cx="868680" cy="329184"/>
          </a:xfrm>
          <a:prstGeom prst="roundRect">
            <a:avLst>
              <a:gd name="adj" fmla="val 50000"/>
            </a:avLst>
          </a:prstGeom>
          <a:solidFill>
            <a:srgbClr val="FFFFFF"/>
          </a:solidFill>
          <a:ln/>
        </p:spPr>
      </p:sp>
      <p:sp>
        <p:nvSpPr>
          <p:cNvPr id="39" name="Text 33"/>
          <p:cNvSpPr txBox="1"/>
          <p:nvPr/>
        </p:nvSpPr>
        <p:spPr>
          <a:xfrm>
            <a:off x="10625328" y="5184648"/>
            <a:ext cx="868680" cy="329184"/>
          </a:xfrm>
          <a:prstGeom prst="rect">
            <a:avLst/>
          </a:prstGeom>
          <a:noFill/>
          <a:ln/>
        </p:spPr>
        <p:txBody>
          <a:bodyPr wrap="square" lIns="0" tIns="0" rIns="0" bIns="0" rtlCol="0" anchor="ctr"/>
          <a:lstStyle/>
          <a:p>
            <a:pPr algn="ctr" indent="0" marL="0">
              <a:buNone/>
            </a:pPr>
            <a:r>
              <a:rPr lang="en-US" sz="1150" b="1" dirty="0">
                <a:solidFill>
                  <a:srgbClr val="0E1E33"/>
                </a:solidFill>
                <a:latin typeface="Calibri" pitchFamily="34" charset="0"/>
                <a:ea typeface="Calibri" pitchFamily="34" charset="-122"/>
                <a:cs typeface="Calibri" pitchFamily="34" charset="-120"/>
              </a:rPr>
              <a:t>Same test</a:t>
            </a:r>
            <a:endParaRPr lang="en-US" sz="1150" dirty="0"/>
          </a:p>
        </p:txBody>
      </p:sp>
      <p:sp>
        <p:nvSpPr>
          <p:cNvPr id="40" name="Text 34"/>
          <p:cNvSpPr txBox="1"/>
          <p:nvPr/>
        </p:nvSpPr>
        <p:spPr>
          <a:xfrm>
            <a:off x="548640" y="6144768"/>
            <a:ext cx="10241280" cy="384048"/>
          </a:xfrm>
          <a:prstGeom prst="rect">
            <a:avLst/>
          </a:prstGeom>
          <a:noFill/>
          <a:ln/>
        </p:spPr>
        <p:txBody>
          <a:bodyPr wrap="square" lIns="0" tIns="0" rIns="0" bIns="0" rtlCol="0" anchor="b"/>
          <a:lstStyle/>
          <a:p>
            <a:pPr indent="0" marL="0">
              <a:buNone/>
            </a:pPr>
            <a:r>
              <a:rPr lang="en-US" sz="950" dirty="0">
                <a:solidFill>
                  <a:srgbClr val="8793A3"/>
                </a:solidFill>
                <a:latin typeface="Calibri" pitchFamily="34" charset="0"/>
                <a:ea typeface="Calibri" pitchFamily="34" charset="-122"/>
                <a:cs typeface="Calibri" pitchFamily="34" charset="-120"/>
              </a:rPr>
              <a:t>[1] Johnson et al., Scientific Data 2019   [2] Smit et al., EMNLP 2020   [3] Zech et al., PLOS Medicine 2018</a:t>
            </a:r>
            <a:endParaRPr lang="en-US" sz="950" dirty="0"/>
          </a:p>
        </p:txBody>
      </p:sp>
      <p:sp>
        <p:nvSpPr>
          <p:cNvPr id="41" name="Text 35"/>
          <p:cNvSpPr txBox="1"/>
          <p:nvPr/>
        </p:nvSpPr>
        <p:spPr>
          <a:xfrm>
            <a:off x="11094415" y="6254496"/>
            <a:ext cx="548640" cy="274320"/>
          </a:xfrm>
          <a:prstGeom prst="rect">
            <a:avLst/>
          </a:prstGeom>
          <a:noFill/>
          <a:ln/>
        </p:spPr>
        <p:txBody>
          <a:bodyPr wrap="square" lIns="0" tIns="0" rIns="0" bIns="0" rtlCol="0" anchor="b"/>
          <a:lstStyle/>
          <a:p>
            <a:pPr algn="r" indent="0" marL="0">
              <a:buNone/>
            </a:pPr>
            <a:r>
              <a:rPr lang="en-US" sz="1000" b="1" dirty="0">
                <a:solidFill>
                  <a:srgbClr val="5B6B7F"/>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84048"/>
            <a:ext cx="384048" cy="237744"/>
          </a:xfrm>
          <a:prstGeom prst="roundRect">
            <a:avLst>
              <a:gd name="adj" fmla="val 19231"/>
            </a:avLst>
          </a:prstGeom>
          <a:solidFill>
            <a:srgbClr val="0E1E33"/>
          </a:solidFill>
          <a:ln/>
        </p:spPr>
      </p:sp>
      <p:sp>
        <p:nvSpPr>
          <p:cNvPr id="3" name="Text 1"/>
          <p:cNvSpPr txBox="1"/>
          <p:nvPr/>
        </p:nvSpPr>
        <p:spPr>
          <a:xfrm>
            <a:off x="548640" y="384048"/>
            <a:ext cx="38404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4" name="Text 2"/>
          <p:cNvSpPr txBox="1"/>
          <p:nvPr/>
        </p:nvSpPr>
        <p:spPr>
          <a:xfrm>
            <a:off x="1060704" y="384048"/>
            <a:ext cx="6400800" cy="237744"/>
          </a:xfrm>
          <a:prstGeom prst="rect">
            <a:avLst/>
          </a:prstGeom>
          <a:noFill/>
          <a:ln/>
        </p:spPr>
        <p:txBody>
          <a:bodyPr wrap="square" lIns="0" tIns="0" rIns="0" bIns="0" rtlCol="0" anchor="ctr"/>
          <a:lstStyle/>
          <a:p>
            <a:pPr indent="0" marL="0">
              <a:buNone/>
            </a:pPr>
            <a:r>
              <a:rPr lang="en-US" sz="1050" b="1" spc="150" kern="0" dirty="0">
                <a:solidFill>
                  <a:srgbClr val="5B6B7F"/>
                </a:solidFill>
                <a:latin typeface="Calibri" pitchFamily="34" charset="0"/>
                <a:ea typeface="Calibri" pitchFamily="34" charset="-122"/>
                <a:cs typeface="Calibri" pitchFamily="34" charset="-120"/>
              </a:rPr>
              <a:t>DATA &amp; LABELS</a:t>
            </a:r>
            <a:endParaRPr lang="en-US" sz="1050" dirty="0"/>
          </a:p>
        </p:txBody>
      </p:sp>
      <p:sp>
        <p:nvSpPr>
          <p:cNvPr id="5" name="Text 3"/>
          <p:cNvSpPr txBox="1"/>
          <p:nvPr/>
        </p:nvSpPr>
        <p:spPr>
          <a:xfrm>
            <a:off x="548640" y="731520"/>
            <a:ext cx="11094415" cy="548640"/>
          </a:xfrm>
          <a:prstGeom prst="rect">
            <a:avLst/>
          </a:prstGeom>
          <a:noFill/>
          <a:ln/>
        </p:spPr>
        <p:txBody>
          <a:bodyPr wrap="square" lIns="0" tIns="0" rIns="0" bIns="0" rtlCol="0" anchor="ctr"/>
          <a:lstStyle/>
          <a:p>
            <a:pPr indent="0" marL="0">
              <a:buNone/>
            </a:pPr>
            <a:r>
              <a:rPr lang="en-US" sz="2800" b="1" dirty="0">
                <a:solidFill>
                  <a:srgbClr val="0E1E33"/>
                </a:solidFill>
                <a:latin typeface="Calibri" pitchFamily="34" charset="0"/>
                <a:ea typeface="Calibri" pitchFamily="34" charset="-122"/>
                <a:cs typeface="Calibri" pitchFamily="34" charset="-120"/>
              </a:rPr>
              <a:t>One course subset, 35 attending IDs, very uneven volume</a:t>
            </a:r>
            <a:endParaRPr lang="en-US" sz="2800" dirty="0"/>
          </a:p>
        </p:txBody>
      </p:sp>
      <p:sp>
        <p:nvSpPr>
          <p:cNvPr id="6" name="Text 4"/>
          <p:cNvSpPr txBox="1"/>
          <p:nvPr/>
        </p:nvSpPr>
        <p:spPr>
          <a:xfrm>
            <a:off x="548640" y="1280160"/>
            <a:ext cx="11094415" cy="329184"/>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Each study links one patient, its images, one report and an anonymised attending ID.</a:t>
            </a:r>
            <a:endParaRPr lang="en-US" sz="1500" dirty="0"/>
          </a:p>
        </p:txBody>
      </p:sp>
      <p:sp>
        <p:nvSpPr>
          <p:cNvPr id="7" name="Text 5"/>
          <p:cNvSpPr txBox="1"/>
          <p:nvPr/>
        </p:nvSpPr>
        <p:spPr>
          <a:xfrm>
            <a:off x="548640" y="1828800"/>
            <a:ext cx="1554480" cy="530352"/>
          </a:xfrm>
          <a:prstGeom prst="rect">
            <a:avLst/>
          </a:prstGeom>
          <a:noFill/>
          <a:ln/>
        </p:spPr>
        <p:txBody>
          <a:bodyPr wrap="square" lIns="0" tIns="0" rIns="0" bIns="0" rtlCol="0" anchor="ctr"/>
          <a:lstStyle/>
          <a:p>
            <a:pPr indent="0" marL="0">
              <a:buNone/>
            </a:pPr>
            <a:r>
              <a:rPr lang="en-US" sz="3200" b="1" dirty="0">
                <a:solidFill>
                  <a:srgbClr val="0E1E33"/>
                </a:solidFill>
                <a:latin typeface="Calibri" pitchFamily="34" charset="0"/>
                <a:ea typeface="Calibri" pitchFamily="34" charset="-122"/>
                <a:cs typeface="Calibri" pitchFamily="34" charset="-120"/>
              </a:rPr>
              <a:t>1,000</a:t>
            </a:r>
            <a:endParaRPr lang="en-US" sz="3200" dirty="0"/>
          </a:p>
        </p:txBody>
      </p:sp>
      <p:sp>
        <p:nvSpPr>
          <p:cNvPr id="8" name="Text 6"/>
          <p:cNvSpPr txBox="1"/>
          <p:nvPr/>
        </p:nvSpPr>
        <p:spPr>
          <a:xfrm>
            <a:off x="548640" y="2359152"/>
            <a:ext cx="1554480" cy="256032"/>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patients</a:t>
            </a:r>
            <a:endParaRPr lang="en-US" sz="1250" dirty="0"/>
          </a:p>
        </p:txBody>
      </p:sp>
      <p:sp>
        <p:nvSpPr>
          <p:cNvPr id="9" name="Text 7"/>
          <p:cNvSpPr txBox="1"/>
          <p:nvPr/>
        </p:nvSpPr>
        <p:spPr>
          <a:xfrm>
            <a:off x="2121408" y="1828800"/>
            <a:ext cx="1554480" cy="530352"/>
          </a:xfrm>
          <a:prstGeom prst="rect">
            <a:avLst/>
          </a:prstGeom>
          <a:noFill/>
          <a:ln/>
        </p:spPr>
        <p:txBody>
          <a:bodyPr wrap="square" lIns="0" tIns="0" rIns="0" bIns="0" rtlCol="0" anchor="ctr"/>
          <a:lstStyle/>
          <a:p>
            <a:pPr indent="0" marL="0">
              <a:buNone/>
            </a:pPr>
            <a:r>
              <a:rPr lang="en-US" sz="3200" b="1" dirty="0">
                <a:solidFill>
                  <a:srgbClr val="0E1E33"/>
                </a:solidFill>
                <a:latin typeface="Calibri" pitchFamily="34" charset="0"/>
                <a:ea typeface="Calibri" pitchFamily="34" charset="-122"/>
                <a:cs typeface="Calibri" pitchFamily="34" charset="-120"/>
              </a:rPr>
              <a:t>3,351</a:t>
            </a:r>
            <a:endParaRPr lang="en-US" sz="3200" dirty="0"/>
          </a:p>
        </p:txBody>
      </p:sp>
      <p:sp>
        <p:nvSpPr>
          <p:cNvPr id="10" name="Text 8"/>
          <p:cNvSpPr txBox="1"/>
          <p:nvPr/>
        </p:nvSpPr>
        <p:spPr>
          <a:xfrm>
            <a:off x="2121408" y="2359152"/>
            <a:ext cx="1554480" cy="256032"/>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studies</a:t>
            </a:r>
            <a:endParaRPr lang="en-US" sz="1250" dirty="0"/>
          </a:p>
        </p:txBody>
      </p:sp>
      <p:sp>
        <p:nvSpPr>
          <p:cNvPr id="11" name="Text 9"/>
          <p:cNvSpPr txBox="1"/>
          <p:nvPr/>
        </p:nvSpPr>
        <p:spPr>
          <a:xfrm>
            <a:off x="3694176" y="1828800"/>
            <a:ext cx="1554480" cy="530352"/>
          </a:xfrm>
          <a:prstGeom prst="rect">
            <a:avLst/>
          </a:prstGeom>
          <a:noFill/>
          <a:ln/>
        </p:spPr>
        <p:txBody>
          <a:bodyPr wrap="square" lIns="0" tIns="0" rIns="0" bIns="0" rtlCol="0" anchor="ctr"/>
          <a:lstStyle/>
          <a:p>
            <a:pPr indent="0" marL="0">
              <a:buNone/>
            </a:pPr>
            <a:r>
              <a:rPr lang="en-US" sz="3200" b="1" dirty="0">
                <a:solidFill>
                  <a:srgbClr val="0E1E33"/>
                </a:solidFill>
                <a:latin typeface="Calibri" pitchFamily="34" charset="0"/>
                <a:ea typeface="Calibri" pitchFamily="34" charset="-122"/>
                <a:cs typeface="Calibri" pitchFamily="34" charset="-120"/>
              </a:rPr>
              <a:t>5,534</a:t>
            </a:r>
            <a:endParaRPr lang="en-US" sz="3200" dirty="0"/>
          </a:p>
        </p:txBody>
      </p:sp>
      <p:sp>
        <p:nvSpPr>
          <p:cNvPr id="12" name="Text 10"/>
          <p:cNvSpPr txBox="1"/>
          <p:nvPr/>
        </p:nvSpPr>
        <p:spPr>
          <a:xfrm>
            <a:off x="3694176" y="2359152"/>
            <a:ext cx="1554480" cy="256032"/>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images</a:t>
            </a:r>
            <a:endParaRPr lang="en-US" sz="1250" dirty="0"/>
          </a:p>
        </p:txBody>
      </p:sp>
      <p:sp>
        <p:nvSpPr>
          <p:cNvPr id="13" name="Shape 11"/>
          <p:cNvSpPr/>
          <p:nvPr/>
        </p:nvSpPr>
        <p:spPr>
          <a:xfrm>
            <a:off x="548640" y="2852928"/>
            <a:ext cx="4572000" cy="3136392"/>
          </a:xfrm>
          <a:prstGeom prst="roundRect">
            <a:avLst>
              <a:gd name="adj" fmla="val 3499"/>
            </a:avLst>
          </a:prstGeom>
          <a:solidFill>
            <a:srgbClr val="F3F6FA"/>
          </a:solidFill>
          <a:ln/>
        </p:spPr>
      </p:sp>
      <p:sp>
        <p:nvSpPr>
          <p:cNvPr id="14" name="Text 12"/>
          <p:cNvSpPr txBox="1"/>
          <p:nvPr/>
        </p:nvSpPr>
        <p:spPr>
          <a:xfrm>
            <a:off x="822960" y="3017520"/>
            <a:ext cx="4023360" cy="237744"/>
          </a:xfrm>
          <a:prstGeom prst="rect">
            <a:avLst/>
          </a:prstGeom>
          <a:noFill/>
          <a:ln/>
        </p:spPr>
        <p:txBody>
          <a:bodyPr wrap="square" lIns="0" tIns="0" rIns="0" bIns="0" rtlCol="0" anchor="t"/>
          <a:lstStyle/>
          <a:p>
            <a:pPr indent="0" marL="0">
              <a:buNone/>
            </a:pPr>
            <a:r>
              <a:rPr lang="en-US" sz="1050" b="1" spc="150" kern="0" dirty="0">
                <a:solidFill>
                  <a:srgbClr val="5B6B7F"/>
                </a:solidFill>
                <a:latin typeface="Calibri" pitchFamily="34" charset="0"/>
                <a:ea typeface="Calibri" pitchFamily="34" charset="-122"/>
                <a:cs typeface="Calibri" pitchFamily="34" charset="-120"/>
              </a:rPr>
              <a:t>INSIDE ONE STUDY</a:t>
            </a:r>
            <a:endParaRPr lang="en-US" sz="1050" dirty="0"/>
          </a:p>
        </p:txBody>
      </p:sp>
      <p:sp>
        <p:nvSpPr>
          <p:cNvPr id="15" name="Shape 13"/>
          <p:cNvSpPr/>
          <p:nvPr/>
        </p:nvSpPr>
        <p:spPr>
          <a:xfrm>
            <a:off x="822960" y="3401568"/>
            <a:ext cx="475488" cy="475488"/>
          </a:xfrm>
          <a:prstGeom prst="ellipse">
            <a:avLst/>
          </a:prstGeom>
          <a:solidFill>
            <a:srgbClr val="FFFFFF"/>
          </a:solidFill>
          <a:ln/>
        </p:spPr>
      </p:sp>
      <p:pic>
        <p:nvPicPr>
          <p:cNvPr id="16" name="Image 0" descr="scan line icon">    </p:cNvPr>
          <p:cNvPicPr>
            <a:picLocks noChangeAspect="1"/>
          </p:cNvPicPr>
          <p:nvPr/>
        </p:nvPicPr>
        <p:blipFill>
          <a:blip r:embed="rId1"/>
          <a:stretch>
            <a:fillRect/>
          </a:stretch>
        </p:blipFill>
        <p:spPr>
          <a:xfrm>
            <a:off x="937077" y="3515685"/>
            <a:ext cx="247254" cy="247254"/>
          </a:xfrm>
          <a:prstGeom prst="rect">
            <a:avLst/>
          </a:prstGeom>
        </p:spPr>
      </p:pic>
      <p:sp>
        <p:nvSpPr>
          <p:cNvPr id="17" name="Text 14"/>
          <p:cNvSpPr txBox="1"/>
          <p:nvPr/>
        </p:nvSpPr>
        <p:spPr>
          <a:xfrm>
            <a:off x="1463040" y="3383280"/>
            <a:ext cx="3566160" cy="274320"/>
          </a:xfrm>
          <a:prstGeom prst="rect">
            <a:avLst/>
          </a:prstGeom>
          <a:noFill/>
          <a:ln/>
        </p:spPr>
        <p:txBody>
          <a:bodyPr wrap="square" lIns="0" tIns="0" rIns="0" bIns="0" rtlCol="0" anchor="t"/>
          <a:lstStyle/>
          <a:p>
            <a:pPr indent="0" marL="0">
              <a:buNone/>
            </a:pPr>
            <a:r>
              <a:rPr lang="en-US" sz="1450" b="1" dirty="0">
                <a:solidFill>
                  <a:srgbClr val="0E1E33"/>
                </a:solidFill>
                <a:latin typeface="Calibri" pitchFamily="34" charset="0"/>
                <a:ea typeface="Calibri" pitchFamily="34" charset="-122"/>
                <a:cs typeface="Calibri" pitchFamily="34" charset="-120"/>
              </a:rPr>
              <a:t>Frontal image → model input</a:t>
            </a:r>
            <a:endParaRPr lang="en-US" sz="1450" dirty="0"/>
          </a:p>
        </p:txBody>
      </p:sp>
      <p:sp>
        <p:nvSpPr>
          <p:cNvPr id="18" name="Text 15"/>
          <p:cNvSpPr txBox="1"/>
          <p:nvPr/>
        </p:nvSpPr>
        <p:spPr>
          <a:xfrm>
            <a:off x="1463040" y="3666744"/>
            <a:ext cx="3566160" cy="256032"/>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One per study: PA preferred, otherwise AP</a:t>
            </a:r>
            <a:endParaRPr lang="en-US" sz="1200" dirty="0"/>
          </a:p>
        </p:txBody>
      </p:sp>
      <p:sp>
        <p:nvSpPr>
          <p:cNvPr id="19" name="Shape 16"/>
          <p:cNvSpPr/>
          <p:nvPr/>
        </p:nvSpPr>
        <p:spPr>
          <a:xfrm>
            <a:off x="822960" y="4224528"/>
            <a:ext cx="475488" cy="475488"/>
          </a:xfrm>
          <a:prstGeom prst="ellipse">
            <a:avLst/>
          </a:prstGeom>
          <a:solidFill>
            <a:srgbClr val="FFFFFF"/>
          </a:solidFill>
          <a:ln/>
        </p:spPr>
      </p:sp>
      <p:pic>
        <p:nvPicPr>
          <p:cNvPr id="20" name="Image 1" descr="file text icon">    </p:cNvPr>
          <p:cNvPicPr>
            <a:picLocks noChangeAspect="1"/>
          </p:cNvPicPr>
          <p:nvPr/>
        </p:nvPicPr>
        <p:blipFill>
          <a:blip r:embed="rId2"/>
          <a:stretch>
            <a:fillRect/>
          </a:stretch>
        </p:blipFill>
        <p:spPr>
          <a:xfrm>
            <a:off x="937077" y="4338645"/>
            <a:ext cx="247254" cy="247254"/>
          </a:xfrm>
          <a:prstGeom prst="rect">
            <a:avLst/>
          </a:prstGeom>
        </p:spPr>
      </p:pic>
      <p:sp>
        <p:nvSpPr>
          <p:cNvPr id="21" name="Text 17"/>
          <p:cNvSpPr txBox="1"/>
          <p:nvPr/>
        </p:nvSpPr>
        <p:spPr>
          <a:xfrm>
            <a:off x="1463040" y="4206240"/>
            <a:ext cx="3566160" cy="274320"/>
          </a:xfrm>
          <a:prstGeom prst="rect">
            <a:avLst/>
          </a:prstGeom>
          <a:noFill/>
          <a:ln/>
        </p:spPr>
        <p:txBody>
          <a:bodyPr wrap="square" lIns="0" tIns="0" rIns="0" bIns="0" rtlCol="0" anchor="t"/>
          <a:lstStyle/>
          <a:p>
            <a:pPr indent="0" marL="0">
              <a:buNone/>
            </a:pPr>
            <a:r>
              <a:rPr lang="en-US" sz="1450" b="1" dirty="0">
                <a:solidFill>
                  <a:srgbClr val="0E1E33"/>
                </a:solidFill>
                <a:latin typeface="Calibri" pitchFamily="34" charset="0"/>
                <a:ea typeface="Calibri" pitchFamily="34" charset="-122"/>
                <a:cs typeface="Calibri" pitchFamily="34" charset="-120"/>
              </a:rPr>
              <a:t>Report → atelectasis label</a:t>
            </a:r>
            <a:endParaRPr lang="en-US" sz="1450" dirty="0"/>
          </a:p>
        </p:txBody>
      </p:sp>
      <p:sp>
        <p:nvSpPr>
          <p:cNvPr id="22" name="Text 18"/>
          <p:cNvSpPr txBox="1"/>
          <p:nvPr/>
        </p:nvSpPr>
        <p:spPr>
          <a:xfrm>
            <a:off x="1463040" y="4489704"/>
            <a:ext cx="3566160" cy="256032"/>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Used to make labels; never fed to the model</a:t>
            </a:r>
            <a:endParaRPr lang="en-US" sz="1200" dirty="0"/>
          </a:p>
        </p:txBody>
      </p:sp>
      <p:sp>
        <p:nvSpPr>
          <p:cNvPr id="23" name="Shape 19"/>
          <p:cNvSpPr/>
          <p:nvPr/>
        </p:nvSpPr>
        <p:spPr>
          <a:xfrm>
            <a:off x="822960" y="5047488"/>
            <a:ext cx="475488" cy="475488"/>
          </a:xfrm>
          <a:prstGeom prst="ellipse">
            <a:avLst/>
          </a:prstGeom>
          <a:solidFill>
            <a:srgbClr val="FFFFFF"/>
          </a:solidFill>
          <a:ln/>
        </p:spPr>
      </p:sp>
      <p:pic>
        <p:nvPicPr>
          <p:cNvPr id="24" name="Image 2" descr="id card icon">    </p:cNvPr>
          <p:cNvPicPr>
            <a:picLocks noChangeAspect="1"/>
          </p:cNvPicPr>
          <p:nvPr/>
        </p:nvPicPr>
        <p:blipFill>
          <a:blip r:embed="rId3"/>
          <a:stretch>
            <a:fillRect/>
          </a:stretch>
        </p:blipFill>
        <p:spPr>
          <a:xfrm>
            <a:off x="937077" y="5161605"/>
            <a:ext cx="247254" cy="247254"/>
          </a:xfrm>
          <a:prstGeom prst="rect">
            <a:avLst/>
          </a:prstGeom>
        </p:spPr>
      </p:pic>
      <p:sp>
        <p:nvSpPr>
          <p:cNvPr id="25" name="Text 20"/>
          <p:cNvSpPr txBox="1"/>
          <p:nvPr/>
        </p:nvSpPr>
        <p:spPr>
          <a:xfrm>
            <a:off x="1463040" y="5029200"/>
            <a:ext cx="3566160" cy="274320"/>
          </a:xfrm>
          <a:prstGeom prst="rect">
            <a:avLst/>
          </a:prstGeom>
          <a:noFill/>
          <a:ln/>
        </p:spPr>
        <p:txBody>
          <a:bodyPr wrap="square" lIns="0" tIns="0" rIns="0" bIns="0" rtlCol="0" anchor="t"/>
          <a:lstStyle/>
          <a:p>
            <a:pPr indent="0" marL="0">
              <a:buNone/>
            </a:pPr>
            <a:r>
              <a:rPr lang="en-US" sz="1450" b="1" dirty="0">
                <a:solidFill>
                  <a:srgbClr val="0E1E33"/>
                </a:solidFill>
                <a:latin typeface="Calibri" pitchFamily="34" charset="0"/>
                <a:ea typeface="Calibri" pitchFamily="34" charset="-122"/>
                <a:cs typeface="Calibri" pitchFamily="34" charset="-120"/>
              </a:rPr>
              <a:t>Attending ID → grouping only</a:t>
            </a:r>
            <a:endParaRPr lang="en-US" sz="1450" dirty="0"/>
          </a:p>
        </p:txBody>
      </p:sp>
      <p:sp>
        <p:nvSpPr>
          <p:cNvPr id="26" name="Text 21"/>
          <p:cNvSpPr txBox="1"/>
          <p:nvPr/>
        </p:nvSpPr>
        <p:spPr>
          <a:xfrm>
            <a:off x="1463040" y="5312664"/>
            <a:ext cx="3566160" cy="256032"/>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Defines physician groups; never a model input</a:t>
            </a:r>
            <a:endParaRPr lang="en-US" sz="1200" dirty="0"/>
          </a:p>
        </p:txBody>
      </p:sp>
      <p:sp>
        <p:nvSpPr>
          <p:cNvPr id="27" name="Text 22"/>
          <p:cNvSpPr txBox="1"/>
          <p:nvPr/>
        </p:nvSpPr>
        <p:spPr>
          <a:xfrm>
            <a:off x="5532120" y="1828800"/>
            <a:ext cx="6035040" cy="274320"/>
          </a:xfrm>
          <a:prstGeom prst="rect">
            <a:avLst/>
          </a:prstGeom>
          <a:noFill/>
          <a:ln/>
        </p:spPr>
        <p:txBody>
          <a:bodyPr wrap="square" lIns="0" tIns="0" rIns="0" bIns="0" rtlCol="0" anchor="t"/>
          <a:lstStyle/>
          <a:p>
            <a:pPr indent="0" marL="0">
              <a:buNone/>
            </a:pPr>
            <a:r>
              <a:rPr lang="en-US" sz="1350" b="1" dirty="0">
                <a:solidFill>
                  <a:srgbClr val="0E1E33"/>
                </a:solidFill>
                <a:latin typeface="Calibri" pitchFamily="34" charset="0"/>
                <a:ea typeface="Calibri" pitchFamily="34" charset="-122"/>
                <a:cs typeface="Calibri" pitchFamily="34" charset="-120"/>
              </a:rPr>
              <a:t>Studies per attending ID · top 12 of 35 (ranked)</a:t>
            </a:r>
            <a:endParaRPr lang="en-US" sz="1350" dirty="0"/>
          </a:p>
        </p:txBody>
      </p:sp>
      <p:graphicFrame>
        <p:nvGraphicFramePr>
          <p:cNvPr id="28" name="Chart 0" descr="Column chart of studies per attending ID, ranks D01 to D12: 506, 461, 426, 252, 243, 220, 216, 209, 194, 148, 86, 72"/>
          <p:cNvGraphicFramePr/>
          <p:nvPr/>
        </p:nvGraphicFramePr>
        <p:xfrm>
          <a:off x="5394960" y="2148840"/>
          <a:ext cx="6263640" cy="2971800"/>
        </p:xfrm>
        <a:graphic xmlns:a="http://schemas.openxmlformats.org/drawingml/2006/main">
          <a:graphicData uri="http://schemas.openxmlformats.org/drawingml/2006/chart">
            <c:chart xmlns:c="http://schemas.openxmlformats.org/drawingml/2006/chart" r:id="rId4"/>
          </a:graphicData>
        </a:graphic>
      </p:graphicFrame>
      <p:sp>
        <p:nvSpPr>
          <p:cNvPr id="29" name="Text 23"/>
          <p:cNvSpPr txBox="1"/>
          <p:nvPr/>
        </p:nvSpPr>
        <p:spPr>
          <a:xfrm>
            <a:off x="5532120" y="5230368"/>
            <a:ext cx="1920240" cy="411480"/>
          </a:xfrm>
          <a:prstGeom prst="rect">
            <a:avLst/>
          </a:prstGeom>
          <a:noFill/>
          <a:ln/>
        </p:spPr>
        <p:txBody>
          <a:bodyPr wrap="square" lIns="0" tIns="0" rIns="0" bIns="0" rtlCol="0" anchor="ctr"/>
          <a:lstStyle/>
          <a:p>
            <a:pPr indent="0" marL="0">
              <a:buNone/>
            </a:pPr>
            <a:r>
              <a:rPr lang="en-US" sz="2400" b="1" dirty="0">
                <a:solidFill>
                  <a:srgbClr val="0E1E33"/>
                </a:solidFill>
                <a:latin typeface="Calibri" pitchFamily="34" charset="0"/>
                <a:ea typeface="Calibri" pitchFamily="34" charset="-122"/>
                <a:cs typeface="Calibri" pitchFamily="34" charset="-120"/>
              </a:rPr>
              <a:t>42%</a:t>
            </a:r>
            <a:endParaRPr lang="en-US" sz="2400" dirty="0"/>
          </a:p>
        </p:txBody>
      </p:sp>
      <p:sp>
        <p:nvSpPr>
          <p:cNvPr id="30" name="Text 24"/>
          <p:cNvSpPr txBox="1"/>
          <p:nvPr/>
        </p:nvSpPr>
        <p:spPr>
          <a:xfrm>
            <a:off x="5532120" y="5632704"/>
            <a:ext cx="1920240" cy="384048"/>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of studies: top 3 IDs</a:t>
            </a:r>
            <a:endParaRPr lang="en-US" sz="1150" dirty="0"/>
          </a:p>
        </p:txBody>
      </p:sp>
      <p:sp>
        <p:nvSpPr>
          <p:cNvPr id="31" name="Text 25"/>
          <p:cNvSpPr txBox="1"/>
          <p:nvPr/>
        </p:nvSpPr>
        <p:spPr>
          <a:xfrm>
            <a:off x="7589520" y="5230368"/>
            <a:ext cx="1920240" cy="411480"/>
          </a:xfrm>
          <a:prstGeom prst="rect">
            <a:avLst/>
          </a:prstGeom>
          <a:noFill/>
          <a:ln/>
        </p:spPr>
        <p:txBody>
          <a:bodyPr wrap="square" lIns="0" tIns="0" rIns="0" bIns="0" rtlCol="0" anchor="ctr"/>
          <a:lstStyle/>
          <a:p>
            <a:pPr indent="0" marL="0">
              <a:buNone/>
            </a:pPr>
            <a:r>
              <a:rPr lang="en-US" sz="2400" b="1" dirty="0">
                <a:solidFill>
                  <a:srgbClr val="24364F"/>
                </a:solidFill>
                <a:latin typeface="Calibri" pitchFamily="34" charset="0"/>
                <a:ea typeface="Calibri" pitchFamily="34" charset="-122"/>
                <a:cs typeface="Calibri" pitchFamily="34" charset="-120"/>
              </a:rPr>
              <a:t>10</a:t>
            </a:r>
            <a:endParaRPr lang="en-US" sz="2400" dirty="0"/>
          </a:p>
        </p:txBody>
      </p:sp>
      <p:sp>
        <p:nvSpPr>
          <p:cNvPr id="32" name="Text 26"/>
          <p:cNvSpPr txBox="1"/>
          <p:nvPr/>
        </p:nvSpPr>
        <p:spPr>
          <a:xfrm>
            <a:off x="7589520" y="5632704"/>
            <a:ext cx="1920240" cy="384048"/>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IDs with ≥ 100 patients</a:t>
            </a:r>
            <a:endParaRPr lang="en-US" sz="1150" dirty="0"/>
          </a:p>
        </p:txBody>
      </p:sp>
      <p:sp>
        <p:nvSpPr>
          <p:cNvPr id="33" name="Text 27"/>
          <p:cNvSpPr txBox="1"/>
          <p:nvPr/>
        </p:nvSpPr>
        <p:spPr>
          <a:xfrm>
            <a:off x="9646920" y="5230368"/>
            <a:ext cx="1920240" cy="411480"/>
          </a:xfrm>
          <a:prstGeom prst="rect">
            <a:avLst/>
          </a:prstGeom>
          <a:noFill/>
          <a:ln/>
        </p:spPr>
        <p:txBody>
          <a:bodyPr wrap="square" lIns="0" tIns="0" rIns="0" bIns="0" rtlCol="0" anchor="ctr"/>
          <a:lstStyle/>
          <a:p>
            <a:pPr indent="0" marL="0">
              <a:buNone/>
            </a:pPr>
            <a:r>
              <a:rPr lang="en-US" sz="2400" b="1" dirty="0">
                <a:solidFill>
                  <a:srgbClr val="24364F"/>
                </a:solidFill>
                <a:latin typeface="Calibri" pitchFamily="34" charset="0"/>
                <a:ea typeface="Calibri" pitchFamily="34" charset="-122"/>
                <a:cs typeface="Calibri" pitchFamily="34" charset="-120"/>
              </a:rPr>
              <a:t>23</a:t>
            </a:r>
            <a:endParaRPr lang="en-US" sz="2400" dirty="0"/>
          </a:p>
        </p:txBody>
      </p:sp>
      <p:sp>
        <p:nvSpPr>
          <p:cNvPr id="34" name="Text 28"/>
          <p:cNvSpPr txBox="1"/>
          <p:nvPr/>
        </p:nvSpPr>
        <p:spPr>
          <a:xfrm>
            <a:off x="9646920" y="5632704"/>
            <a:ext cx="1920240" cy="384048"/>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IDs share the last 318 studies</a:t>
            </a:r>
            <a:endParaRPr lang="en-US" sz="1150" dirty="0"/>
          </a:p>
        </p:txBody>
      </p:sp>
      <p:sp>
        <p:nvSpPr>
          <p:cNvPr id="35" name="Text 29"/>
          <p:cNvSpPr txBox="1"/>
          <p:nvPr/>
        </p:nvSpPr>
        <p:spPr>
          <a:xfrm>
            <a:off x="548640" y="6144768"/>
            <a:ext cx="10241280" cy="384048"/>
          </a:xfrm>
          <a:prstGeom prst="rect">
            <a:avLst/>
          </a:prstGeom>
          <a:noFill/>
          <a:ln/>
        </p:spPr>
        <p:txBody>
          <a:bodyPr wrap="square" lIns="0" tIns="0" rIns="0" bIns="0" rtlCol="0" anchor="b"/>
          <a:lstStyle/>
          <a:p>
            <a:pPr indent="0" marL="0">
              <a:buNone/>
            </a:pPr>
            <a:r>
              <a:rPr lang="en-US" sz="950" dirty="0">
                <a:solidFill>
                  <a:srgbClr val="8793A3"/>
                </a:solidFill>
                <a:latin typeface="Calibri" pitchFamily="34" charset="0"/>
                <a:ea typeface="Calibri" pitchFamily="34" charset="-122"/>
                <a:cs typeface="Calibri" pitchFamily="34" charset="-120"/>
              </a:rPr>
              <a:t>D01–D12 are ranks by study count, not real identifiers. Course subset of MIMIC-CXR; counts from docs/DATA_AUDIT.md.</a:t>
            </a:r>
            <a:endParaRPr lang="en-US" sz="950" dirty="0"/>
          </a:p>
        </p:txBody>
      </p:sp>
      <p:sp>
        <p:nvSpPr>
          <p:cNvPr id="36" name="Text 30"/>
          <p:cNvSpPr txBox="1"/>
          <p:nvPr/>
        </p:nvSpPr>
        <p:spPr>
          <a:xfrm>
            <a:off x="11094415" y="6254496"/>
            <a:ext cx="548640" cy="274320"/>
          </a:xfrm>
          <a:prstGeom prst="rect">
            <a:avLst/>
          </a:prstGeom>
          <a:noFill/>
          <a:ln/>
        </p:spPr>
        <p:txBody>
          <a:bodyPr wrap="square" lIns="0" tIns="0" rIns="0" bIns="0" rtlCol="0" anchor="b"/>
          <a:lstStyle/>
          <a:p>
            <a:pPr algn="r" indent="0" marL="0">
              <a:buNone/>
            </a:pPr>
            <a:r>
              <a:rPr lang="en-US" sz="1000" b="1" dirty="0">
                <a:solidFill>
                  <a:srgbClr val="5B6B7F"/>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84048"/>
            <a:ext cx="384048" cy="237744"/>
          </a:xfrm>
          <a:prstGeom prst="roundRect">
            <a:avLst>
              <a:gd name="adj" fmla="val 19231"/>
            </a:avLst>
          </a:prstGeom>
          <a:solidFill>
            <a:srgbClr val="0E1E33"/>
          </a:solidFill>
          <a:ln/>
        </p:spPr>
      </p:sp>
      <p:sp>
        <p:nvSpPr>
          <p:cNvPr id="3" name="Text 1"/>
          <p:cNvSpPr txBox="1"/>
          <p:nvPr/>
        </p:nvSpPr>
        <p:spPr>
          <a:xfrm>
            <a:off x="548640" y="384048"/>
            <a:ext cx="38404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4" name="Text 2"/>
          <p:cNvSpPr txBox="1"/>
          <p:nvPr/>
        </p:nvSpPr>
        <p:spPr>
          <a:xfrm>
            <a:off x="1060704" y="384048"/>
            <a:ext cx="6400800" cy="237744"/>
          </a:xfrm>
          <a:prstGeom prst="rect">
            <a:avLst/>
          </a:prstGeom>
          <a:noFill/>
          <a:ln/>
        </p:spPr>
        <p:txBody>
          <a:bodyPr wrap="square" lIns="0" tIns="0" rIns="0" bIns="0" rtlCol="0" anchor="ctr"/>
          <a:lstStyle/>
          <a:p>
            <a:pPr indent="0" marL="0">
              <a:buNone/>
            </a:pPr>
            <a:r>
              <a:rPr lang="en-US" sz="1050" b="1" spc="150" kern="0" dirty="0">
                <a:solidFill>
                  <a:srgbClr val="5B6B7F"/>
                </a:solidFill>
                <a:latin typeface="Calibri" pitchFamily="34" charset="0"/>
                <a:ea typeface="Calibri" pitchFamily="34" charset="-122"/>
                <a:cs typeface="Calibri" pitchFamily="34" charset="-120"/>
              </a:rPr>
              <a:t>DATA &amp; LABELS</a:t>
            </a:r>
            <a:endParaRPr lang="en-US" sz="1050" dirty="0"/>
          </a:p>
        </p:txBody>
      </p:sp>
      <p:sp>
        <p:nvSpPr>
          <p:cNvPr id="5" name="Text 3"/>
          <p:cNvSpPr txBox="1"/>
          <p:nvPr/>
        </p:nvSpPr>
        <p:spPr>
          <a:xfrm>
            <a:off x="548640" y="731520"/>
            <a:ext cx="11094415" cy="548640"/>
          </a:xfrm>
          <a:prstGeom prst="rect">
            <a:avLst/>
          </a:prstGeom>
          <a:noFill/>
          <a:ln/>
        </p:spPr>
        <p:txBody>
          <a:bodyPr wrap="square" lIns="0" tIns="0" rIns="0" bIns="0" rtlCol="0" anchor="ctr"/>
          <a:lstStyle/>
          <a:p>
            <a:pPr indent="0" marL="0">
              <a:buNone/>
            </a:pPr>
            <a:r>
              <a:rPr lang="en-US" sz="2800" b="1" dirty="0">
                <a:solidFill>
                  <a:srgbClr val="0E1E33"/>
                </a:solidFill>
                <a:latin typeface="Calibri" pitchFamily="34" charset="0"/>
                <a:ea typeface="Calibri" pitchFamily="34" charset="-122"/>
                <a:cs typeface="Calibri" pitchFamily="34" charset="-120"/>
              </a:rPr>
              <a:t>The target is atelectasis as stated in the report</a:t>
            </a:r>
            <a:endParaRPr lang="en-US" sz="2800" dirty="0"/>
          </a:p>
        </p:txBody>
      </p:sp>
      <p:sp>
        <p:nvSpPr>
          <p:cNvPr id="6" name="Text 4"/>
          <p:cNvSpPr txBox="1"/>
          <p:nvPr/>
        </p:nvSpPr>
        <p:spPr>
          <a:xfrm>
            <a:off x="548640" y="1280160"/>
            <a:ext cx="11094415" cy="329184"/>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Automatic labels, human decisions where labellers disagreed, then fixed group rules.</a:t>
            </a:r>
            <a:endParaRPr lang="en-US" sz="1500" dirty="0"/>
          </a:p>
        </p:txBody>
      </p:sp>
      <p:sp>
        <p:nvSpPr>
          <p:cNvPr id="7" name="Shape 5"/>
          <p:cNvSpPr/>
          <p:nvPr/>
        </p:nvSpPr>
        <p:spPr>
          <a:xfrm>
            <a:off x="548640" y="1810512"/>
            <a:ext cx="3429000" cy="1298448"/>
          </a:xfrm>
          <a:prstGeom prst="roundRect">
            <a:avLst>
              <a:gd name="adj" fmla="val 8451"/>
            </a:avLst>
          </a:prstGeom>
          <a:solidFill>
            <a:srgbClr val="F3F6FA"/>
          </a:solidFill>
          <a:ln/>
        </p:spPr>
      </p:sp>
      <p:sp>
        <p:nvSpPr>
          <p:cNvPr id="8" name="Shape 6"/>
          <p:cNvSpPr/>
          <p:nvPr/>
        </p:nvSpPr>
        <p:spPr>
          <a:xfrm>
            <a:off x="749808" y="2029968"/>
            <a:ext cx="457200" cy="457200"/>
          </a:xfrm>
          <a:prstGeom prst="ellipse">
            <a:avLst/>
          </a:prstGeom>
          <a:solidFill>
            <a:srgbClr val="FFFFFF"/>
          </a:solidFill>
          <a:ln/>
        </p:spPr>
      </p:sp>
      <p:pic>
        <p:nvPicPr>
          <p:cNvPr id="9" name="Image 0" descr="cpu icon">    </p:cNvPr>
          <p:cNvPicPr>
            <a:picLocks noChangeAspect="1"/>
          </p:cNvPicPr>
          <p:nvPr/>
        </p:nvPicPr>
        <p:blipFill>
          <a:blip r:embed="rId1"/>
          <a:stretch>
            <a:fillRect/>
          </a:stretch>
        </p:blipFill>
        <p:spPr>
          <a:xfrm>
            <a:off x="859536" y="2139696"/>
            <a:ext cx="237744" cy="237744"/>
          </a:xfrm>
          <a:prstGeom prst="rect">
            <a:avLst/>
          </a:prstGeom>
        </p:spPr>
      </p:pic>
      <p:sp>
        <p:nvSpPr>
          <p:cNvPr id="10" name="Text 7"/>
          <p:cNvSpPr txBox="1"/>
          <p:nvPr/>
        </p:nvSpPr>
        <p:spPr>
          <a:xfrm>
            <a:off x="1335024" y="1993392"/>
            <a:ext cx="2514600" cy="274320"/>
          </a:xfrm>
          <a:prstGeom prst="rect">
            <a:avLst/>
          </a:prstGeom>
          <a:noFill/>
          <a:ln/>
        </p:spPr>
        <p:txBody>
          <a:bodyPr wrap="square" lIns="0" tIns="0" rIns="0" bIns="0" rtlCol="0" anchor="t"/>
          <a:lstStyle/>
          <a:p>
            <a:pPr indent="0" marL="0">
              <a:buNone/>
            </a:pPr>
            <a:r>
              <a:rPr lang="en-US" sz="1450" b="1" dirty="0">
                <a:solidFill>
                  <a:srgbClr val="0E1E33"/>
                </a:solidFill>
                <a:latin typeface="Calibri" pitchFamily="34" charset="0"/>
                <a:ea typeface="Calibri" pitchFamily="34" charset="-122"/>
                <a:cs typeface="Calibri" pitchFamily="34" charset="-120"/>
              </a:rPr>
              <a:t>CheXbert labels</a:t>
            </a:r>
            <a:endParaRPr lang="en-US" sz="1450" dirty="0"/>
          </a:p>
        </p:txBody>
      </p:sp>
      <p:sp>
        <p:nvSpPr>
          <p:cNvPr id="11" name="Text 8"/>
          <p:cNvSpPr txBox="1"/>
          <p:nvPr/>
        </p:nvSpPr>
        <p:spPr>
          <a:xfrm>
            <a:off x="1335024" y="2286000"/>
            <a:ext cx="2496312" cy="77724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All 3,351 reports, four label states</a:t>
            </a:r>
            <a:endParaRPr lang="en-US" sz="1150" dirty="0"/>
          </a:p>
        </p:txBody>
      </p:sp>
      <p:pic>
        <p:nvPicPr>
          <p:cNvPr id="12" name="Image 1" descr="next step arrow">    </p:cNvPr>
          <p:cNvPicPr>
            <a:picLocks noChangeAspect="1"/>
          </p:cNvPicPr>
          <p:nvPr/>
        </p:nvPicPr>
        <p:blipFill>
          <a:blip r:embed="rId2"/>
          <a:stretch>
            <a:fillRect/>
          </a:stretch>
        </p:blipFill>
        <p:spPr>
          <a:xfrm>
            <a:off x="4042562" y="2322576"/>
            <a:ext cx="274320" cy="274320"/>
          </a:xfrm>
          <a:prstGeom prst="rect">
            <a:avLst/>
          </a:prstGeom>
        </p:spPr>
      </p:pic>
      <p:sp>
        <p:nvSpPr>
          <p:cNvPr id="13" name="Shape 9"/>
          <p:cNvSpPr/>
          <p:nvPr/>
        </p:nvSpPr>
        <p:spPr>
          <a:xfrm>
            <a:off x="4381805" y="1810512"/>
            <a:ext cx="3429000" cy="1298448"/>
          </a:xfrm>
          <a:prstGeom prst="roundRect">
            <a:avLst>
              <a:gd name="adj" fmla="val 8451"/>
            </a:avLst>
          </a:prstGeom>
          <a:solidFill>
            <a:srgbClr val="F3F6FA"/>
          </a:solidFill>
          <a:ln/>
        </p:spPr>
      </p:sp>
      <p:sp>
        <p:nvSpPr>
          <p:cNvPr id="14" name="Shape 10"/>
          <p:cNvSpPr/>
          <p:nvPr/>
        </p:nvSpPr>
        <p:spPr>
          <a:xfrm>
            <a:off x="4582973" y="2029968"/>
            <a:ext cx="457200" cy="457200"/>
          </a:xfrm>
          <a:prstGeom prst="ellipse">
            <a:avLst/>
          </a:prstGeom>
          <a:solidFill>
            <a:srgbClr val="FFFFFF"/>
          </a:solidFill>
          <a:ln/>
        </p:spPr>
      </p:sp>
      <p:pic>
        <p:nvPicPr>
          <p:cNvPr id="15" name="Image 2" descr="users icon">    </p:cNvPr>
          <p:cNvPicPr>
            <a:picLocks noChangeAspect="1"/>
          </p:cNvPicPr>
          <p:nvPr/>
        </p:nvPicPr>
        <p:blipFill>
          <a:blip r:embed="rId3"/>
          <a:stretch>
            <a:fillRect/>
          </a:stretch>
        </p:blipFill>
        <p:spPr>
          <a:xfrm>
            <a:off x="4692701" y="2139696"/>
            <a:ext cx="237744" cy="237744"/>
          </a:xfrm>
          <a:prstGeom prst="rect">
            <a:avLst/>
          </a:prstGeom>
        </p:spPr>
      </p:pic>
      <p:sp>
        <p:nvSpPr>
          <p:cNvPr id="16" name="Text 11"/>
          <p:cNvSpPr txBox="1"/>
          <p:nvPr/>
        </p:nvSpPr>
        <p:spPr>
          <a:xfrm>
            <a:off x="5168189" y="1993392"/>
            <a:ext cx="2514600" cy="274320"/>
          </a:xfrm>
          <a:prstGeom prst="rect">
            <a:avLst/>
          </a:prstGeom>
          <a:noFill/>
          <a:ln/>
        </p:spPr>
        <p:txBody>
          <a:bodyPr wrap="square" lIns="0" tIns="0" rIns="0" bIns="0" rtlCol="0" anchor="t"/>
          <a:lstStyle/>
          <a:p>
            <a:pPr indent="0" marL="0">
              <a:buNone/>
            </a:pPr>
            <a:r>
              <a:rPr lang="en-US" sz="1450" b="1" dirty="0">
                <a:solidFill>
                  <a:srgbClr val="0E1E33"/>
                </a:solidFill>
                <a:latin typeface="Calibri" pitchFamily="34" charset="0"/>
                <a:ea typeface="Calibri" pitchFamily="34" charset="-122"/>
                <a:cs typeface="Calibri" pitchFamily="34" charset="-120"/>
              </a:rPr>
              <a:t>272 human decisions</a:t>
            </a:r>
            <a:endParaRPr lang="en-US" sz="1450" dirty="0"/>
          </a:p>
        </p:txBody>
      </p:sp>
      <p:sp>
        <p:nvSpPr>
          <p:cNvPr id="17" name="Text 12"/>
          <p:cNvSpPr txBox="1"/>
          <p:nvPr/>
        </p:nvSpPr>
        <p:spPr>
          <a:xfrm>
            <a:off x="5168189" y="2286000"/>
            <a:ext cx="2496312" cy="77724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222 labeller disagreements + 50 agreement spot-checks, split among our four members</a:t>
            </a:r>
            <a:endParaRPr lang="en-US" sz="1150" dirty="0"/>
          </a:p>
        </p:txBody>
      </p:sp>
      <p:pic>
        <p:nvPicPr>
          <p:cNvPr id="18" name="Image 3" descr="next step arrow">    </p:cNvPr>
          <p:cNvPicPr>
            <a:picLocks noChangeAspect="1"/>
          </p:cNvPicPr>
          <p:nvPr/>
        </p:nvPicPr>
        <p:blipFill>
          <a:blip r:embed="rId4"/>
          <a:stretch>
            <a:fillRect/>
          </a:stretch>
        </p:blipFill>
        <p:spPr>
          <a:xfrm>
            <a:off x="7875727" y="2322576"/>
            <a:ext cx="274320" cy="274320"/>
          </a:xfrm>
          <a:prstGeom prst="rect">
            <a:avLst/>
          </a:prstGeom>
        </p:spPr>
      </p:pic>
      <p:sp>
        <p:nvSpPr>
          <p:cNvPr id="19" name="Shape 13"/>
          <p:cNvSpPr/>
          <p:nvPr/>
        </p:nvSpPr>
        <p:spPr>
          <a:xfrm>
            <a:off x="8214970" y="1810512"/>
            <a:ext cx="3429000" cy="1298448"/>
          </a:xfrm>
          <a:prstGeom prst="roundRect">
            <a:avLst>
              <a:gd name="adj" fmla="val 8451"/>
            </a:avLst>
          </a:prstGeom>
          <a:solidFill>
            <a:srgbClr val="F3F6FA"/>
          </a:solidFill>
          <a:ln/>
        </p:spPr>
      </p:sp>
      <p:sp>
        <p:nvSpPr>
          <p:cNvPr id="20" name="Shape 14"/>
          <p:cNvSpPr/>
          <p:nvPr/>
        </p:nvSpPr>
        <p:spPr>
          <a:xfrm>
            <a:off x="8416138" y="2029968"/>
            <a:ext cx="457200" cy="457200"/>
          </a:xfrm>
          <a:prstGeom prst="ellipse">
            <a:avLst/>
          </a:prstGeom>
          <a:solidFill>
            <a:srgbClr val="FFFFFF"/>
          </a:solidFill>
          <a:ln/>
        </p:spPr>
      </p:sp>
      <p:pic>
        <p:nvPicPr>
          <p:cNvPr id="21" name="Image 4" descr="list checks icon">    </p:cNvPr>
          <p:cNvPicPr>
            <a:picLocks noChangeAspect="1"/>
          </p:cNvPicPr>
          <p:nvPr/>
        </p:nvPicPr>
        <p:blipFill>
          <a:blip r:embed="rId5"/>
          <a:stretch>
            <a:fillRect/>
          </a:stretch>
        </p:blipFill>
        <p:spPr>
          <a:xfrm>
            <a:off x="8525866" y="2139696"/>
            <a:ext cx="237744" cy="237744"/>
          </a:xfrm>
          <a:prstGeom prst="rect">
            <a:avLst/>
          </a:prstGeom>
        </p:spPr>
      </p:pic>
      <p:sp>
        <p:nvSpPr>
          <p:cNvPr id="22" name="Text 15"/>
          <p:cNvSpPr txBox="1"/>
          <p:nvPr/>
        </p:nvSpPr>
        <p:spPr>
          <a:xfrm>
            <a:off x="9001354" y="1993392"/>
            <a:ext cx="2514600" cy="274320"/>
          </a:xfrm>
          <a:prstGeom prst="rect">
            <a:avLst/>
          </a:prstGeom>
          <a:noFill/>
          <a:ln/>
        </p:spPr>
        <p:txBody>
          <a:bodyPr wrap="square" lIns="0" tIns="0" rIns="0" bIns="0" rtlCol="0" anchor="t"/>
          <a:lstStyle/>
          <a:p>
            <a:pPr indent="0" marL="0">
              <a:buNone/>
            </a:pPr>
            <a:r>
              <a:rPr lang="en-US" sz="1450" b="1" dirty="0">
                <a:solidFill>
                  <a:srgbClr val="0E1E33"/>
                </a:solidFill>
                <a:latin typeface="Calibri" pitchFamily="34" charset="0"/>
                <a:ea typeface="Calibri" pitchFamily="34" charset="-122"/>
                <a:cs typeface="Calibri" pitchFamily="34" charset="-120"/>
              </a:rPr>
              <a:t>Conservative group rules</a:t>
            </a:r>
            <a:endParaRPr lang="en-US" sz="1450" dirty="0"/>
          </a:p>
        </p:txBody>
      </p:sp>
      <p:sp>
        <p:nvSpPr>
          <p:cNvPr id="23" name="Text 16"/>
          <p:cNvSpPr txBox="1"/>
          <p:nvPr/>
        </p:nvSpPr>
        <p:spPr>
          <a:xfrm>
            <a:off x="9001354" y="2286000"/>
            <a:ext cx="2496312" cy="77724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“likely” → uncertain · “most likely” → positive · very mild volume loss not counted · unresolved conflicts excluded</a:t>
            </a:r>
            <a:endParaRPr lang="en-US" sz="1150" dirty="0"/>
          </a:p>
        </p:txBody>
      </p:sp>
      <p:sp>
        <p:nvSpPr>
          <p:cNvPr id="24" name="Text 17"/>
          <p:cNvSpPr txBox="1"/>
          <p:nvPr/>
        </p:nvSpPr>
        <p:spPr>
          <a:xfrm>
            <a:off x="548640" y="3346704"/>
            <a:ext cx="5486400" cy="237744"/>
          </a:xfrm>
          <a:prstGeom prst="rect">
            <a:avLst/>
          </a:prstGeom>
          <a:noFill/>
          <a:ln/>
        </p:spPr>
        <p:txBody>
          <a:bodyPr wrap="square" lIns="0" tIns="0" rIns="0" bIns="0" rtlCol="0" anchor="t"/>
          <a:lstStyle/>
          <a:p>
            <a:pPr indent="0" marL="0">
              <a:buNone/>
            </a:pPr>
            <a:r>
              <a:rPr lang="en-US" sz="1050" b="1" spc="150" kern="0" dirty="0">
                <a:solidFill>
                  <a:srgbClr val="5B6B7F"/>
                </a:solidFill>
                <a:latin typeface="Calibri" pitchFamily="34" charset="0"/>
                <a:ea typeface="Calibri" pitchFamily="34" charset="-122"/>
                <a:cs typeface="Calibri" pitchFamily="34" charset="-120"/>
              </a:rPr>
              <a:t>FINAL REPORT LABEL · ALL 3,351 STUDIES</a:t>
            </a:r>
            <a:endParaRPr lang="en-US" sz="1050" dirty="0"/>
          </a:p>
        </p:txBody>
      </p:sp>
      <p:sp>
        <p:nvSpPr>
          <p:cNvPr id="25" name="Shape 18"/>
          <p:cNvSpPr/>
          <p:nvPr/>
        </p:nvSpPr>
        <p:spPr>
          <a:xfrm>
            <a:off x="548640" y="3767328"/>
            <a:ext cx="2420178" cy="566928"/>
          </a:xfrm>
          <a:prstGeom prst="rect">
            <a:avLst/>
          </a:prstGeom>
          <a:solidFill>
            <a:srgbClr val="0E1E33"/>
          </a:solidFill>
          <a:ln/>
        </p:spPr>
      </p:sp>
      <p:sp>
        <p:nvSpPr>
          <p:cNvPr id="26" name="Shape 19"/>
          <p:cNvSpPr/>
          <p:nvPr/>
        </p:nvSpPr>
        <p:spPr>
          <a:xfrm>
            <a:off x="2968818" y="3767328"/>
            <a:ext cx="1102489" cy="566928"/>
          </a:xfrm>
          <a:prstGeom prst="rect">
            <a:avLst/>
          </a:prstGeom>
          <a:solidFill>
            <a:srgbClr val="B5495B"/>
          </a:solidFill>
          <a:ln/>
        </p:spPr>
      </p:sp>
      <p:sp>
        <p:nvSpPr>
          <p:cNvPr id="27" name="Shape 20"/>
          <p:cNvSpPr/>
          <p:nvPr/>
        </p:nvSpPr>
        <p:spPr>
          <a:xfrm>
            <a:off x="4071307" y="3767328"/>
            <a:ext cx="36419" cy="566928"/>
          </a:xfrm>
          <a:prstGeom prst="rect">
            <a:avLst/>
          </a:prstGeom>
          <a:solidFill>
            <a:srgbClr val="6F8AA6"/>
          </a:solidFill>
          <a:ln/>
        </p:spPr>
      </p:sp>
      <p:sp>
        <p:nvSpPr>
          <p:cNvPr id="28" name="Shape 21"/>
          <p:cNvSpPr/>
          <p:nvPr/>
        </p:nvSpPr>
        <p:spPr>
          <a:xfrm>
            <a:off x="4107726" y="3767328"/>
            <a:ext cx="7535329" cy="566928"/>
          </a:xfrm>
          <a:prstGeom prst="rect">
            <a:avLst/>
          </a:prstGeom>
          <a:solidFill>
            <a:srgbClr val="C9D5E2"/>
          </a:solidFill>
          <a:ln/>
        </p:spPr>
      </p:sp>
      <p:sp>
        <p:nvSpPr>
          <p:cNvPr id="29" name="Text 22"/>
          <p:cNvSpPr txBox="1"/>
          <p:nvPr/>
        </p:nvSpPr>
        <p:spPr>
          <a:xfrm>
            <a:off x="548640" y="3767328"/>
            <a:ext cx="2420178"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Positive</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731  (21.8%)</a:t>
            </a:r>
            <a:endParaRPr lang="en-US" sz="1400" dirty="0"/>
          </a:p>
        </p:txBody>
      </p:sp>
      <p:sp>
        <p:nvSpPr>
          <p:cNvPr id="30" name="Text 23"/>
          <p:cNvSpPr txBox="1"/>
          <p:nvPr/>
        </p:nvSpPr>
        <p:spPr>
          <a:xfrm>
            <a:off x="2968818" y="3767328"/>
            <a:ext cx="1102489"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Uncertain</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333</a:t>
            </a:r>
            <a:endParaRPr lang="en-US" sz="1400" dirty="0"/>
          </a:p>
        </p:txBody>
      </p:sp>
      <p:sp>
        <p:nvSpPr>
          <p:cNvPr id="31" name="Text 24"/>
          <p:cNvSpPr txBox="1"/>
          <p:nvPr/>
        </p:nvSpPr>
        <p:spPr>
          <a:xfrm>
            <a:off x="4107726" y="3767328"/>
            <a:ext cx="7535329" cy="566928"/>
          </a:xfrm>
          <a:prstGeom prst="rect">
            <a:avLst/>
          </a:prstGeom>
          <a:noFill/>
          <a:ln/>
        </p:spPr>
        <p:txBody>
          <a:bodyPr wrap="square" lIns="0" tIns="0" rIns="0" bIns="0" rtlCol="0" anchor="ctr"/>
          <a:lstStyle/>
          <a:p>
            <a:pPr algn="ctr" indent="0" marL="0">
              <a:buNone/>
            </a:pPr>
            <a:r>
              <a:rPr lang="en-US" sz="1150" dirty="0">
                <a:solidFill>
                  <a:srgbClr val="0E1E33"/>
                </a:solidFill>
                <a:latin typeface="Calibri" pitchFamily="34" charset="0"/>
                <a:ea typeface="Calibri" pitchFamily="34" charset="-122"/>
                <a:cs typeface="Calibri" pitchFamily="34" charset="-120"/>
              </a:rPr>
              <a:t>Not mentioned</a:t>
            </a:r>
            <a:endParaRPr lang="en-US" sz="1400" dirty="0"/>
          </a:p>
          <a:p>
            <a:pPr algn="ctr" indent="0" marL="0">
              <a:buNone/>
            </a:pPr>
            <a:r>
              <a:rPr lang="en-US" sz="1400" b="1" dirty="0">
                <a:solidFill>
                  <a:srgbClr val="0E1E33"/>
                </a:solidFill>
                <a:latin typeface="Calibri" pitchFamily="34" charset="0"/>
                <a:ea typeface="Calibri" pitchFamily="34" charset="-122"/>
                <a:cs typeface="Calibri" pitchFamily="34" charset="-120"/>
              </a:rPr>
              <a:t>2,276  (67.9%)</a:t>
            </a:r>
            <a:endParaRPr lang="en-US" sz="1400" dirty="0"/>
          </a:p>
        </p:txBody>
      </p:sp>
      <p:sp>
        <p:nvSpPr>
          <p:cNvPr id="32" name="Shape 25"/>
          <p:cNvSpPr/>
          <p:nvPr/>
        </p:nvSpPr>
        <p:spPr>
          <a:xfrm>
            <a:off x="4089516" y="3602736"/>
            <a:ext cx="0" cy="164592"/>
          </a:xfrm>
          <a:prstGeom prst="line">
            <a:avLst/>
          </a:prstGeom>
          <a:noFill/>
          <a:ln w="12700">
            <a:solidFill>
              <a:srgbClr val="6F8AA6"/>
            </a:solidFill>
            <a:prstDash val="solid"/>
          </a:ln>
        </p:spPr>
      </p:sp>
      <p:sp>
        <p:nvSpPr>
          <p:cNvPr id="33" name="Text 26"/>
          <p:cNvSpPr txBox="1"/>
          <p:nvPr/>
        </p:nvSpPr>
        <p:spPr>
          <a:xfrm>
            <a:off x="4162668" y="3474720"/>
            <a:ext cx="2377440" cy="237744"/>
          </a:xfrm>
          <a:prstGeom prst="rect">
            <a:avLst/>
          </a:prstGeom>
          <a:noFill/>
          <a:ln/>
        </p:spPr>
        <p:txBody>
          <a:bodyPr wrap="square" lIns="0" tIns="0" rIns="0" bIns="0" rtlCol="0" anchor="ctr"/>
          <a:lstStyle/>
          <a:p>
            <a:pPr indent="0" marL="0">
              <a:buNone/>
            </a:pPr>
            <a:r>
              <a:rPr lang="en-US" sz="1100" b="1" dirty="0">
                <a:solidFill>
                  <a:srgbClr val="6F8AA6"/>
                </a:solidFill>
                <a:latin typeface="Calibri" pitchFamily="34" charset="0"/>
                <a:ea typeface="Calibri" pitchFamily="34" charset="-122"/>
                <a:cs typeface="Calibri" pitchFamily="34" charset="-120"/>
              </a:rPr>
              <a:t>Explicit negative · 11 (0.3%)</a:t>
            </a:r>
            <a:endParaRPr lang="en-US" sz="1100" dirty="0"/>
          </a:p>
        </p:txBody>
      </p:sp>
      <p:sp>
        <p:nvSpPr>
          <p:cNvPr id="34" name="Shape 27"/>
          <p:cNvSpPr/>
          <p:nvPr/>
        </p:nvSpPr>
        <p:spPr>
          <a:xfrm>
            <a:off x="576072" y="4535424"/>
            <a:ext cx="2365314" cy="0"/>
          </a:xfrm>
          <a:prstGeom prst="line">
            <a:avLst/>
          </a:prstGeom>
          <a:noFill/>
          <a:ln w="15875">
            <a:solidFill>
              <a:srgbClr val="0E1E33"/>
            </a:solidFill>
            <a:prstDash val="solid"/>
          </a:ln>
        </p:spPr>
      </p:sp>
      <p:sp>
        <p:nvSpPr>
          <p:cNvPr id="35" name="Shape 28"/>
          <p:cNvSpPr/>
          <p:nvPr/>
        </p:nvSpPr>
        <p:spPr>
          <a:xfrm>
            <a:off x="576072" y="4443984"/>
            <a:ext cx="0" cy="91440"/>
          </a:xfrm>
          <a:prstGeom prst="line">
            <a:avLst/>
          </a:prstGeom>
          <a:noFill/>
          <a:ln w="15875">
            <a:solidFill>
              <a:srgbClr val="0E1E33"/>
            </a:solidFill>
            <a:prstDash val="solid"/>
          </a:ln>
        </p:spPr>
      </p:sp>
      <p:sp>
        <p:nvSpPr>
          <p:cNvPr id="36" name="Shape 29"/>
          <p:cNvSpPr/>
          <p:nvPr/>
        </p:nvSpPr>
        <p:spPr>
          <a:xfrm>
            <a:off x="2941386" y="4443984"/>
            <a:ext cx="0" cy="91440"/>
          </a:xfrm>
          <a:prstGeom prst="line">
            <a:avLst/>
          </a:prstGeom>
          <a:noFill/>
          <a:ln w="15875">
            <a:solidFill>
              <a:srgbClr val="0E1E33"/>
            </a:solidFill>
            <a:prstDash val="solid"/>
          </a:ln>
        </p:spPr>
      </p:sp>
      <p:sp>
        <p:nvSpPr>
          <p:cNvPr id="37" name="Text 30"/>
          <p:cNvSpPr txBox="1"/>
          <p:nvPr/>
        </p:nvSpPr>
        <p:spPr>
          <a:xfrm>
            <a:off x="548640" y="4590288"/>
            <a:ext cx="2420178" cy="274320"/>
          </a:xfrm>
          <a:prstGeom prst="rect">
            <a:avLst/>
          </a:prstGeom>
          <a:noFill/>
          <a:ln/>
        </p:spPr>
        <p:txBody>
          <a:bodyPr wrap="square" lIns="0" tIns="0" rIns="0" bIns="0" rtlCol="0" anchor="ctr"/>
          <a:lstStyle/>
          <a:p>
            <a:pPr algn="ctr" indent="0" marL="0">
              <a:buNone/>
            </a:pPr>
            <a:r>
              <a:rPr lang="en-US" sz="1250" b="1" dirty="0">
                <a:solidFill>
                  <a:srgbClr val="0E1E33"/>
                </a:solidFill>
                <a:latin typeface="Calibri" pitchFamily="34" charset="0"/>
                <a:ea typeface="Calibri" pitchFamily="34" charset="-122"/>
                <a:cs typeface="Calibri" pitchFamily="34" charset="-120"/>
              </a:rPr>
              <a:t>Target 1</a:t>
            </a:r>
            <a:endParaRPr lang="en-US" sz="1250" dirty="0"/>
          </a:p>
        </p:txBody>
      </p:sp>
      <p:sp>
        <p:nvSpPr>
          <p:cNvPr id="38" name="Shape 31"/>
          <p:cNvSpPr/>
          <p:nvPr/>
        </p:nvSpPr>
        <p:spPr>
          <a:xfrm>
            <a:off x="2996250" y="4535424"/>
            <a:ext cx="1047625" cy="0"/>
          </a:xfrm>
          <a:prstGeom prst="line">
            <a:avLst/>
          </a:prstGeom>
          <a:noFill/>
          <a:ln w="15875">
            <a:solidFill>
              <a:srgbClr val="B5495B"/>
            </a:solidFill>
            <a:prstDash val="solid"/>
          </a:ln>
        </p:spPr>
      </p:sp>
      <p:sp>
        <p:nvSpPr>
          <p:cNvPr id="39" name="Shape 32"/>
          <p:cNvSpPr/>
          <p:nvPr/>
        </p:nvSpPr>
        <p:spPr>
          <a:xfrm>
            <a:off x="2996250" y="4443984"/>
            <a:ext cx="0" cy="91440"/>
          </a:xfrm>
          <a:prstGeom prst="line">
            <a:avLst/>
          </a:prstGeom>
          <a:noFill/>
          <a:ln w="15875">
            <a:solidFill>
              <a:srgbClr val="B5495B"/>
            </a:solidFill>
            <a:prstDash val="solid"/>
          </a:ln>
        </p:spPr>
      </p:sp>
      <p:sp>
        <p:nvSpPr>
          <p:cNvPr id="40" name="Shape 33"/>
          <p:cNvSpPr/>
          <p:nvPr/>
        </p:nvSpPr>
        <p:spPr>
          <a:xfrm>
            <a:off x="4043875" y="4443984"/>
            <a:ext cx="0" cy="91440"/>
          </a:xfrm>
          <a:prstGeom prst="line">
            <a:avLst/>
          </a:prstGeom>
          <a:noFill/>
          <a:ln w="15875">
            <a:solidFill>
              <a:srgbClr val="B5495B"/>
            </a:solidFill>
            <a:prstDash val="solid"/>
          </a:ln>
        </p:spPr>
      </p:sp>
      <p:sp>
        <p:nvSpPr>
          <p:cNvPr id="41" name="Text 34"/>
          <p:cNvSpPr txBox="1"/>
          <p:nvPr/>
        </p:nvSpPr>
        <p:spPr>
          <a:xfrm>
            <a:off x="2968818" y="4590288"/>
            <a:ext cx="1102489" cy="274320"/>
          </a:xfrm>
          <a:prstGeom prst="rect">
            <a:avLst/>
          </a:prstGeom>
          <a:noFill/>
          <a:ln/>
        </p:spPr>
        <p:txBody>
          <a:bodyPr wrap="square" lIns="0" tIns="0" rIns="0" bIns="0" rtlCol="0" anchor="ctr"/>
          <a:lstStyle/>
          <a:p>
            <a:pPr algn="ctr" indent="0" marL="0">
              <a:buNone/>
            </a:pPr>
            <a:r>
              <a:rPr lang="en-US" sz="1250" b="1" dirty="0">
                <a:solidFill>
                  <a:srgbClr val="B5495B"/>
                </a:solidFill>
                <a:latin typeface="Calibri" pitchFamily="34" charset="0"/>
                <a:ea typeface="Calibri" pitchFamily="34" charset="-122"/>
                <a:cs typeface="Calibri" pitchFamily="34" charset="-120"/>
              </a:rPr>
              <a:t>Excluded</a:t>
            </a:r>
            <a:endParaRPr lang="en-US" sz="1250" dirty="0"/>
          </a:p>
        </p:txBody>
      </p:sp>
      <p:sp>
        <p:nvSpPr>
          <p:cNvPr id="42" name="Shape 35"/>
          <p:cNvSpPr/>
          <p:nvPr/>
        </p:nvSpPr>
        <p:spPr>
          <a:xfrm>
            <a:off x="4098739" y="4535424"/>
            <a:ext cx="7516884" cy="0"/>
          </a:xfrm>
          <a:prstGeom prst="line">
            <a:avLst/>
          </a:prstGeom>
          <a:noFill/>
          <a:ln w="15875">
            <a:solidFill>
              <a:srgbClr val="24364F"/>
            </a:solidFill>
            <a:prstDash val="solid"/>
          </a:ln>
        </p:spPr>
      </p:sp>
      <p:sp>
        <p:nvSpPr>
          <p:cNvPr id="43" name="Shape 36"/>
          <p:cNvSpPr/>
          <p:nvPr/>
        </p:nvSpPr>
        <p:spPr>
          <a:xfrm>
            <a:off x="4098739" y="4443984"/>
            <a:ext cx="0" cy="91440"/>
          </a:xfrm>
          <a:prstGeom prst="line">
            <a:avLst/>
          </a:prstGeom>
          <a:noFill/>
          <a:ln w="15875">
            <a:solidFill>
              <a:srgbClr val="24364F"/>
            </a:solidFill>
            <a:prstDash val="solid"/>
          </a:ln>
        </p:spPr>
      </p:sp>
      <p:sp>
        <p:nvSpPr>
          <p:cNvPr id="44" name="Shape 37"/>
          <p:cNvSpPr/>
          <p:nvPr/>
        </p:nvSpPr>
        <p:spPr>
          <a:xfrm>
            <a:off x="11615623" y="4443984"/>
            <a:ext cx="0" cy="91440"/>
          </a:xfrm>
          <a:prstGeom prst="line">
            <a:avLst/>
          </a:prstGeom>
          <a:noFill/>
          <a:ln w="15875">
            <a:solidFill>
              <a:srgbClr val="24364F"/>
            </a:solidFill>
            <a:prstDash val="solid"/>
          </a:ln>
        </p:spPr>
      </p:sp>
      <p:sp>
        <p:nvSpPr>
          <p:cNvPr id="45" name="Text 38"/>
          <p:cNvSpPr txBox="1"/>
          <p:nvPr/>
        </p:nvSpPr>
        <p:spPr>
          <a:xfrm>
            <a:off x="4071307" y="4590288"/>
            <a:ext cx="7571748" cy="274320"/>
          </a:xfrm>
          <a:prstGeom prst="rect">
            <a:avLst/>
          </a:prstGeom>
          <a:noFill/>
          <a:ln/>
        </p:spPr>
        <p:txBody>
          <a:bodyPr wrap="square" lIns="0" tIns="0" rIns="0" bIns="0" rtlCol="0" anchor="ctr"/>
          <a:lstStyle/>
          <a:p>
            <a:pPr algn="ctr" indent="0" marL="0">
              <a:buNone/>
            </a:pPr>
            <a:r>
              <a:rPr lang="en-US" sz="1250" b="1" dirty="0">
                <a:solidFill>
                  <a:srgbClr val="24364F"/>
                </a:solidFill>
                <a:latin typeface="Calibri" pitchFamily="34" charset="0"/>
                <a:ea typeface="Calibri" pitchFamily="34" charset="-122"/>
                <a:cs typeface="Calibri" pitchFamily="34" charset="-120"/>
              </a:rPr>
              <a:t>Target 0  ·  “not stated in the report”, not confirmed absence</a:t>
            </a:r>
            <a:endParaRPr lang="en-US" sz="1250" dirty="0"/>
          </a:p>
        </p:txBody>
      </p:sp>
      <p:sp>
        <p:nvSpPr>
          <p:cNvPr id="46" name="Shape 39"/>
          <p:cNvSpPr/>
          <p:nvPr/>
        </p:nvSpPr>
        <p:spPr>
          <a:xfrm>
            <a:off x="548640" y="5285232"/>
            <a:ext cx="11094415" cy="731520"/>
          </a:xfrm>
          <a:prstGeom prst="roundRect">
            <a:avLst>
              <a:gd name="adj" fmla="val 12500"/>
            </a:avLst>
          </a:prstGeom>
          <a:solidFill>
            <a:srgbClr val="E7EDF4"/>
          </a:solidFill>
          <a:ln/>
        </p:spPr>
      </p:sp>
      <p:sp>
        <p:nvSpPr>
          <p:cNvPr id="47" name="Text 40"/>
          <p:cNvSpPr txBox="1"/>
          <p:nvPr/>
        </p:nvSpPr>
        <p:spPr>
          <a:xfrm>
            <a:off x="777240" y="5285232"/>
            <a:ext cx="3017520" cy="731520"/>
          </a:xfrm>
          <a:prstGeom prst="rect">
            <a:avLst/>
          </a:prstGeom>
          <a:noFill/>
          <a:ln/>
        </p:spPr>
        <p:txBody>
          <a:bodyPr wrap="square" lIns="0" tIns="0" rIns="0" bIns="0" rtlCol="0" anchor="ctr"/>
          <a:lstStyle/>
          <a:p>
            <a:pPr indent="0" marL="0">
              <a:buNone/>
            </a:pPr>
            <a:r>
              <a:rPr lang="en-US" sz="1300" b="1" dirty="0">
                <a:solidFill>
                  <a:srgbClr val="0E1E33"/>
                </a:solidFill>
                <a:latin typeface="Calibri" pitchFamily="34" charset="0"/>
                <a:ea typeface="Calibri" pitchFamily="34" charset="-122"/>
                <a:cs typeface="Calibri" pitchFamily="34" charset="-120"/>
              </a:rPr>
              <a:t>Eligible after filtering</a:t>
            </a:r>
            <a:endParaRPr lang="en-US" sz="1300" dirty="0"/>
          </a:p>
          <a:p>
            <a:pPr indent="0" marL="0">
              <a:buNone/>
            </a:pPr>
            <a:r>
              <a:rPr lang="en-US" sz="1050" dirty="0">
                <a:solidFill>
                  <a:srgbClr val="5B6B7F"/>
                </a:solidFill>
                <a:latin typeface="Calibri" pitchFamily="34" charset="0"/>
                <a:ea typeface="Calibri" pitchFamily="34" charset="-122"/>
                <a:cs typeface="Calibri" pitchFamily="34" charset="-120"/>
              </a:rPr>
              <a:t>uncertain or ambiguous removed · frontal view needed</a:t>
            </a:r>
            <a:endParaRPr lang="en-US" sz="1300" dirty="0"/>
          </a:p>
        </p:txBody>
      </p:sp>
      <p:sp>
        <p:nvSpPr>
          <p:cNvPr id="48" name="Text 41"/>
          <p:cNvSpPr txBox="1"/>
          <p:nvPr/>
        </p:nvSpPr>
        <p:spPr>
          <a:xfrm>
            <a:off x="4160520" y="5285232"/>
            <a:ext cx="1737360" cy="731520"/>
          </a:xfrm>
          <a:prstGeom prst="rect">
            <a:avLst/>
          </a:prstGeom>
          <a:noFill/>
          <a:ln/>
        </p:spPr>
        <p:txBody>
          <a:bodyPr wrap="square" lIns="0" tIns="0" rIns="0" bIns="0" rtlCol="0" anchor="ctr"/>
          <a:lstStyle/>
          <a:p>
            <a:pPr indent="0" marL="0">
              <a:buNone/>
            </a:pPr>
            <a:r>
              <a:rPr lang="en-US" sz="2000" b="1" dirty="0">
                <a:solidFill>
                  <a:srgbClr val="0E1E33"/>
                </a:solidFill>
                <a:latin typeface="Calibri" pitchFamily="34" charset="0"/>
                <a:ea typeface="Calibri" pitchFamily="34" charset="-122"/>
                <a:cs typeface="Calibri" pitchFamily="34" charset="-120"/>
              </a:rPr>
              <a:t>2,904  </a:t>
            </a:r>
            <a:pPr indent="0" marL="0">
              <a:buNone/>
            </a:pPr>
            <a:r>
              <a:rPr lang="en-US" sz="1200" dirty="0">
                <a:solidFill>
                  <a:srgbClr val="5B6B7F"/>
                </a:solidFill>
                <a:latin typeface="Calibri" pitchFamily="34" charset="0"/>
                <a:ea typeface="Calibri" pitchFamily="34" charset="-122"/>
                <a:cs typeface="Calibri" pitchFamily="34" charset="-120"/>
              </a:rPr>
              <a:t>studies</a:t>
            </a:r>
            <a:endParaRPr lang="en-US" sz="1400" dirty="0"/>
          </a:p>
        </p:txBody>
      </p:sp>
      <p:sp>
        <p:nvSpPr>
          <p:cNvPr id="49" name="Text 42"/>
          <p:cNvSpPr txBox="1"/>
          <p:nvPr/>
        </p:nvSpPr>
        <p:spPr>
          <a:xfrm>
            <a:off x="5760720" y="5285232"/>
            <a:ext cx="1737360" cy="731520"/>
          </a:xfrm>
          <a:prstGeom prst="rect">
            <a:avLst/>
          </a:prstGeom>
          <a:noFill/>
          <a:ln/>
        </p:spPr>
        <p:txBody>
          <a:bodyPr wrap="square" lIns="0" tIns="0" rIns="0" bIns="0" rtlCol="0" anchor="ctr"/>
          <a:lstStyle/>
          <a:p>
            <a:pPr indent="0" marL="0">
              <a:buNone/>
            </a:pPr>
            <a:r>
              <a:rPr lang="en-US" sz="2000" b="1" dirty="0">
                <a:solidFill>
                  <a:srgbClr val="0E1E33"/>
                </a:solidFill>
                <a:latin typeface="Calibri" pitchFamily="34" charset="0"/>
                <a:ea typeface="Calibri" pitchFamily="34" charset="-122"/>
                <a:cs typeface="Calibri" pitchFamily="34" charset="-120"/>
              </a:rPr>
              <a:t>940  </a:t>
            </a:r>
            <a:pPr indent="0" marL="0">
              <a:buNone/>
            </a:pPr>
            <a:r>
              <a:rPr lang="en-US" sz="1200" dirty="0">
                <a:solidFill>
                  <a:srgbClr val="5B6B7F"/>
                </a:solidFill>
                <a:latin typeface="Calibri" pitchFamily="34" charset="0"/>
                <a:ea typeface="Calibri" pitchFamily="34" charset="-122"/>
                <a:cs typeface="Calibri" pitchFamily="34" charset="-120"/>
              </a:rPr>
              <a:t>patients</a:t>
            </a:r>
            <a:endParaRPr lang="en-US" sz="1400" dirty="0"/>
          </a:p>
        </p:txBody>
      </p:sp>
      <p:sp>
        <p:nvSpPr>
          <p:cNvPr id="50" name="Text 43"/>
          <p:cNvSpPr txBox="1"/>
          <p:nvPr/>
        </p:nvSpPr>
        <p:spPr>
          <a:xfrm>
            <a:off x="7269480" y="5285232"/>
            <a:ext cx="1737360" cy="731520"/>
          </a:xfrm>
          <a:prstGeom prst="rect">
            <a:avLst/>
          </a:prstGeom>
          <a:noFill/>
          <a:ln/>
        </p:spPr>
        <p:txBody>
          <a:bodyPr wrap="square" lIns="0" tIns="0" rIns="0" bIns="0" rtlCol="0" anchor="ctr"/>
          <a:lstStyle/>
          <a:p>
            <a:pPr indent="0" marL="0">
              <a:buNone/>
            </a:pPr>
            <a:r>
              <a:rPr lang="en-US" sz="2000" b="1" dirty="0">
                <a:solidFill>
                  <a:srgbClr val="0E1E33"/>
                </a:solidFill>
                <a:latin typeface="Calibri" pitchFamily="34" charset="0"/>
                <a:ea typeface="Calibri" pitchFamily="34" charset="-122"/>
                <a:cs typeface="Calibri" pitchFamily="34" charset="-120"/>
              </a:rPr>
              <a:t>709  </a:t>
            </a:r>
            <a:pPr indent="0" marL="0">
              <a:buNone/>
            </a:pPr>
            <a:r>
              <a:rPr lang="en-US" sz="1200" dirty="0">
                <a:solidFill>
                  <a:srgbClr val="5B6B7F"/>
                </a:solidFill>
                <a:latin typeface="Calibri" pitchFamily="34" charset="0"/>
                <a:ea typeface="Calibri" pitchFamily="34" charset="-122"/>
                <a:cs typeface="Calibri" pitchFamily="34" charset="-120"/>
              </a:rPr>
              <a:t>positive (24%)</a:t>
            </a:r>
            <a:endParaRPr lang="en-US" sz="1400" dirty="0"/>
          </a:p>
        </p:txBody>
      </p:sp>
      <p:sp>
        <p:nvSpPr>
          <p:cNvPr id="51" name="Text 44"/>
          <p:cNvSpPr txBox="1"/>
          <p:nvPr/>
        </p:nvSpPr>
        <p:spPr>
          <a:xfrm>
            <a:off x="9098280" y="5285232"/>
            <a:ext cx="2606040" cy="731520"/>
          </a:xfrm>
          <a:prstGeom prst="rect">
            <a:avLst/>
          </a:prstGeom>
          <a:noFill/>
          <a:ln/>
        </p:spPr>
        <p:txBody>
          <a:bodyPr wrap="square" lIns="0" tIns="0" rIns="0" bIns="0" rtlCol="0" anchor="ctr"/>
          <a:lstStyle/>
          <a:p>
            <a:pPr indent="0" marL="0">
              <a:buNone/>
            </a:pPr>
            <a:r>
              <a:rPr lang="en-US" sz="2000" b="1" dirty="0">
                <a:solidFill>
                  <a:srgbClr val="0E1E33"/>
                </a:solidFill>
                <a:latin typeface="Calibri" pitchFamily="34" charset="0"/>
                <a:ea typeface="Calibri" pitchFamily="34" charset="-122"/>
                <a:cs typeface="Calibri" pitchFamily="34" charset="-120"/>
              </a:rPr>
              <a:t>1,728 / 1,176  </a:t>
            </a:r>
            <a:pPr indent="0" marL="0">
              <a:buNone/>
            </a:pPr>
            <a:r>
              <a:rPr lang="en-US" sz="1200" dirty="0">
                <a:solidFill>
                  <a:srgbClr val="5B6B7F"/>
                </a:solidFill>
                <a:latin typeface="Calibri" pitchFamily="34" charset="0"/>
                <a:ea typeface="Calibri" pitchFamily="34" charset="-122"/>
                <a:cs typeface="Calibri" pitchFamily="34" charset="-120"/>
              </a:rPr>
              <a:t>AP / PA views</a:t>
            </a:r>
            <a:endParaRPr lang="en-US" sz="1400" dirty="0"/>
          </a:p>
        </p:txBody>
      </p:sp>
      <p:sp>
        <p:nvSpPr>
          <p:cNvPr id="52" name="Text 45"/>
          <p:cNvSpPr txBox="1"/>
          <p:nvPr/>
        </p:nvSpPr>
        <p:spPr>
          <a:xfrm>
            <a:off x="548640" y="6144768"/>
            <a:ext cx="10241280" cy="384048"/>
          </a:xfrm>
          <a:prstGeom prst="rect">
            <a:avLst/>
          </a:prstGeom>
          <a:noFill/>
          <a:ln/>
        </p:spPr>
        <p:txBody>
          <a:bodyPr wrap="square" lIns="0" tIns="0" rIns="0" bIns="0" rtlCol="0" anchor="b"/>
          <a:lstStyle/>
          <a:p>
            <a:pPr indent="0" marL="0">
              <a:buNone/>
            </a:pPr>
            <a:r>
              <a:rPr lang="en-US" sz="950" dirty="0">
                <a:solidFill>
                  <a:srgbClr val="8793A3"/>
                </a:solidFill>
                <a:latin typeface="Calibri" pitchFamily="34" charset="0"/>
                <a:ea typeface="Calibri" pitchFamily="34" charset="-122"/>
                <a:cs typeface="Calibri" pitchFamily="34" charset="-120"/>
              </a:rPr>
              <a:t>51 human decisions were changed by the rules (originals kept). Mechanically “not mentioned” reports were not re-reviewed; labels are not an image gold standard.</a:t>
            </a:r>
            <a:endParaRPr lang="en-US" sz="950" dirty="0"/>
          </a:p>
        </p:txBody>
      </p:sp>
      <p:sp>
        <p:nvSpPr>
          <p:cNvPr id="53" name="Text 46"/>
          <p:cNvSpPr txBox="1"/>
          <p:nvPr/>
        </p:nvSpPr>
        <p:spPr>
          <a:xfrm>
            <a:off x="11094415" y="6254496"/>
            <a:ext cx="548640" cy="274320"/>
          </a:xfrm>
          <a:prstGeom prst="rect">
            <a:avLst/>
          </a:prstGeom>
          <a:noFill/>
          <a:ln/>
        </p:spPr>
        <p:txBody>
          <a:bodyPr wrap="square" lIns="0" tIns="0" rIns="0" bIns="0" rtlCol="0" anchor="b"/>
          <a:lstStyle/>
          <a:p>
            <a:pPr algn="r" indent="0" marL="0">
              <a:buNone/>
            </a:pPr>
            <a:r>
              <a:rPr lang="en-US" sz="1000" b="1" dirty="0">
                <a:solidFill>
                  <a:srgbClr val="5B6B7F"/>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84048"/>
            <a:ext cx="384048" cy="237744"/>
          </a:xfrm>
          <a:prstGeom prst="roundRect">
            <a:avLst>
              <a:gd name="adj" fmla="val 19231"/>
            </a:avLst>
          </a:prstGeom>
          <a:solidFill>
            <a:srgbClr val="0E1E33"/>
          </a:solidFill>
          <a:ln/>
        </p:spPr>
      </p:sp>
      <p:sp>
        <p:nvSpPr>
          <p:cNvPr id="3" name="Text 1"/>
          <p:cNvSpPr txBox="1"/>
          <p:nvPr/>
        </p:nvSpPr>
        <p:spPr>
          <a:xfrm>
            <a:off x="548640" y="384048"/>
            <a:ext cx="38404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4" name="Text 2"/>
          <p:cNvSpPr txBox="1"/>
          <p:nvPr/>
        </p:nvSpPr>
        <p:spPr>
          <a:xfrm>
            <a:off x="1060704" y="384048"/>
            <a:ext cx="6400800" cy="237744"/>
          </a:xfrm>
          <a:prstGeom prst="rect">
            <a:avLst/>
          </a:prstGeom>
          <a:noFill/>
          <a:ln/>
        </p:spPr>
        <p:txBody>
          <a:bodyPr wrap="square" lIns="0" tIns="0" rIns="0" bIns="0" rtlCol="0" anchor="ctr"/>
          <a:lstStyle/>
          <a:p>
            <a:pPr indent="0" marL="0">
              <a:buNone/>
            </a:pPr>
            <a:r>
              <a:rPr lang="en-US" sz="1050" b="1" spc="150" kern="0" dirty="0">
                <a:solidFill>
                  <a:srgbClr val="5B6B7F"/>
                </a:solidFill>
                <a:latin typeface="Calibri" pitchFamily="34" charset="0"/>
                <a:ea typeface="Calibri" pitchFamily="34" charset="-122"/>
                <a:cs typeface="Calibri" pitchFamily="34" charset="-120"/>
              </a:rPr>
              <a:t>METHOD</a:t>
            </a:r>
            <a:endParaRPr lang="en-US" sz="1050" dirty="0"/>
          </a:p>
        </p:txBody>
      </p:sp>
      <p:sp>
        <p:nvSpPr>
          <p:cNvPr id="5" name="Text 3"/>
          <p:cNvSpPr txBox="1"/>
          <p:nvPr/>
        </p:nvSpPr>
        <p:spPr>
          <a:xfrm>
            <a:off x="548640" y="731520"/>
            <a:ext cx="11094415" cy="548640"/>
          </a:xfrm>
          <a:prstGeom prst="rect">
            <a:avLst/>
          </a:prstGeom>
          <a:noFill/>
          <a:ln/>
        </p:spPr>
        <p:txBody>
          <a:bodyPr wrap="square" lIns="0" tIns="0" rIns="0" bIns="0" rtlCol="0" anchor="ctr"/>
          <a:lstStyle/>
          <a:p>
            <a:pPr indent="0" marL="0">
              <a:buNone/>
            </a:pPr>
            <a:r>
              <a:rPr lang="en-US" sz="2800" b="1" dirty="0">
                <a:solidFill>
                  <a:srgbClr val="0E1E33"/>
                </a:solidFill>
                <a:latin typeface="Calibri" pitchFamily="34" charset="0"/>
                <a:ea typeface="Calibri" pitchFamily="34" charset="-122"/>
                <a:cs typeface="Calibri" pitchFamily="34" charset="-120"/>
              </a:rPr>
              <a:t>Matched training sets, with and without physician A’s cases</a:t>
            </a:r>
            <a:endParaRPr lang="en-US" sz="2800" dirty="0"/>
          </a:p>
        </p:txBody>
      </p:sp>
      <p:sp>
        <p:nvSpPr>
          <p:cNvPr id="6" name="Text 4"/>
          <p:cNvSpPr txBox="1"/>
          <p:nvPr/>
        </p:nvSpPr>
        <p:spPr>
          <a:xfrm>
            <a:off x="548640" y="1280160"/>
            <a:ext cx="11094415" cy="329184"/>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Split by patient, match the training sets, share validation, and test both models on the same patients.</a:t>
            </a:r>
            <a:endParaRPr lang="en-US" sz="1500" dirty="0"/>
          </a:p>
        </p:txBody>
      </p:sp>
      <p:sp>
        <p:nvSpPr>
          <p:cNvPr id="7" name="Shape 5"/>
          <p:cNvSpPr/>
          <p:nvPr/>
        </p:nvSpPr>
        <p:spPr>
          <a:xfrm>
            <a:off x="548640" y="1810512"/>
            <a:ext cx="11094415" cy="676656"/>
          </a:xfrm>
          <a:prstGeom prst="roundRect">
            <a:avLst>
              <a:gd name="adj" fmla="val 13514"/>
            </a:avLst>
          </a:prstGeom>
          <a:solidFill>
            <a:srgbClr val="F3F6FA"/>
          </a:solidFill>
          <a:ln/>
        </p:spPr>
      </p:sp>
      <p:sp>
        <p:nvSpPr>
          <p:cNvPr id="8" name="Shape 6"/>
          <p:cNvSpPr/>
          <p:nvPr/>
        </p:nvSpPr>
        <p:spPr>
          <a:xfrm>
            <a:off x="713232" y="1984248"/>
            <a:ext cx="329184" cy="329184"/>
          </a:xfrm>
          <a:prstGeom prst="ellipse">
            <a:avLst/>
          </a:prstGeom>
          <a:solidFill>
            <a:srgbClr val="0E1E33"/>
          </a:solidFill>
          <a:ln/>
        </p:spPr>
      </p:sp>
      <p:sp>
        <p:nvSpPr>
          <p:cNvPr id="9" name="Text 7"/>
          <p:cNvSpPr txBox="1"/>
          <p:nvPr/>
        </p:nvSpPr>
        <p:spPr>
          <a:xfrm>
            <a:off x="713232" y="1984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133856" y="1847088"/>
            <a:ext cx="1505651" cy="603504"/>
          </a:xfrm>
          <a:prstGeom prst="rect">
            <a:avLst/>
          </a:prstGeom>
          <a:noFill/>
          <a:ln/>
        </p:spPr>
        <p:txBody>
          <a:bodyPr wrap="square" lIns="0" tIns="0" rIns="0" bIns="0" rtlCol="0" anchor="ctr"/>
          <a:lstStyle/>
          <a:p>
            <a:pPr indent="0" marL="0">
              <a:buNone/>
            </a:pPr>
            <a:r>
              <a:rPr lang="en-US" sz="1200" dirty="0">
                <a:solidFill>
                  <a:srgbClr val="24364F"/>
                </a:solidFill>
                <a:latin typeface="Calibri" pitchFamily="34" charset="0"/>
                <a:ea typeface="Calibri" pitchFamily="34" charset="-122"/>
                <a:cs typeface="Calibri" pitchFamily="34" charset="-120"/>
              </a:rPr>
              <a:t>Split patients 60/20/20, no overlap</a:t>
            </a:r>
            <a:endParaRPr lang="en-US" sz="1200" dirty="0"/>
          </a:p>
        </p:txBody>
      </p:sp>
      <p:pic>
        <p:nvPicPr>
          <p:cNvPr id="11" name="Image 0" descr="next step arrow">    </p:cNvPr>
          <p:cNvPicPr>
            <a:picLocks noChangeAspect="1"/>
          </p:cNvPicPr>
          <p:nvPr/>
        </p:nvPicPr>
        <p:blipFill>
          <a:blip r:embed="rId1"/>
          <a:stretch>
            <a:fillRect/>
          </a:stretch>
        </p:blipFill>
        <p:spPr>
          <a:xfrm>
            <a:off x="2639507" y="2020824"/>
            <a:ext cx="256032" cy="256032"/>
          </a:xfrm>
          <a:prstGeom prst="rect">
            <a:avLst/>
          </a:prstGeom>
        </p:spPr>
      </p:pic>
      <p:sp>
        <p:nvSpPr>
          <p:cNvPr id="12" name="Shape 9"/>
          <p:cNvSpPr/>
          <p:nvPr/>
        </p:nvSpPr>
        <p:spPr>
          <a:xfrm>
            <a:off x="2932115" y="1984248"/>
            <a:ext cx="329184" cy="329184"/>
          </a:xfrm>
          <a:prstGeom prst="ellipse">
            <a:avLst/>
          </a:prstGeom>
          <a:solidFill>
            <a:srgbClr val="0E1E33"/>
          </a:solidFill>
          <a:ln/>
        </p:spPr>
      </p:sp>
      <p:sp>
        <p:nvSpPr>
          <p:cNvPr id="13" name="Text 10"/>
          <p:cNvSpPr txBox="1"/>
          <p:nvPr/>
        </p:nvSpPr>
        <p:spPr>
          <a:xfrm>
            <a:off x="2932115" y="1984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txBox="1"/>
          <p:nvPr/>
        </p:nvSpPr>
        <p:spPr>
          <a:xfrm>
            <a:off x="3352739" y="1847088"/>
            <a:ext cx="1505651" cy="603504"/>
          </a:xfrm>
          <a:prstGeom prst="rect">
            <a:avLst/>
          </a:prstGeom>
          <a:noFill/>
          <a:ln/>
        </p:spPr>
        <p:txBody>
          <a:bodyPr wrap="square" lIns="0" tIns="0" rIns="0" bIns="0" rtlCol="0" anchor="ctr"/>
          <a:lstStyle/>
          <a:p>
            <a:pPr indent="0" marL="0">
              <a:buNone/>
            </a:pPr>
            <a:r>
              <a:rPr lang="en-US" sz="1200" dirty="0">
                <a:solidFill>
                  <a:srgbClr val="24364F"/>
                </a:solidFill>
                <a:latin typeface="Calibri" pitchFamily="34" charset="0"/>
                <a:ea typeface="Calibri" pitchFamily="34" charset="-122"/>
                <a:cs typeface="Calibri" pitchFamily="34" charset="-120"/>
              </a:rPr>
              <a:t>Build two matched training sets</a:t>
            </a:r>
            <a:endParaRPr lang="en-US" sz="1200" dirty="0"/>
          </a:p>
        </p:txBody>
      </p:sp>
      <p:pic>
        <p:nvPicPr>
          <p:cNvPr id="15" name="Image 1" descr="next step arrow">    </p:cNvPr>
          <p:cNvPicPr>
            <a:picLocks noChangeAspect="1"/>
          </p:cNvPicPr>
          <p:nvPr/>
        </p:nvPicPr>
        <p:blipFill>
          <a:blip r:embed="rId2"/>
          <a:stretch>
            <a:fillRect/>
          </a:stretch>
        </p:blipFill>
        <p:spPr>
          <a:xfrm>
            <a:off x="4858390" y="2020824"/>
            <a:ext cx="256032" cy="256032"/>
          </a:xfrm>
          <a:prstGeom prst="rect">
            <a:avLst/>
          </a:prstGeom>
        </p:spPr>
      </p:pic>
      <p:sp>
        <p:nvSpPr>
          <p:cNvPr id="16" name="Shape 12"/>
          <p:cNvSpPr/>
          <p:nvPr/>
        </p:nvSpPr>
        <p:spPr>
          <a:xfrm>
            <a:off x="5150998" y="1984248"/>
            <a:ext cx="329184" cy="329184"/>
          </a:xfrm>
          <a:prstGeom prst="ellipse">
            <a:avLst/>
          </a:prstGeom>
          <a:solidFill>
            <a:srgbClr val="0E1E33"/>
          </a:solidFill>
          <a:ln/>
        </p:spPr>
      </p:sp>
      <p:sp>
        <p:nvSpPr>
          <p:cNvPr id="17" name="Text 13"/>
          <p:cNvSpPr txBox="1"/>
          <p:nvPr/>
        </p:nvSpPr>
        <p:spPr>
          <a:xfrm>
            <a:off x="5150998" y="1984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4"/>
          <p:cNvSpPr txBox="1"/>
          <p:nvPr/>
        </p:nvSpPr>
        <p:spPr>
          <a:xfrm>
            <a:off x="5571622" y="1847088"/>
            <a:ext cx="1505651" cy="603504"/>
          </a:xfrm>
          <a:prstGeom prst="rect">
            <a:avLst/>
          </a:prstGeom>
          <a:noFill/>
          <a:ln/>
        </p:spPr>
        <p:txBody>
          <a:bodyPr wrap="square" lIns="0" tIns="0" rIns="0" bIns="0" rtlCol="0" anchor="ctr"/>
          <a:lstStyle/>
          <a:p>
            <a:pPr indent="0" marL="0">
              <a:buNone/>
            </a:pPr>
            <a:r>
              <a:rPr lang="en-US" sz="1200" dirty="0">
                <a:solidFill>
                  <a:srgbClr val="24364F"/>
                </a:solidFill>
                <a:latin typeface="Calibri" pitchFamily="34" charset="0"/>
                <a:ea typeface="Calibri" pitchFamily="34" charset="-122"/>
                <a:cs typeface="Calibri" pitchFamily="34" charset="-120"/>
              </a:rPr>
              <a:t>Train ResNet-18 ×2, same recipe</a:t>
            </a:r>
            <a:endParaRPr lang="en-US" sz="1200" dirty="0"/>
          </a:p>
        </p:txBody>
      </p:sp>
      <p:pic>
        <p:nvPicPr>
          <p:cNvPr id="19" name="Image 2" descr="next step arrow">    </p:cNvPr>
          <p:cNvPicPr>
            <a:picLocks noChangeAspect="1"/>
          </p:cNvPicPr>
          <p:nvPr/>
        </p:nvPicPr>
        <p:blipFill>
          <a:blip r:embed="rId3"/>
          <a:stretch>
            <a:fillRect/>
          </a:stretch>
        </p:blipFill>
        <p:spPr>
          <a:xfrm>
            <a:off x="7077273" y="2020824"/>
            <a:ext cx="256032" cy="256032"/>
          </a:xfrm>
          <a:prstGeom prst="rect">
            <a:avLst/>
          </a:prstGeom>
        </p:spPr>
      </p:pic>
      <p:sp>
        <p:nvSpPr>
          <p:cNvPr id="20" name="Shape 15"/>
          <p:cNvSpPr/>
          <p:nvPr/>
        </p:nvSpPr>
        <p:spPr>
          <a:xfrm>
            <a:off x="7369881" y="1984248"/>
            <a:ext cx="329184" cy="329184"/>
          </a:xfrm>
          <a:prstGeom prst="ellipse">
            <a:avLst/>
          </a:prstGeom>
          <a:solidFill>
            <a:srgbClr val="0E1E33"/>
          </a:solidFill>
          <a:ln/>
        </p:spPr>
      </p:sp>
      <p:sp>
        <p:nvSpPr>
          <p:cNvPr id="21" name="Text 16"/>
          <p:cNvSpPr txBox="1"/>
          <p:nvPr/>
        </p:nvSpPr>
        <p:spPr>
          <a:xfrm>
            <a:off x="7369881" y="1984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7"/>
          <p:cNvSpPr txBox="1"/>
          <p:nvPr/>
        </p:nvSpPr>
        <p:spPr>
          <a:xfrm>
            <a:off x="7790505" y="1847088"/>
            <a:ext cx="1505651" cy="603504"/>
          </a:xfrm>
          <a:prstGeom prst="rect">
            <a:avLst/>
          </a:prstGeom>
          <a:noFill/>
          <a:ln/>
        </p:spPr>
        <p:txBody>
          <a:bodyPr wrap="square" lIns="0" tIns="0" rIns="0" bIns="0" rtlCol="0" anchor="ctr"/>
          <a:lstStyle/>
          <a:p>
            <a:pPr indent="0" marL="0">
              <a:buNone/>
            </a:pPr>
            <a:r>
              <a:rPr lang="en-US" sz="1200" dirty="0">
                <a:solidFill>
                  <a:srgbClr val="24364F"/>
                </a:solidFill>
                <a:latin typeface="Calibri" pitchFamily="34" charset="0"/>
                <a:ea typeface="Calibri" pitchFamily="34" charset="-122"/>
                <a:cs typeface="Calibri" pitchFamily="34" charset="-120"/>
              </a:rPr>
              <a:t>Pick epochs on shared validation</a:t>
            </a:r>
            <a:endParaRPr lang="en-US" sz="1200" dirty="0"/>
          </a:p>
        </p:txBody>
      </p:sp>
      <p:pic>
        <p:nvPicPr>
          <p:cNvPr id="23" name="Image 3" descr="next step arrow">    </p:cNvPr>
          <p:cNvPicPr>
            <a:picLocks noChangeAspect="1"/>
          </p:cNvPicPr>
          <p:nvPr/>
        </p:nvPicPr>
        <p:blipFill>
          <a:blip r:embed="rId4"/>
          <a:stretch>
            <a:fillRect/>
          </a:stretch>
        </p:blipFill>
        <p:spPr>
          <a:xfrm>
            <a:off x="9296156" y="2020824"/>
            <a:ext cx="256032" cy="256032"/>
          </a:xfrm>
          <a:prstGeom prst="rect">
            <a:avLst/>
          </a:prstGeom>
        </p:spPr>
      </p:pic>
      <p:sp>
        <p:nvSpPr>
          <p:cNvPr id="24" name="Shape 18"/>
          <p:cNvSpPr/>
          <p:nvPr/>
        </p:nvSpPr>
        <p:spPr>
          <a:xfrm>
            <a:off x="9588764" y="1984248"/>
            <a:ext cx="329184" cy="329184"/>
          </a:xfrm>
          <a:prstGeom prst="ellipse">
            <a:avLst/>
          </a:prstGeom>
          <a:solidFill>
            <a:srgbClr val="0E1E33"/>
          </a:solidFill>
          <a:ln/>
        </p:spPr>
      </p:sp>
      <p:sp>
        <p:nvSpPr>
          <p:cNvPr id="25" name="Text 19"/>
          <p:cNvSpPr txBox="1"/>
          <p:nvPr/>
        </p:nvSpPr>
        <p:spPr>
          <a:xfrm>
            <a:off x="9588764" y="1984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0"/>
          <p:cNvSpPr txBox="1"/>
          <p:nvPr/>
        </p:nvSpPr>
        <p:spPr>
          <a:xfrm>
            <a:off x="10009388" y="1847088"/>
            <a:ext cx="1505651" cy="603504"/>
          </a:xfrm>
          <a:prstGeom prst="rect">
            <a:avLst/>
          </a:prstGeom>
          <a:noFill/>
          <a:ln/>
        </p:spPr>
        <p:txBody>
          <a:bodyPr wrap="square" lIns="0" tIns="0" rIns="0" bIns="0" rtlCol="0" anchor="ctr"/>
          <a:lstStyle/>
          <a:p>
            <a:pPr indent="0" marL="0">
              <a:buNone/>
            </a:pPr>
            <a:r>
              <a:rPr lang="en-US" sz="1200" dirty="0">
                <a:solidFill>
                  <a:srgbClr val="24364F"/>
                </a:solidFill>
                <a:latin typeface="Calibri" pitchFamily="34" charset="0"/>
                <a:ea typeface="Calibri" pitchFamily="34" charset="-122"/>
                <a:cs typeface="Calibri" pitchFamily="34" charset="-120"/>
              </a:rPr>
              <a:t>Test both on A’s held-out patients</a:t>
            </a:r>
            <a:endParaRPr lang="en-US" sz="1200" dirty="0"/>
          </a:p>
        </p:txBody>
      </p:sp>
      <p:sp>
        <p:nvSpPr>
          <p:cNvPr id="27" name="Text 21"/>
          <p:cNvSpPr txBox="1"/>
          <p:nvPr/>
        </p:nvSpPr>
        <p:spPr>
          <a:xfrm>
            <a:off x="548640" y="2743200"/>
            <a:ext cx="2286000" cy="256032"/>
          </a:xfrm>
          <a:prstGeom prst="rect">
            <a:avLst/>
          </a:prstGeom>
          <a:noFill/>
          <a:ln/>
        </p:spPr>
        <p:txBody>
          <a:bodyPr wrap="square" lIns="0" tIns="0" rIns="0" bIns="0" rtlCol="0" anchor="t"/>
          <a:lstStyle/>
          <a:p>
            <a:pPr indent="0" marL="0">
              <a:buNone/>
            </a:pPr>
            <a:r>
              <a:rPr lang="en-US" sz="1050" b="1" spc="120" kern="0" dirty="0">
                <a:solidFill>
                  <a:srgbClr val="5B6B7F"/>
                </a:solidFill>
                <a:latin typeface="Calibri" pitchFamily="34" charset="0"/>
                <a:ea typeface="Calibri" pitchFamily="34" charset="-122"/>
                <a:cs typeface="Calibri" pitchFamily="34" charset="-120"/>
              </a:rPr>
              <a:t>SET</a:t>
            </a:r>
            <a:endParaRPr lang="en-US" sz="1050" dirty="0"/>
          </a:p>
        </p:txBody>
      </p:sp>
      <p:sp>
        <p:nvSpPr>
          <p:cNvPr id="28" name="Text 22"/>
          <p:cNvSpPr txBox="1"/>
          <p:nvPr/>
        </p:nvSpPr>
        <p:spPr>
          <a:xfrm>
            <a:off x="3291840" y="2743200"/>
            <a:ext cx="822960" cy="256032"/>
          </a:xfrm>
          <a:prstGeom prst="rect">
            <a:avLst/>
          </a:prstGeom>
          <a:noFill/>
          <a:ln/>
        </p:spPr>
        <p:txBody>
          <a:bodyPr wrap="square" lIns="0" tIns="0" rIns="0" bIns="0" rtlCol="0" anchor="t"/>
          <a:lstStyle/>
          <a:p>
            <a:pPr indent="0" marL="0">
              <a:buNone/>
            </a:pPr>
            <a:r>
              <a:rPr lang="en-US" sz="1050" b="1" spc="120" kern="0" dirty="0">
                <a:solidFill>
                  <a:srgbClr val="5B6B7F"/>
                </a:solidFill>
                <a:latin typeface="Calibri" pitchFamily="34" charset="0"/>
                <a:ea typeface="Calibri" pitchFamily="34" charset="-122"/>
                <a:cs typeface="Calibri" pitchFamily="34" charset="-120"/>
              </a:rPr>
              <a:t>STUDIES</a:t>
            </a:r>
            <a:endParaRPr lang="en-US" sz="1050" dirty="0"/>
          </a:p>
        </p:txBody>
      </p:sp>
      <p:sp>
        <p:nvSpPr>
          <p:cNvPr id="29" name="Shape 23"/>
          <p:cNvSpPr/>
          <p:nvPr/>
        </p:nvSpPr>
        <p:spPr>
          <a:xfrm>
            <a:off x="4133088" y="2805379"/>
            <a:ext cx="118872" cy="118872"/>
          </a:xfrm>
          <a:prstGeom prst="rect">
            <a:avLst/>
          </a:prstGeom>
          <a:solidFill>
            <a:srgbClr val="0E1E33"/>
          </a:solidFill>
          <a:ln/>
        </p:spPr>
      </p:sp>
      <p:sp>
        <p:nvSpPr>
          <p:cNvPr id="30" name="Text 24"/>
          <p:cNvSpPr txBox="1"/>
          <p:nvPr/>
        </p:nvSpPr>
        <p:spPr>
          <a:xfrm>
            <a:off x="4297680" y="2743200"/>
            <a:ext cx="2377440" cy="256032"/>
          </a:xfrm>
          <a:prstGeom prst="rect">
            <a:avLst/>
          </a:prstGeom>
          <a:noFill/>
          <a:ln/>
        </p:spPr>
        <p:txBody>
          <a:bodyPr wrap="square" lIns="0" tIns="0" rIns="0" bIns="0" rtlCol="0" anchor="t"/>
          <a:lstStyle/>
          <a:p>
            <a:pPr indent="0" marL="0">
              <a:buNone/>
            </a:pPr>
            <a:r>
              <a:rPr lang="en-US" sz="1100" dirty="0">
                <a:solidFill>
                  <a:srgbClr val="0E1E33"/>
                </a:solidFill>
                <a:latin typeface="Calibri" pitchFamily="34" charset="0"/>
                <a:ea typeface="Calibri" pitchFamily="34" charset="-122"/>
                <a:cs typeface="Calibri" pitchFamily="34" charset="-120"/>
              </a:rPr>
              <a:t>linked to physician A</a:t>
            </a:r>
            <a:endParaRPr lang="en-US" sz="1100" dirty="0"/>
          </a:p>
        </p:txBody>
      </p:sp>
      <p:sp>
        <p:nvSpPr>
          <p:cNvPr id="31" name="Text 25"/>
          <p:cNvSpPr txBox="1"/>
          <p:nvPr/>
        </p:nvSpPr>
        <p:spPr>
          <a:xfrm>
            <a:off x="7360920" y="2743200"/>
            <a:ext cx="914400" cy="256032"/>
          </a:xfrm>
          <a:prstGeom prst="rect">
            <a:avLst/>
          </a:prstGeom>
          <a:noFill/>
          <a:ln/>
        </p:spPr>
        <p:txBody>
          <a:bodyPr wrap="square" lIns="0" tIns="0" rIns="0" bIns="0" rtlCol="0" anchor="t"/>
          <a:lstStyle/>
          <a:p>
            <a:pPr algn="ctr" indent="0" marL="0">
              <a:buNone/>
            </a:pPr>
            <a:r>
              <a:rPr lang="en-US" sz="1050" b="1" spc="120" kern="0" dirty="0">
                <a:solidFill>
                  <a:srgbClr val="5B6B7F"/>
                </a:solidFill>
                <a:latin typeface="Calibri" pitchFamily="34" charset="0"/>
                <a:ea typeface="Calibri" pitchFamily="34" charset="-122"/>
                <a:cs typeface="Calibri" pitchFamily="34" charset="-120"/>
              </a:rPr>
              <a:t>PATIENTS</a:t>
            </a:r>
            <a:endParaRPr lang="en-US" sz="1050" dirty="0"/>
          </a:p>
        </p:txBody>
      </p:sp>
      <p:sp>
        <p:nvSpPr>
          <p:cNvPr id="32" name="Text 26"/>
          <p:cNvSpPr txBox="1"/>
          <p:nvPr/>
        </p:nvSpPr>
        <p:spPr>
          <a:xfrm>
            <a:off x="8321040" y="2743200"/>
            <a:ext cx="914400" cy="256032"/>
          </a:xfrm>
          <a:prstGeom prst="rect">
            <a:avLst/>
          </a:prstGeom>
          <a:noFill/>
          <a:ln/>
        </p:spPr>
        <p:txBody>
          <a:bodyPr wrap="square" lIns="0" tIns="0" rIns="0" bIns="0" rtlCol="0" anchor="t"/>
          <a:lstStyle/>
          <a:p>
            <a:pPr algn="ctr" indent="0" marL="0">
              <a:buNone/>
            </a:pPr>
            <a:r>
              <a:rPr lang="en-US" sz="1050" b="1" spc="120" kern="0" dirty="0">
                <a:solidFill>
                  <a:srgbClr val="5B6B7F"/>
                </a:solidFill>
                <a:latin typeface="Calibri" pitchFamily="34" charset="0"/>
                <a:ea typeface="Calibri" pitchFamily="34" charset="-122"/>
                <a:cs typeface="Calibri" pitchFamily="34" charset="-120"/>
              </a:rPr>
              <a:t>POSITIVE</a:t>
            </a:r>
            <a:endParaRPr lang="en-US" sz="1050" dirty="0"/>
          </a:p>
        </p:txBody>
      </p:sp>
      <p:sp>
        <p:nvSpPr>
          <p:cNvPr id="33" name="Text 27"/>
          <p:cNvSpPr txBox="1"/>
          <p:nvPr/>
        </p:nvSpPr>
        <p:spPr>
          <a:xfrm>
            <a:off x="9235440" y="2743200"/>
            <a:ext cx="1051560" cy="256032"/>
          </a:xfrm>
          <a:prstGeom prst="rect">
            <a:avLst/>
          </a:prstGeom>
          <a:noFill/>
          <a:ln/>
        </p:spPr>
        <p:txBody>
          <a:bodyPr wrap="square" lIns="0" tIns="0" rIns="0" bIns="0" rtlCol="0" anchor="t"/>
          <a:lstStyle/>
          <a:p>
            <a:pPr algn="ctr" indent="0" marL="0">
              <a:buNone/>
            </a:pPr>
            <a:r>
              <a:rPr lang="en-US" sz="1050" b="1" spc="120" kern="0" dirty="0">
                <a:solidFill>
                  <a:srgbClr val="5B6B7F"/>
                </a:solidFill>
                <a:latin typeface="Calibri" pitchFamily="34" charset="0"/>
                <a:ea typeface="Calibri" pitchFamily="34" charset="-122"/>
                <a:cs typeface="Calibri" pitchFamily="34" charset="-120"/>
              </a:rPr>
              <a:t>PA / AP</a:t>
            </a:r>
            <a:endParaRPr lang="en-US" sz="1050" dirty="0"/>
          </a:p>
        </p:txBody>
      </p:sp>
      <p:sp>
        <p:nvSpPr>
          <p:cNvPr id="34" name="Shape 28"/>
          <p:cNvSpPr/>
          <p:nvPr/>
        </p:nvSpPr>
        <p:spPr>
          <a:xfrm>
            <a:off x="548640" y="3072384"/>
            <a:ext cx="9738360" cy="0"/>
          </a:xfrm>
          <a:prstGeom prst="line">
            <a:avLst/>
          </a:prstGeom>
          <a:noFill/>
          <a:ln w="9525">
            <a:solidFill>
              <a:srgbClr val="D9E0E8"/>
            </a:solidFill>
            <a:prstDash val="solid"/>
          </a:ln>
        </p:spPr>
      </p:sp>
      <p:sp>
        <p:nvSpPr>
          <p:cNvPr id="35" name="Shape 29"/>
          <p:cNvSpPr/>
          <p:nvPr/>
        </p:nvSpPr>
        <p:spPr>
          <a:xfrm>
            <a:off x="548640" y="3264408"/>
            <a:ext cx="146304" cy="146304"/>
          </a:xfrm>
          <a:prstGeom prst="ellipse">
            <a:avLst/>
          </a:prstGeom>
          <a:solidFill>
            <a:srgbClr val="2266AA"/>
          </a:solidFill>
          <a:ln/>
        </p:spPr>
      </p:sp>
      <p:sp>
        <p:nvSpPr>
          <p:cNvPr id="36" name="Text 30"/>
          <p:cNvSpPr txBox="1"/>
          <p:nvPr/>
        </p:nvSpPr>
        <p:spPr>
          <a:xfrm>
            <a:off x="786384" y="3163824"/>
            <a:ext cx="2560320" cy="310896"/>
          </a:xfrm>
          <a:prstGeom prst="rect">
            <a:avLst/>
          </a:prstGeom>
          <a:noFill/>
          <a:ln/>
        </p:spPr>
        <p:txBody>
          <a:bodyPr wrap="square" lIns="0" tIns="0" rIns="0" bIns="0" rtlCol="0" anchor="ctr"/>
          <a:lstStyle/>
          <a:p>
            <a:pPr indent="0" marL="0">
              <a:buNone/>
            </a:pPr>
            <a:r>
              <a:rPr lang="en-US" sz="1500" b="1" dirty="0">
                <a:solidFill>
                  <a:srgbClr val="2266AA"/>
                </a:solidFill>
                <a:latin typeface="Calibri" pitchFamily="34" charset="0"/>
                <a:ea typeface="Calibri" pitchFamily="34" charset="-122"/>
                <a:cs typeface="Calibri" pitchFamily="34" charset="-120"/>
              </a:rPr>
              <a:t>Seen training</a:t>
            </a:r>
            <a:endParaRPr lang="en-US" sz="1500" dirty="0"/>
          </a:p>
        </p:txBody>
      </p:sp>
      <p:sp>
        <p:nvSpPr>
          <p:cNvPr id="37" name="Text 31"/>
          <p:cNvSpPr txBox="1"/>
          <p:nvPr/>
        </p:nvSpPr>
        <p:spPr>
          <a:xfrm>
            <a:off x="786384" y="3465576"/>
            <a:ext cx="2651760" cy="237744"/>
          </a:xfrm>
          <a:prstGeom prst="rect">
            <a:avLst/>
          </a:prstGeom>
          <a:noFill/>
          <a:ln/>
        </p:spPr>
        <p:txBody>
          <a:bodyPr wrap="square" lIns="0" tIns="0" rIns="0" bIns="0" rtlCol="0" anchor="ctr"/>
          <a:lstStyle/>
          <a:p>
            <a:pPr indent="0" marL="0">
              <a:buNone/>
            </a:pPr>
            <a:r>
              <a:rPr lang="en-US" sz="1100" dirty="0">
                <a:solidFill>
                  <a:srgbClr val="5B6B7F"/>
                </a:solidFill>
                <a:latin typeface="Calibri" pitchFamily="34" charset="0"/>
                <a:ea typeface="Calibri" pitchFamily="34" charset="-122"/>
                <a:cs typeface="Calibri" pitchFamily="34" charset="-120"/>
              </a:rPr>
              <a:t>includes physician A</a:t>
            </a:r>
            <a:endParaRPr lang="en-US" sz="1100" dirty="0"/>
          </a:p>
        </p:txBody>
      </p:sp>
      <p:sp>
        <p:nvSpPr>
          <p:cNvPr id="38" name="Shape 32"/>
          <p:cNvSpPr/>
          <p:nvPr/>
        </p:nvSpPr>
        <p:spPr>
          <a:xfrm>
            <a:off x="3291840" y="3282696"/>
            <a:ext cx="591503" cy="310896"/>
          </a:xfrm>
          <a:prstGeom prst="rect">
            <a:avLst/>
          </a:prstGeom>
          <a:solidFill>
            <a:srgbClr val="0E1E33"/>
          </a:solidFill>
          <a:ln/>
        </p:spPr>
      </p:sp>
      <p:sp>
        <p:nvSpPr>
          <p:cNvPr id="39" name="Shape 33"/>
          <p:cNvSpPr/>
          <p:nvPr/>
        </p:nvSpPr>
        <p:spPr>
          <a:xfrm>
            <a:off x="3883343" y="3282696"/>
            <a:ext cx="2700338" cy="310896"/>
          </a:xfrm>
          <a:prstGeom prst="rect">
            <a:avLst/>
          </a:prstGeom>
          <a:solidFill>
            <a:srgbClr val="2266AA"/>
          </a:solidFill>
          <a:ln/>
        </p:spPr>
      </p:sp>
      <p:sp>
        <p:nvSpPr>
          <p:cNvPr id="40" name="Text 34"/>
          <p:cNvSpPr txBox="1"/>
          <p:nvPr/>
        </p:nvSpPr>
        <p:spPr>
          <a:xfrm>
            <a:off x="3291840" y="3282696"/>
            <a:ext cx="591503"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46</a:t>
            </a:r>
            <a:endParaRPr lang="en-US" sz="1100" dirty="0"/>
          </a:p>
        </p:txBody>
      </p:sp>
      <p:sp>
        <p:nvSpPr>
          <p:cNvPr id="41" name="Text 35"/>
          <p:cNvSpPr txBox="1"/>
          <p:nvPr/>
        </p:nvSpPr>
        <p:spPr>
          <a:xfrm>
            <a:off x="6675120" y="3264408"/>
            <a:ext cx="640080" cy="347472"/>
          </a:xfrm>
          <a:prstGeom prst="rect">
            <a:avLst/>
          </a:prstGeom>
          <a:noFill/>
          <a:ln/>
        </p:spPr>
        <p:txBody>
          <a:bodyPr wrap="square" lIns="0" tIns="0" rIns="0" bIns="0" rtlCol="0" anchor="ctr"/>
          <a:lstStyle/>
          <a:p>
            <a:pPr indent="0" marL="0">
              <a:buNone/>
            </a:pPr>
            <a:r>
              <a:rPr lang="en-US" sz="1350" b="1" dirty="0">
                <a:solidFill>
                  <a:srgbClr val="0E1E33"/>
                </a:solidFill>
                <a:latin typeface="Calibri" pitchFamily="34" charset="0"/>
                <a:ea typeface="Calibri" pitchFamily="34" charset="-122"/>
                <a:cs typeface="Calibri" pitchFamily="34" charset="-120"/>
              </a:rPr>
              <a:t>256</a:t>
            </a:r>
            <a:endParaRPr lang="en-US" sz="1350" dirty="0"/>
          </a:p>
        </p:txBody>
      </p:sp>
      <p:sp>
        <p:nvSpPr>
          <p:cNvPr id="42" name="Text 36"/>
          <p:cNvSpPr txBox="1"/>
          <p:nvPr/>
        </p:nvSpPr>
        <p:spPr>
          <a:xfrm>
            <a:off x="7360920" y="3182112"/>
            <a:ext cx="914400" cy="512064"/>
          </a:xfrm>
          <a:prstGeom prst="rect">
            <a:avLst/>
          </a:prstGeom>
          <a:noFill/>
          <a:ln/>
        </p:spPr>
        <p:txBody>
          <a:bodyPr wrap="square" lIns="0" tIns="0" rIns="0" bIns="0" rtlCol="0" anchor="ctr"/>
          <a:lstStyle/>
          <a:p>
            <a:pPr algn="ctr" indent="0" marL="0">
              <a:buNone/>
            </a:pPr>
            <a:r>
              <a:rPr lang="en-US" sz="1500" dirty="0">
                <a:solidFill>
                  <a:srgbClr val="0E1E33"/>
                </a:solidFill>
                <a:latin typeface="Calibri" pitchFamily="34" charset="0"/>
                <a:ea typeface="Calibri" pitchFamily="34" charset="-122"/>
                <a:cs typeface="Calibri" pitchFamily="34" charset="-120"/>
              </a:rPr>
              <a:t>167</a:t>
            </a:r>
            <a:endParaRPr lang="en-US" sz="1500" dirty="0"/>
          </a:p>
        </p:txBody>
      </p:sp>
      <p:sp>
        <p:nvSpPr>
          <p:cNvPr id="43" name="Text 37"/>
          <p:cNvSpPr txBox="1"/>
          <p:nvPr/>
        </p:nvSpPr>
        <p:spPr>
          <a:xfrm>
            <a:off x="8321040" y="3182112"/>
            <a:ext cx="914400" cy="512064"/>
          </a:xfrm>
          <a:prstGeom prst="rect">
            <a:avLst/>
          </a:prstGeom>
          <a:noFill/>
          <a:ln/>
        </p:spPr>
        <p:txBody>
          <a:bodyPr wrap="square" lIns="0" tIns="0" rIns="0" bIns="0" rtlCol="0" anchor="ctr"/>
          <a:lstStyle/>
          <a:p>
            <a:pPr algn="ctr" indent="0" marL="0">
              <a:buNone/>
            </a:pPr>
            <a:r>
              <a:rPr lang="en-US" sz="1500" dirty="0">
                <a:solidFill>
                  <a:srgbClr val="0E1E33"/>
                </a:solidFill>
                <a:latin typeface="Calibri" pitchFamily="34" charset="0"/>
                <a:ea typeface="Calibri" pitchFamily="34" charset="-122"/>
                <a:cs typeface="Calibri" pitchFamily="34" charset="-120"/>
              </a:rPr>
              <a:t>59</a:t>
            </a:r>
            <a:endParaRPr lang="en-US" sz="1500" dirty="0"/>
          </a:p>
        </p:txBody>
      </p:sp>
      <p:sp>
        <p:nvSpPr>
          <p:cNvPr id="44" name="Text 38"/>
          <p:cNvSpPr txBox="1"/>
          <p:nvPr/>
        </p:nvSpPr>
        <p:spPr>
          <a:xfrm>
            <a:off x="9235440" y="3182112"/>
            <a:ext cx="1051560" cy="512064"/>
          </a:xfrm>
          <a:prstGeom prst="rect">
            <a:avLst/>
          </a:prstGeom>
          <a:noFill/>
          <a:ln/>
        </p:spPr>
        <p:txBody>
          <a:bodyPr wrap="square" lIns="0" tIns="0" rIns="0" bIns="0" rtlCol="0" anchor="ctr"/>
          <a:lstStyle/>
          <a:p>
            <a:pPr algn="ctr" indent="0" marL="0">
              <a:buNone/>
            </a:pPr>
            <a:r>
              <a:rPr lang="en-US" sz="1500" dirty="0">
                <a:solidFill>
                  <a:srgbClr val="0E1E33"/>
                </a:solidFill>
                <a:latin typeface="Calibri" pitchFamily="34" charset="0"/>
                <a:ea typeface="Calibri" pitchFamily="34" charset="-122"/>
                <a:cs typeface="Calibri" pitchFamily="34" charset="-120"/>
              </a:rPr>
              <a:t>110 / 146</a:t>
            </a:r>
            <a:endParaRPr lang="en-US" sz="1500" dirty="0"/>
          </a:p>
        </p:txBody>
      </p:sp>
      <p:sp>
        <p:nvSpPr>
          <p:cNvPr id="45" name="Shape 39"/>
          <p:cNvSpPr/>
          <p:nvPr/>
        </p:nvSpPr>
        <p:spPr>
          <a:xfrm>
            <a:off x="548640" y="3803904"/>
            <a:ext cx="9738360" cy="0"/>
          </a:xfrm>
          <a:prstGeom prst="line">
            <a:avLst/>
          </a:prstGeom>
          <a:noFill/>
          <a:ln w="9525">
            <a:solidFill>
              <a:srgbClr val="D9E0E8"/>
            </a:solidFill>
            <a:prstDash val="solid"/>
          </a:ln>
        </p:spPr>
      </p:sp>
      <p:sp>
        <p:nvSpPr>
          <p:cNvPr id="46" name="Shape 40"/>
          <p:cNvSpPr/>
          <p:nvPr/>
        </p:nvSpPr>
        <p:spPr>
          <a:xfrm>
            <a:off x="548640" y="3995928"/>
            <a:ext cx="146304" cy="146304"/>
          </a:xfrm>
          <a:prstGeom prst="ellipse">
            <a:avLst/>
          </a:prstGeom>
          <a:solidFill>
            <a:srgbClr val="B87716"/>
          </a:solidFill>
          <a:ln/>
        </p:spPr>
      </p:sp>
      <p:sp>
        <p:nvSpPr>
          <p:cNvPr id="47" name="Text 41"/>
          <p:cNvSpPr txBox="1"/>
          <p:nvPr/>
        </p:nvSpPr>
        <p:spPr>
          <a:xfrm>
            <a:off x="786384" y="3895344"/>
            <a:ext cx="2560320" cy="310896"/>
          </a:xfrm>
          <a:prstGeom prst="rect">
            <a:avLst/>
          </a:prstGeom>
          <a:noFill/>
          <a:ln/>
        </p:spPr>
        <p:txBody>
          <a:bodyPr wrap="square" lIns="0" tIns="0" rIns="0" bIns="0" rtlCol="0" anchor="ctr"/>
          <a:lstStyle/>
          <a:p>
            <a:pPr indent="0" marL="0">
              <a:buNone/>
            </a:pPr>
            <a:r>
              <a:rPr lang="en-US" sz="1500" b="1" dirty="0">
                <a:solidFill>
                  <a:srgbClr val="B87716"/>
                </a:solidFill>
                <a:latin typeface="Calibri" pitchFamily="34" charset="0"/>
                <a:ea typeface="Calibri" pitchFamily="34" charset="-122"/>
                <a:cs typeface="Calibri" pitchFamily="34" charset="-120"/>
              </a:rPr>
              <a:t>Unseen training</a:t>
            </a:r>
            <a:endParaRPr lang="en-US" sz="1500" dirty="0"/>
          </a:p>
        </p:txBody>
      </p:sp>
      <p:sp>
        <p:nvSpPr>
          <p:cNvPr id="48" name="Text 42"/>
          <p:cNvSpPr txBox="1"/>
          <p:nvPr/>
        </p:nvSpPr>
        <p:spPr>
          <a:xfrm>
            <a:off x="786384" y="4197096"/>
            <a:ext cx="2651760" cy="237744"/>
          </a:xfrm>
          <a:prstGeom prst="rect">
            <a:avLst/>
          </a:prstGeom>
          <a:noFill/>
          <a:ln/>
        </p:spPr>
        <p:txBody>
          <a:bodyPr wrap="square" lIns="0" tIns="0" rIns="0" bIns="0" rtlCol="0" anchor="ctr"/>
          <a:lstStyle/>
          <a:p>
            <a:pPr indent="0" marL="0">
              <a:buNone/>
            </a:pPr>
            <a:r>
              <a:rPr lang="en-US" sz="1100" dirty="0">
                <a:solidFill>
                  <a:srgbClr val="5B6B7F"/>
                </a:solidFill>
                <a:latin typeface="Calibri" pitchFamily="34" charset="0"/>
                <a:ea typeface="Calibri" pitchFamily="34" charset="-122"/>
                <a:cs typeface="Calibri" pitchFamily="34" charset="-120"/>
              </a:rPr>
              <a:t>excludes physician A (0 studies)</a:t>
            </a:r>
            <a:endParaRPr lang="en-US" sz="1100" dirty="0"/>
          </a:p>
        </p:txBody>
      </p:sp>
      <p:sp>
        <p:nvSpPr>
          <p:cNvPr id="49" name="Shape 43"/>
          <p:cNvSpPr/>
          <p:nvPr/>
        </p:nvSpPr>
        <p:spPr>
          <a:xfrm>
            <a:off x="3291840" y="4014216"/>
            <a:ext cx="3291840" cy="310896"/>
          </a:xfrm>
          <a:prstGeom prst="rect">
            <a:avLst/>
          </a:prstGeom>
          <a:solidFill>
            <a:srgbClr val="B87716"/>
          </a:solidFill>
          <a:ln/>
        </p:spPr>
      </p:sp>
      <p:sp>
        <p:nvSpPr>
          <p:cNvPr id="50" name="Text 44"/>
          <p:cNvSpPr txBox="1"/>
          <p:nvPr/>
        </p:nvSpPr>
        <p:spPr>
          <a:xfrm>
            <a:off x="6675120" y="3995928"/>
            <a:ext cx="640080" cy="347472"/>
          </a:xfrm>
          <a:prstGeom prst="rect">
            <a:avLst/>
          </a:prstGeom>
          <a:noFill/>
          <a:ln/>
        </p:spPr>
        <p:txBody>
          <a:bodyPr wrap="square" lIns="0" tIns="0" rIns="0" bIns="0" rtlCol="0" anchor="ctr"/>
          <a:lstStyle/>
          <a:p>
            <a:pPr indent="0" marL="0">
              <a:buNone/>
            </a:pPr>
            <a:r>
              <a:rPr lang="en-US" sz="1350" b="1" dirty="0">
                <a:solidFill>
                  <a:srgbClr val="0E1E33"/>
                </a:solidFill>
                <a:latin typeface="Calibri" pitchFamily="34" charset="0"/>
                <a:ea typeface="Calibri" pitchFamily="34" charset="-122"/>
                <a:cs typeface="Calibri" pitchFamily="34" charset="-120"/>
              </a:rPr>
              <a:t>256</a:t>
            </a:r>
            <a:endParaRPr lang="en-US" sz="1350" dirty="0"/>
          </a:p>
        </p:txBody>
      </p:sp>
      <p:sp>
        <p:nvSpPr>
          <p:cNvPr id="51" name="Text 45"/>
          <p:cNvSpPr txBox="1"/>
          <p:nvPr/>
        </p:nvSpPr>
        <p:spPr>
          <a:xfrm>
            <a:off x="7360920" y="3913632"/>
            <a:ext cx="914400" cy="512064"/>
          </a:xfrm>
          <a:prstGeom prst="rect">
            <a:avLst/>
          </a:prstGeom>
          <a:noFill/>
          <a:ln/>
        </p:spPr>
        <p:txBody>
          <a:bodyPr wrap="square" lIns="0" tIns="0" rIns="0" bIns="0" rtlCol="0" anchor="ctr"/>
          <a:lstStyle/>
          <a:p>
            <a:pPr algn="ctr" indent="0" marL="0">
              <a:buNone/>
            </a:pPr>
            <a:r>
              <a:rPr lang="en-US" sz="1500" dirty="0">
                <a:solidFill>
                  <a:srgbClr val="0E1E33"/>
                </a:solidFill>
                <a:latin typeface="Calibri" pitchFamily="34" charset="0"/>
                <a:ea typeface="Calibri" pitchFamily="34" charset="-122"/>
                <a:cs typeface="Calibri" pitchFamily="34" charset="-120"/>
              </a:rPr>
              <a:t>171</a:t>
            </a:r>
            <a:endParaRPr lang="en-US" sz="1500" dirty="0"/>
          </a:p>
        </p:txBody>
      </p:sp>
      <p:sp>
        <p:nvSpPr>
          <p:cNvPr id="52" name="Text 46"/>
          <p:cNvSpPr txBox="1"/>
          <p:nvPr/>
        </p:nvSpPr>
        <p:spPr>
          <a:xfrm>
            <a:off x="8321040" y="3913632"/>
            <a:ext cx="914400" cy="512064"/>
          </a:xfrm>
          <a:prstGeom prst="rect">
            <a:avLst/>
          </a:prstGeom>
          <a:noFill/>
          <a:ln/>
        </p:spPr>
        <p:txBody>
          <a:bodyPr wrap="square" lIns="0" tIns="0" rIns="0" bIns="0" rtlCol="0" anchor="ctr"/>
          <a:lstStyle/>
          <a:p>
            <a:pPr algn="ctr" indent="0" marL="0">
              <a:buNone/>
            </a:pPr>
            <a:r>
              <a:rPr lang="en-US" sz="1500" dirty="0">
                <a:solidFill>
                  <a:srgbClr val="0E1E33"/>
                </a:solidFill>
                <a:latin typeface="Calibri" pitchFamily="34" charset="0"/>
                <a:ea typeface="Calibri" pitchFamily="34" charset="-122"/>
                <a:cs typeface="Calibri" pitchFamily="34" charset="-120"/>
              </a:rPr>
              <a:t>59</a:t>
            </a:r>
            <a:endParaRPr lang="en-US" sz="1500" dirty="0"/>
          </a:p>
        </p:txBody>
      </p:sp>
      <p:sp>
        <p:nvSpPr>
          <p:cNvPr id="53" name="Text 47"/>
          <p:cNvSpPr txBox="1"/>
          <p:nvPr/>
        </p:nvSpPr>
        <p:spPr>
          <a:xfrm>
            <a:off x="9235440" y="3913632"/>
            <a:ext cx="1051560" cy="512064"/>
          </a:xfrm>
          <a:prstGeom prst="rect">
            <a:avLst/>
          </a:prstGeom>
          <a:noFill/>
          <a:ln/>
        </p:spPr>
        <p:txBody>
          <a:bodyPr wrap="square" lIns="0" tIns="0" rIns="0" bIns="0" rtlCol="0" anchor="ctr"/>
          <a:lstStyle/>
          <a:p>
            <a:pPr algn="ctr" indent="0" marL="0">
              <a:buNone/>
            </a:pPr>
            <a:r>
              <a:rPr lang="en-US" sz="1500" dirty="0">
                <a:solidFill>
                  <a:srgbClr val="0E1E33"/>
                </a:solidFill>
                <a:latin typeface="Calibri" pitchFamily="34" charset="0"/>
                <a:ea typeface="Calibri" pitchFamily="34" charset="-122"/>
                <a:cs typeface="Calibri" pitchFamily="34" charset="-120"/>
              </a:rPr>
              <a:t>110 / 146</a:t>
            </a:r>
            <a:endParaRPr lang="en-US" sz="1500" dirty="0"/>
          </a:p>
        </p:txBody>
      </p:sp>
      <p:sp>
        <p:nvSpPr>
          <p:cNvPr id="54" name="Shape 48"/>
          <p:cNvSpPr/>
          <p:nvPr/>
        </p:nvSpPr>
        <p:spPr>
          <a:xfrm>
            <a:off x="548640" y="4535424"/>
            <a:ext cx="9738360" cy="0"/>
          </a:xfrm>
          <a:prstGeom prst="line">
            <a:avLst/>
          </a:prstGeom>
          <a:noFill/>
          <a:ln w="9525">
            <a:solidFill>
              <a:srgbClr val="D9E0E8"/>
            </a:solidFill>
            <a:prstDash val="solid"/>
          </a:ln>
        </p:spPr>
      </p:sp>
      <p:sp>
        <p:nvSpPr>
          <p:cNvPr id="55" name="Shape 49"/>
          <p:cNvSpPr/>
          <p:nvPr/>
        </p:nvSpPr>
        <p:spPr>
          <a:xfrm>
            <a:off x="548640" y="4727448"/>
            <a:ext cx="146304" cy="146304"/>
          </a:xfrm>
          <a:prstGeom prst="ellipse">
            <a:avLst/>
          </a:prstGeom>
          <a:solidFill>
            <a:srgbClr val="8FA3B8"/>
          </a:solidFill>
          <a:ln/>
        </p:spPr>
      </p:sp>
      <p:sp>
        <p:nvSpPr>
          <p:cNvPr id="56" name="Text 50"/>
          <p:cNvSpPr txBox="1"/>
          <p:nvPr/>
        </p:nvSpPr>
        <p:spPr>
          <a:xfrm>
            <a:off x="786384" y="4626864"/>
            <a:ext cx="2560320" cy="310896"/>
          </a:xfrm>
          <a:prstGeom prst="rect">
            <a:avLst/>
          </a:prstGeom>
          <a:noFill/>
          <a:ln/>
        </p:spPr>
        <p:txBody>
          <a:bodyPr wrap="square" lIns="0" tIns="0" rIns="0" bIns="0" rtlCol="0" anchor="ctr"/>
          <a:lstStyle/>
          <a:p>
            <a:pPr indent="0" marL="0">
              <a:buNone/>
            </a:pPr>
            <a:r>
              <a:rPr lang="en-US" sz="1500" b="1" dirty="0">
                <a:solidFill>
                  <a:srgbClr val="0E1E33"/>
                </a:solidFill>
                <a:latin typeface="Calibri" pitchFamily="34" charset="0"/>
                <a:ea typeface="Calibri" pitchFamily="34" charset="-122"/>
                <a:cs typeface="Calibri" pitchFamily="34" charset="-120"/>
              </a:rPr>
              <a:t>Shared validation</a:t>
            </a:r>
            <a:endParaRPr lang="en-US" sz="1500" dirty="0"/>
          </a:p>
        </p:txBody>
      </p:sp>
      <p:sp>
        <p:nvSpPr>
          <p:cNvPr id="57" name="Text 51"/>
          <p:cNvSpPr txBox="1"/>
          <p:nvPr/>
        </p:nvSpPr>
        <p:spPr>
          <a:xfrm>
            <a:off x="786384" y="4928616"/>
            <a:ext cx="2651760" cy="237744"/>
          </a:xfrm>
          <a:prstGeom prst="rect">
            <a:avLst/>
          </a:prstGeom>
          <a:noFill/>
          <a:ln/>
        </p:spPr>
        <p:txBody>
          <a:bodyPr wrap="square" lIns="0" tIns="0" rIns="0" bIns="0" rtlCol="0" anchor="ctr"/>
          <a:lstStyle/>
          <a:p>
            <a:pPr indent="0" marL="0">
              <a:buNone/>
            </a:pPr>
            <a:r>
              <a:rPr lang="en-US" sz="1100" dirty="0">
                <a:solidFill>
                  <a:srgbClr val="5B6B7F"/>
                </a:solidFill>
                <a:latin typeface="Calibri" pitchFamily="34" charset="0"/>
                <a:ea typeface="Calibri" pitchFamily="34" charset="-122"/>
                <a:cs typeface="Calibri" pitchFamily="34" charset="-120"/>
              </a:rPr>
              <a:t>no A cases · selects epochs</a:t>
            </a:r>
            <a:endParaRPr lang="en-US" sz="1100" dirty="0"/>
          </a:p>
        </p:txBody>
      </p:sp>
      <p:sp>
        <p:nvSpPr>
          <p:cNvPr id="58" name="Shape 52"/>
          <p:cNvSpPr/>
          <p:nvPr/>
        </p:nvSpPr>
        <p:spPr>
          <a:xfrm>
            <a:off x="3291840" y="4745736"/>
            <a:ext cx="1645920" cy="310896"/>
          </a:xfrm>
          <a:prstGeom prst="rect">
            <a:avLst/>
          </a:prstGeom>
          <a:solidFill>
            <a:srgbClr val="8FA3B8"/>
          </a:solidFill>
          <a:ln/>
        </p:spPr>
      </p:sp>
      <p:sp>
        <p:nvSpPr>
          <p:cNvPr id="59" name="Text 53"/>
          <p:cNvSpPr txBox="1"/>
          <p:nvPr/>
        </p:nvSpPr>
        <p:spPr>
          <a:xfrm>
            <a:off x="5029200" y="4727448"/>
            <a:ext cx="640080" cy="347472"/>
          </a:xfrm>
          <a:prstGeom prst="rect">
            <a:avLst/>
          </a:prstGeom>
          <a:noFill/>
          <a:ln/>
        </p:spPr>
        <p:txBody>
          <a:bodyPr wrap="square" lIns="0" tIns="0" rIns="0" bIns="0" rtlCol="0" anchor="ctr"/>
          <a:lstStyle/>
          <a:p>
            <a:pPr indent="0" marL="0">
              <a:buNone/>
            </a:pPr>
            <a:r>
              <a:rPr lang="en-US" sz="1350" b="1" dirty="0">
                <a:solidFill>
                  <a:srgbClr val="0E1E33"/>
                </a:solidFill>
                <a:latin typeface="Calibri" pitchFamily="34" charset="0"/>
                <a:ea typeface="Calibri" pitchFamily="34" charset="-122"/>
                <a:cs typeface="Calibri" pitchFamily="34" charset="-120"/>
              </a:rPr>
              <a:t>128</a:t>
            </a:r>
            <a:endParaRPr lang="en-US" sz="1350" dirty="0"/>
          </a:p>
        </p:txBody>
      </p:sp>
      <p:sp>
        <p:nvSpPr>
          <p:cNvPr id="60" name="Text 54"/>
          <p:cNvSpPr txBox="1"/>
          <p:nvPr/>
        </p:nvSpPr>
        <p:spPr>
          <a:xfrm>
            <a:off x="7360920" y="4645152"/>
            <a:ext cx="914400" cy="512064"/>
          </a:xfrm>
          <a:prstGeom prst="rect">
            <a:avLst/>
          </a:prstGeom>
          <a:noFill/>
          <a:ln/>
        </p:spPr>
        <p:txBody>
          <a:bodyPr wrap="square" lIns="0" tIns="0" rIns="0" bIns="0" rtlCol="0" anchor="ctr"/>
          <a:lstStyle/>
          <a:p>
            <a:pPr algn="ctr" indent="0" marL="0">
              <a:buNone/>
            </a:pPr>
            <a:r>
              <a:rPr lang="en-US" sz="1500" dirty="0">
                <a:solidFill>
                  <a:srgbClr val="0E1E33"/>
                </a:solidFill>
                <a:latin typeface="Calibri" pitchFamily="34" charset="0"/>
                <a:ea typeface="Calibri" pitchFamily="34" charset="-122"/>
                <a:cs typeface="Calibri" pitchFamily="34" charset="-120"/>
              </a:rPr>
              <a:t>85</a:t>
            </a:r>
            <a:endParaRPr lang="en-US" sz="1500" dirty="0"/>
          </a:p>
        </p:txBody>
      </p:sp>
      <p:sp>
        <p:nvSpPr>
          <p:cNvPr id="61" name="Text 55"/>
          <p:cNvSpPr txBox="1"/>
          <p:nvPr/>
        </p:nvSpPr>
        <p:spPr>
          <a:xfrm>
            <a:off x="8321040" y="4645152"/>
            <a:ext cx="914400" cy="512064"/>
          </a:xfrm>
          <a:prstGeom prst="rect">
            <a:avLst/>
          </a:prstGeom>
          <a:noFill/>
          <a:ln/>
        </p:spPr>
        <p:txBody>
          <a:bodyPr wrap="square" lIns="0" tIns="0" rIns="0" bIns="0" rtlCol="0" anchor="ctr"/>
          <a:lstStyle/>
          <a:p>
            <a:pPr algn="ctr" indent="0" marL="0">
              <a:buNone/>
            </a:pPr>
            <a:r>
              <a:rPr lang="en-US" sz="1500" dirty="0">
                <a:solidFill>
                  <a:srgbClr val="0E1E33"/>
                </a:solidFill>
                <a:latin typeface="Calibri" pitchFamily="34" charset="0"/>
                <a:ea typeface="Calibri" pitchFamily="34" charset="-122"/>
                <a:cs typeface="Calibri" pitchFamily="34" charset="-120"/>
              </a:rPr>
              <a:t>26</a:t>
            </a:r>
            <a:endParaRPr lang="en-US" sz="1500" dirty="0"/>
          </a:p>
        </p:txBody>
      </p:sp>
      <p:sp>
        <p:nvSpPr>
          <p:cNvPr id="62" name="Text 56"/>
          <p:cNvSpPr txBox="1"/>
          <p:nvPr/>
        </p:nvSpPr>
        <p:spPr>
          <a:xfrm>
            <a:off x="9235440" y="4645152"/>
            <a:ext cx="1051560" cy="512064"/>
          </a:xfrm>
          <a:prstGeom prst="rect">
            <a:avLst/>
          </a:prstGeom>
          <a:noFill/>
          <a:ln/>
        </p:spPr>
        <p:txBody>
          <a:bodyPr wrap="square" lIns="0" tIns="0" rIns="0" bIns="0" rtlCol="0" anchor="ctr"/>
          <a:lstStyle/>
          <a:p>
            <a:pPr algn="ctr" indent="0" marL="0">
              <a:buNone/>
            </a:pPr>
            <a:r>
              <a:rPr lang="en-US" sz="1500" dirty="0">
                <a:solidFill>
                  <a:srgbClr val="0E1E33"/>
                </a:solidFill>
                <a:latin typeface="Calibri" pitchFamily="34" charset="0"/>
                <a:ea typeface="Calibri" pitchFamily="34" charset="-122"/>
                <a:cs typeface="Calibri" pitchFamily="34" charset="-120"/>
              </a:rPr>
              <a:t>51 / 77</a:t>
            </a:r>
            <a:endParaRPr lang="en-US" sz="1500" dirty="0"/>
          </a:p>
        </p:txBody>
      </p:sp>
      <p:sp>
        <p:nvSpPr>
          <p:cNvPr id="63" name="Shape 57"/>
          <p:cNvSpPr/>
          <p:nvPr/>
        </p:nvSpPr>
        <p:spPr>
          <a:xfrm>
            <a:off x="548640" y="5266944"/>
            <a:ext cx="9738360" cy="0"/>
          </a:xfrm>
          <a:prstGeom prst="line">
            <a:avLst/>
          </a:prstGeom>
          <a:noFill/>
          <a:ln w="9525">
            <a:solidFill>
              <a:srgbClr val="D9E0E8"/>
            </a:solidFill>
            <a:prstDash val="solid"/>
          </a:ln>
        </p:spPr>
      </p:sp>
      <p:sp>
        <p:nvSpPr>
          <p:cNvPr id="64" name="Shape 58"/>
          <p:cNvSpPr/>
          <p:nvPr/>
        </p:nvSpPr>
        <p:spPr>
          <a:xfrm>
            <a:off x="548640" y="5458968"/>
            <a:ext cx="146304" cy="146304"/>
          </a:xfrm>
          <a:prstGeom prst="ellipse">
            <a:avLst/>
          </a:prstGeom>
          <a:solidFill>
            <a:srgbClr val="0E1E33"/>
          </a:solidFill>
          <a:ln/>
        </p:spPr>
      </p:sp>
      <p:sp>
        <p:nvSpPr>
          <p:cNvPr id="65" name="Text 59"/>
          <p:cNvSpPr txBox="1"/>
          <p:nvPr/>
        </p:nvSpPr>
        <p:spPr>
          <a:xfrm>
            <a:off x="786384" y="5358384"/>
            <a:ext cx="2560320" cy="310896"/>
          </a:xfrm>
          <a:prstGeom prst="rect">
            <a:avLst/>
          </a:prstGeom>
          <a:noFill/>
          <a:ln/>
        </p:spPr>
        <p:txBody>
          <a:bodyPr wrap="square" lIns="0" tIns="0" rIns="0" bIns="0" rtlCol="0" anchor="ctr"/>
          <a:lstStyle/>
          <a:p>
            <a:pPr indent="0" marL="0">
              <a:buNone/>
            </a:pPr>
            <a:r>
              <a:rPr lang="en-US" sz="1500" b="1" dirty="0">
                <a:solidFill>
                  <a:srgbClr val="0E1E33"/>
                </a:solidFill>
                <a:latin typeface="Calibri" pitchFamily="34" charset="0"/>
                <a:ea typeface="Calibri" pitchFamily="34" charset="-122"/>
                <a:cs typeface="Calibri" pitchFamily="34" charset="-120"/>
              </a:rPr>
              <a:t>Common test cohort</a:t>
            </a:r>
            <a:endParaRPr lang="en-US" sz="1500" dirty="0"/>
          </a:p>
        </p:txBody>
      </p:sp>
      <p:sp>
        <p:nvSpPr>
          <p:cNvPr id="66" name="Text 60"/>
          <p:cNvSpPr txBox="1"/>
          <p:nvPr/>
        </p:nvSpPr>
        <p:spPr>
          <a:xfrm>
            <a:off x="786384" y="5660136"/>
            <a:ext cx="2651760" cy="237744"/>
          </a:xfrm>
          <a:prstGeom prst="rect">
            <a:avLst/>
          </a:prstGeom>
          <a:noFill/>
          <a:ln/>
        </p:spPr>
        <p:txBody>
          <a:bodyPr wrap="square" lIns="0" tIns="0" rIns="0" bIns="0" rtlCol="0" anchor="ctr"/>
          <a:lstStyle/>
          <a:p>
            <a:pPr indent="0" marL="0">
              <a:buNone/>
            </a:pPr>
            <a:r>
              <a:rPr lang="en-US" sz="1100" dirty="0">
                <a:solidFill>
                  <a:srgbClr val="5B6B7F"/>
                </a:solidFill>
                <a:latin typeface="Calibri" pitchFamily="34" charset="0"/>
                <a:ea typeface="Calibri" pitchFamily="34" charset="-122"/>
                <a:cs typeface="Calibri" pitchFamily="34" charset="-120"/>
              </a:rPr>
              <a:t>all from A’s held-out patients</a:t>
            </a:r>
            <a:endParaRPr lang="en-US" sz="1100" dirty="0"/>
          </a:p>
        </p:txBody>
      </p:sp>
      <p:sp>
        <p:nvSpPr>
          <p:cNvPr id="67" name="Shape 61"/>
          <p:cNvSpPr/>
          <p:nvPr/>
        </p:nvSpPr>
        <p:spPr>
          <a:xfrm>
            <a:off x="3291840" y="5477256"/>
            <a:ext cx="1401604" cy="310896"/>
          </a:xfrm>
          <a:prstGeom prst="rect">
            <a:avLst/>
          </a:prstGeom>
          <a:solidFill>
            <a:srgbClr val="0E1E33"/>
          </a:solidFill>
          <a:ln/>
        </p:spPr>
      </p:sp>
      <p:sp>
        <p:nvSpPr>
          <p:cNvPr id="68" name="Text 62"/>
          <p:cNvSpPr txBox="1"/>
          <p:nvPr/>
        </p:nvSpPr>
        <p:spPr>
          <a:xfrm>
            <a:off x="4784884" y="5458968"/>
            <a:ext cx="640080" cy="347472"/>
          </a:xfrm>
          <a:prstGeom prst="rect">
            <a:avLst/>
          </a:prstGeom>
          <a:noFill/>
          <a:ln/>
        </p:spPr>
        <p:txBody>
          <a:bodyPr wrap="square" lIns="0" tIns="0" rIns="0" bIns="0" rtlCol="0" anchor="ctr"/>
          <a:lstStyle/>
          <a:p>
            <a:pPr indent="0" marL="0">
              <a:buNone/>
            </a:pPr>
            <a:r>
              <a:rPr lang="en-US" sz="1350" b="1" dirty="0">
                <a:solidFill>
                  <a:srgbClr val="0E1E33"/>
                </a:solidFill>
                <a:latin typeface="Calibri" pitchFamily="34" charset="0"/>
                <a:ea typeface="Calibri" pitchFamily="34" charset="-122"/>
                <a:cs typeface="Calibri" pitchFamily="34" charset="-120"/>
              </a:rPr>
              <a:t>109</a:t>
            </a:r>
            <a:endParaRPr lang="en-US" sz="1350" dirty="0"/>
          </a:p>
        </p:txBody>
      </p:sp>
      <p:sp>
        <p:nvSpPr>
          <p:cNvPr id="69" name="Text 63"/>
          <p:cNvSpPr txBox="1"/>
          <p:nvPr/>
        </p:nvSpPr>
        <p:spPr>
          <a:xfrm>
            <a:off x="7360920" y="5376672"/>
            <a:ext cx="914400" cy="512064"/>
          </a:xfrm>
          <a:prstGeom prst="rect">
            <a:avLst/>
          </a:prstGeom>
          <a:noFill/>
          <a:ln/>
        </p:spPr>
        <p:txBody>
          <a:bodyPr wrap="square" lIns="0" tIns="0" rIns="0" bIns="0" rtlCol="0" anchor="ctr"/>
          <a:lstStyle/>
          <a:p>
            <a:pPr algn="ctr" indent="0" marL="0">
              <a:buNone/>
            </a:pPr>
            <a:r>
              <a:rPr lang="en-US" sz="1500" dirty="0">
                <a:solidFill>
                  <a:srgbClr val="0E1E33"/>
                </a:solidFill>
                <a:latin typeface="Calibri" pitchFamily="34" charset="0"/>
                <a:ea typeface="Calibri" pitchFamily="34" charset="-122"/>
                <a:cs typeface="Calibri" pitchFamily="34" charset="-120"/>
              </a:rPr>
              <a:t>55</a:t>
            </a:r>
            <a:endParaRPr lang="en-US" sz="1500" dirty="0"/>
          </a:p>
        </p:txBody>
      </p:sp>
      <p:sp>
        <p:nvSpPr>
          <p:cNvPr id="70" name="Text 64"/>
          <p:cNvSpPr txBox="1"/>
          <p:nvPr/>
        </p:nvSpPr>
        <p:spPr>
          <a:xfrm>
            <a:off x="8321040" y="5376672"/>
            <a:ext cx="914400" cy="512064"/>
          </a:xfrm>
          <a:prstGeom prst="rect">
            <a:avLst/>
          </a:prstGeom>
          <a:noFill/>
          <a:ln/>
        </p:spPr>
        <p:txBody>
          <a:bodyPr wrap="square" lIns="0" tIns="0" rIns="0" bIns="0" rtlCol="0" anchor="ctr"/>
          <a:lstStyle/>
          <a:p>
            <a:pPr algn="ctr" indent="0" marL="0">
              <a:buNone/>
            </a:pPr>
            <a:r>
              <a:rPr lang="en-US" sz="1500" dirty="0">
                <a:solidFill>
                  <a:srgbClr val="0E1E33"/>
                </a:solidFill>
                <a:latin typeface="Calibri" pitchFamily="34" charset="0"/>
                <a:ea typeface="Calibri" pitchFamily="34" charset="-122"/>
                <a:cs typeface="Calibri" pitchFamily="34" charset="-120"/>
              </a:rPr>
              <a:t>39</a:t>
            </a:r>
            <a:endParaRPr lang="en-US" sz="1500" dirty="0"/>
          </a:p>
        </p:txBody>
      </p:sp>
      <p:sp>
        <p:nvSpPr>
          <p:cNvPr id="71" name="Text 65"/>
          <p:cNvSpPr txBox="1"/>
          <p:nvPr/>
        </p:nvSpPr>
        <p:spPr>
          <a:xfrm>
            <a:off x="9235440" y="5376672"/>
            <a:ext cx="1051560" cy="512064"/>
          </a:xfrm>
          <a:prstGeom prst="rect">
            <a:avLst/>
          </a:prstGeom>
          <a:noFill/>
          <a:ln/>
        </p:spPr>
        <p:txBody>
          <a:bodyPr wrap="square" lIns="0" tIns="0" rIns="0" bIns="0" rtlCol="0" anchor="ctr"/>
          <a:lstStyle/>
          <a:p>
            <a:pPr algn="ctr" indent="0" marL="0">
              <a:buNone/>
            </a:pPr>
            <a:r>
              <a:rPr lang="en-US" sz="1500" dirty="0">
                <a:solidFill>
                  <a:srgbClr val="0E1E33"/>
                </a:solidFill>
                <a:latin typeface="Calibri" pitchFamily="34" charset="0"/>
                <a:ea typeface="Calibri" pitchFamily="34" charset="-122"/>
                <a:cs typeface="Calibri" pitchFamily="34" charset="-120"/>
              </a:rPr>
              <a:t>41 / 68</a:t>
            </a:r>
            <a:endParaRPr lang="en-US" sz="1500" dirty="0"/>
          </a:p>
        </p:txBody>
      </p:sp>
      <p:sp>
        <p:nvSpPr>
          <p:cNvPr id="72" name="Shape 66"/>
          <p:cNvSpPr/>
          <p:nvPr/>
        </p:nvSpPr>
        <p:spPr>
          <a:xfrm>
            <a:off x="548640" y="5998464"/>
            <a:ext cx="9738360" cy="0"/>
          </a:xfrm>
          <a:prstGeom prst="line">
            <a:avLst/>
          </a:prstGeom>
          <a:noFill/>
          <a:ln w="9525">
            <a:solidFill>
              <a:srgbClr val="D9E0E8"/>
            </a:solidFill>
            <a:prstDash val="solid"/>
          </a:ln>
        </p:spPr>
      </p:sp>
      <p:sp>
        <p:nvSpPr>
          <p:cNvPr id="73" name="Shape 67"/>
          <p:cNvSpPr/>
          <p:nvPr/>
        </p:nvSpPr>
        <p:spPr>
          <a:xfrm>
            <a:off x="10442448" y="3255264"/>
            <a:ext cx="0" cy="1097280"/>
          </a:xfrm>
          <a:prstGeom prst="line">
            <a:avLst/>
          </a:prstGeom>
          <a:noFill/>
          <a:ln w="15875">
            <a:solidFill>
              <a:srgbClr val="5B6B7F"/>
            </a:solidFill>
            <a:prstDash val="solid"/>
          </a:ln>
        </p:spPr>
      </p:sp>
      <p:sp>
        <p:nvSpPr>
          <p:cNvPr id="74" name="Shape 68"/>
          <p:cNvSpPr/>
          <p:nvPr/>
        </p:nvSpPr>
        <p:spPr>
          <a:xfrm>
            <a:off x="10351008" y="3255264"/>
            <a:ext cx="91440" cy="0"/>
          </a:xfrm>
          <a:prstGeom prst="line">
            <a:avLst/>
          </a:prstGeom>
          <a:noFill/>
          <a:ln w="15875">
            <a:solidFill>
              <a:srgbClr val="5B6B7F"/>
            </a:solidFill>
            <a:prstDash val="solid"/>
          </a:ln>
        </p:spPr>
      </p:sp>
      <p:sp>
        <p:nvSpPr>
          <p:cNvPr id="75" name="Shape 69"/>
          <p:cNvSpPr/>
          <p:nvPr/>
        </p:nvSpPr>
        <p:spPr>
          <a:xfrm>
            <a:off x="10351008" y="4352544"/>
            <a:ext cx="91440" cy="0"/>
          </a:xfrm>
          <a:prstGeom prst="line">
            <a:avLst/>
          </a:prstGeom>
          <a:noFill/>
          <a:ln w="15875">
            <a:solidFill>
              <a:srgbClr val="5B6B7F"/>
            </a:solidFill>
            <a:prstDash val="solid"/>
          </a:ln>
        </p:spPr>
      </p:sp>
      <p:sp>
        <p:nvSpPr>
          <p:cNvPr id="76" name="Text 70"/>
          <p:cNvSpPr txBox="1"/>
          <p:nvPr/>
        </p:nvSpPr>
        <p:spPr>
          <a:xfrm>
            <a:off x="10570464" y="3255264"/>
            <a:ext cx="1097280" cy="1097280"/>
          </a:xfrm>
          <a:prstGeom prst="rect">
            <a:avLst/>
          </a:prstGeom>
          <a:noFill/>
          <a:ln/>
        </p:spPr>
        <p:txBody>
          <a:bodyPr wrap="square" lIns="0" tIns="0" rIns="0" bIns="0" rtlCol="0" anchor="ctr"/>
          <a:lstStyle/>
          <a:p>
            <a:pPr indent="0" marL="0">
              <a:buNone/>
            </a:pPr>
            <a:r>
              <a:rPr lang="en-US" sz="1150" b="1" dirty="0">
                <a:solidFill>
                  <a:srgbClr val="0E1E33"/>
                </a:solidFill>
                <a:latin typeface="Calibri" pitchFamily="34" charset="0"/>
                <a:ea typeface="Calibri" pitchFamily="34" charset="-122"/>
                <a:cs typeface="Calibri" pitchFamily="34" charset="-120"/>
              </a:rPr>
              <a:t>Matched</a:t>
            </a:r>
            <a:endParaRPr lang="en-US" sz="1150" dirty="0"/>
          </a:p>
          <a:p>
            <a:pPr indent="0" marL="0">
              <a:buNone/>
            </a:pPr>
            <a:r>
              <a:rPr lang="en-US" sz="1150" dirty="0">
                <a:solidFill>
                  <a:srgbClr val="5B6B7F"/>
                </a:solidFill>
                <a:latin typeface="Calibri" pitchFamily="34" charset="0"/>
                <a:ea typeface="Calibri" pitchFamily="34" charset="-122"/>
                <a:cs typeface="Calibri" pitchFamily="34" charset="-120"/>
              </a:rPr>
              <a:t>size, positives and PA/AP views</a:t>
            </a:r>
            <a:endParaRPr lang="en-US" sz="1150" dirty="0"/>
          </a:p>
        </p:txBody>
      </p:sp>
      <p:sp>
        <p:nvSpPr>
          <p:cNvPr id="77" name="Text 71"/>
          <p:cNvSpPr txBox="1"/>
          <p:nvPr/>
        </p:nvSpPr>
        <p:spPr>
          <a:xfrm>
            <a:off x="548640" y="6144768"/>
            <a:ext cx="10241280" cy="384048"/>
          </a:xfrm>
          <a:prstGeom prst="rect">
            <a:avLst/>
          </a:prstGeom>
          <a:noFill/>
          <a:ln/>
        </p:spPr>
        <p:txBody>
          <a:bodyPr wrap="square" lIns="0" tIns="0" rIns="0" bIns="0" rtlCol="0" anchor="b"/>
          <a:lstStyle/>
          <a:p>
            <a:pPr indent="0" marL="0">
              <a:buNone/>
            </a:pPr>
            <a:r>
              <a:rPr lang="en-US" sz="950" dirty="0">
                <a:solidFill>
                  <a:srgbClr val="8793A3"/>
                </a:solidFill>
                <a:latin typeface="Calibri" pitchFamily="34" charset="0"/>
                <a:ea typeface="Calibri" pitchFamily="34" charset="-122"/>
                <a:cs typeface="Calibri" pitchFamily="34" charset="-120"/>
              </a:rPr>
              <a:t>A = attending ID with the most eligible patients, fixed before training. The 256 / 128 budget was set before any training or test evaluation; full-size sets (1,409 per group) are kept for the final. Training sets may share non-A studies; no patient crosses train / validation / test.</a:t>
            </a:r>
            <a:endParaRPr lang="en-US" sz="950" dirty="0"/>
          </a:p>
        </p:txBody>
      </p:sp>
      <p:sp>
        <p:nvSpPr>
          <p:cNvPr id="78" name="Text 72"/>
          <p:cNvSpPr txBox="1"/>
          <p:nvPr/>
        </p:nvSpPr>
        <p:spPr>
          <a:xfrm>
            <a:off x="11094415" y="6254496"/>
            <a:ext cx="548640" cy="274320"/>
          </a:xfrm>
          <a:prstGeom prst="rect">
            <a:avLst/>
          </a:prstGeom>
          <a:noFill/>
          <a:ln/>
        </p:spPr>
        <p:txBody>
          <a:bodyPr wrap="square" lIns="0" tIns="0" rIns="0" bIns="0" rtlCol="0" anchor="b"/>
          <a:lstStyle/>
          <a:p>
            <a:pPr algn="r" indent="0" marL="0">
              <a:buNone/>
            </a:pPr>
            <a:r>
              <a:rPr lang="en-US" sz="1000" b="1" dirty="0">
                <a:solidFill>
                  <a:srgbClr val="5B6B7F"/>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84048"/>
            <a:ext cx="384048" cy="237744"/>
          </a:xfrm>
          <a:prstGeom prst="roundRect">
            <a:avLst>
              <a:gd name="adj" fmla="val 19231"/>
            </a:avLst>
          </a:prstGeom>
          <a:solidFill>
            <a:srgbClr val="0E1E33"/>
          </a:solidFill>
          <a:ln/>
        </p:spPr>
      </p:sp>
      <p:sp>
        <p:nvSpPr>
          <p:cNvPr id="3" name="Text 1"/>
          <p:cNvSpPr txBox="1"/>
          <p:nvPr/>
        </p:nvSpPr>
        <p:spPr>
          <a:xfrm>
            <a:off x="548640" y="384048"/>
            <a:ext cx="38404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4" name="Text 2"/>
          <p:cNvSpPr txBox="1"/>
          <p:nvPr/>
        </p:nvSpPr>
        <p:spPr>
          <a:xfrm>
            <a:off x="1060704" y="384048"/>
            <a:ext cx="6400800" cy="237744"/>
          </a:xfrm>
          <a:prstGeom prst="rect">
            <a:avLst/>
          </a:prstGeom>
          <a:noFill/>
          <a:ln/>
        </p:spPr>
        <p:txBody>
          <a:bodyPr wrap="square" lIns="0" tIns="0" rIns="0" bIns="0" rtlCol="0" anchor="ctr"/>
          <a:lstStyle/>
          <a:p>
            <a:pPr indent="0" marL="0">
              <a:buNone/>
            </a:pPr>
            <a:r>
              <a:rPr lang="en-US" sz="1050" b="1" spc="150" kern="0" dirty="0">
                <a:solidFill>
                  <a:srgbClr val="5B6B7F"/>
                </a:solidFill>
                <a:latin typeface="Calibri" pitchFamily="34" charset="0"/>
                <a:ea typeface="Calibri" pitchFamily="34" charset="-122"/>
                <a:cs typeface="Calibri" pitchFamily="34" charset="-120"/>
              </a:rPr>
              <a:t>METHOD</a:t>
            </a:r>
            <a:endParaRPr lang="en-US" sz="1050" dirty="0"/>
          </a:p>
        </p:txBody>
      </p:sp>
      <p:sp>
        <p:nvSpPr>
          <p:cNvPr id="5" name="Text 3"/>
          <p:cNvSpPr txBox="1"/>
          <p:nvPr/>
        </p:nvSpPr>
        <p:spPr>
          <a:xfrm>
            <a:off x="548640" y="731520"/>
            <a:ext cx="11094415" cy="548640"/>
          </a:xfrm>
          <a:prstGeom prst="rect">
            <a:avLst/>
          </a:prstGeom>
          <a:noFill/>
          <a:ln/>
        </p:spPr>
        <p:txBody>
          <a:bodyPr wrap="square" lIns="0" tIns="0" rIns="0" bIns="0" rtlCol="0" anchor="ctr"/>
          <a:lstStyle/>
          <a:p>
            <a:pPr indent="0" marL="0">
              <a:buNone/>
            </a:pPr>
            <a:r>
              <a:rPr lang="en-US" sz="2800" b="1" dirty="0">
                <a:solidFill>
                  <a:srgbClr val="0E1E33"/>
                </a:solidFill>
                <a:latin typeface="Calibri" pitchFamily="34" charset="0"/>
                <a:ea typeface="Calibri" pitchFamily="34" charset="-122"/>
                <a:cs typeface="Calibri" pitchFamily="34" charset="-120"/>
              </a:rPr>
              <a:t>An image-only ResNet-18, selected on validation only</a:t>
            </a:r>
            <a:endParaRPr lang="en-US" sz="2800" dirty="0"/>
          </a:p>
        </p:txBody>
      </p:sp>
      <p:sp>
        <p:nvSpPr>
          <p:cNvPr id="6" name="Text 4"/>
          <p:cNvSpPr txBox="1"/>
          <p:nvPr/>
        </p:nvSpPr>
        <p:spPr>
          <a:xfrm>
            <a:off x="548640" y="1280160"/>
            <a:ext cx="11094415" cy="329184"/>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Both models share the backbone and the training recipe; only their training sets differ.</a:t>
            </a:r>
            <a:endParaRPr lang="en-US" sz="1500" dirty="0"/>
          </a:p>
        </p:txBody>
      </p:sp>
      <p:sp>
        <p:nvSpPr>
          <p:cNvPr id="7" name="Shape 5"/>
          <p:cNvSpPr/>
          <p:nvPr/>
        </p:nvSpPr>
        <p:spPr>
          <a:xfrm>
            <a:off x="548640" y="2075688"/>
            <a:ext cx="1463040" cy="1463040"/>
          </a:xfrm>
          <a:prstGeom prst="roundRect">
            <a:avLst>
              <a:gd name="adj" fmla="val 6250"/>
            </a:avLst>
          </a:prstGeom>
          <a:solidFill>
            <a:srgbClr val="0E1E33"/>
          </a:solidFill>
          <a:ln/>
        </p:spPr>
      </p:sp>
      <p:pic>
        <p:nvPicPr>
          <p:cNvPr id="8" name="Image 0" descr="Schematic chest image standing in for the frontal radiograph input">    </p:cNvPr>
          <p:cNvPicPr>
            <a:picLocks noChangeAspect="1"/>
          </p:cNvPicPr>
          <p:nvPr/>
        </p:nvPicPr>
        <p:blipFill>
          <a:blip r:embed="rId1"/>
          <a:stretch>
            <a:fillRect/>
          </a:stretch>
        </p:blipFill>
        <p:spPr>
          <a:xfrm>
            <a:off x="665758" y="2157984"/>
            <a:ext cx="1228804" cy="1298448"/>
          </a:xfrm>
          <a:prstGeom prst="rect">
            <a:avLst/>
          </a:prstGeom>
        </p:spPr>
      </p:pic>
      <p:sp>
        <p:nvSpPr>
          <p:cNvPr id="9" name="Text 6"/>
          <p:cNvSpPr txBox="1"/>
          <p:nvPr/>
        </p:nvSpPr>
        <p:spPr>
          <a:xfrm>
            <a:off x="457200" y="3630168"/>
            <a:ext cx="1645920" cy="457200"/>
          </a:xfrm>
          <a:prstGeom prst="rect">
            <a:avLst/>
          </a:prstGeom>
          <a:noFill/>
          <a:ln/>
        </p:spPr>
        <p:txBody>
          <a:bodyPr wrap="square" lIns="0" tIns="0" rIns="0" bIns="0" rtlCol="0" anchor="t"/>
          <a:lstStyle/>
          <a:p>
            <a:pPr algn="ctr" indent="0" marL="0">
              <a:buNone/>
            </a:pPr>
            <a:r>
              <a:rPr lang="en-US" sz="1200" b="1" dirty="0">
                <a:solidFill>
                  <a:srgbClr val="0E1E33"/>
                </a:solidFill>
                <a:latin typeface="Calibri" pitchFamily="34" charset="0"/>
                <a:ea typeface="Calibri" pitchFamily="34" charset="-122"/>
                <a:cs typeface="Calibri" pitchFamily="34" charset="-120"/>
              </a:rPr>
              <a:t>Frontal image</a:t>
            </a:r>
            <a:endParaRPr lang="en-US" sz="1200" dirty="0"/>
          </a:p>
          <a:p>
            <a:pPr algn="ctr" indent="0" marL="0">
              <a:buNone/>
            </a:pPr>
            <a:r>
              <a:rPr lang="en-US" sz="1200" dirty="0">
                <a:solidFill>
                  <a:srgbClr val="5B6B7F"/>
                </a:solidFill>
                <a:latin typeface="Calibri" pitchFamily="34" charset="0"/>
                <a:ea typeface="Calibri" pitchFamily="34" charset="-122"/>
                <a:cs typeface="Calibri" pitchFamily="34" charset="-120"/>
              </a:rPr>
              <a:t>224 × 224</a:t>
            </a:r>
            <a:endParaRPr lang="en-US" sz="1200" dirty="0"/>
          </a:p>
        </p:txBody>
      </p:sp>
      <p:sp>
        <p:nvSpPr>
          <p:cNvPr id="10" name="Shape 7"/>
          <p:cNvSpPr/>
          <p:nvPr/>
        </p:nvSpPr>
        <p:spPr>
          <a:xfrm>
            <a:off x="2121408" y="2807208"/>
            <a:ext cx="420624" cy="0"/>
          </a:xfrm>
          <a:prstGeom prst="line">
            <a:avLst/>
          </a:prstGeom>
          <a:noFill/>
          <a:ln w="19050">
            <a:solidFill>
              <a:srgbClr val="8FA3B8"/>
            </a:solidFill>
            <a:prstDash val="solid"/>
            <a:tailEnd type="triangle"/>
          </a:ln>
        </p:spPr>
      </p:sp>
      <p:sp>
        <p:nvSpPr>
          <p:cNvPr id="11" name="Shape 8"/>
          <p:cNvSpPr/>
          <p:nvPr/>
        </p:nvSpPr>
        <p:spPr>
          <a:xfrm>
            <a:off x="2651760" y="2075688"/>
            <a:ext cx="457200" cy="1463040"/>
          </a:xfrm>
          <a:prstGeom prst="roundRect">
            <a:avLst>
              <a:gd name="adj" fmla="val 12000"/>
            </a:avLst>
          </a:prstGeom>
          <a:solidFill>
            <a:srgbClr val="C9D6E4"/>
          </a:solidFill>
          <a:ln/>
        </p:spPr>
      </p:sp>
      <p:sp>
        <p:nvSpPr>
          <p:cNvPr id="12" name="Text 9"/>
          <p:cNvSpPr txBox="1"/>
          <p:nvPr/>
        </p:nvSpPr>
        <p:spPr>
          <a:xfrm>
            <a:off x="2423160" y="3630168"/>
            <a:ext cx="914400" cy="457200"/>
          </a:xfrm>
          <a:prstGeom prst="rect">
            <a:avLst/>
          </a:prstGeom>
          <a:noFill/>
          <a:ln/>
        </p:spPr>
        <p:txBody>
          <a:bodyPr wrap="square" lIns="0" tIns="0" rIns="0" bIns="0" rtlCol="0" anchor="t"/>
          <a:lstStyle/>
          <a:p>
            <a:pPr algn="ctr" indent="0" marL="0">
              <a:buNone/>
            </a:pPr>
            <a:r>
              <a:rPr lang="en-US" sz="1200" b="1" dirty="0">
                <a:solidFill>
                  <a:srgbClr val="0E1E33"/>
                </a:solidFill>
                <a:latin typeface="Calibri" pitchFamily="34" charset="0"/>
                <a:ea typeface="Calibri" pitchFamily="34" charset="-122"/>
                <a:cs typeface="Calibri" pitchFamily="34" charset="-120"/>
              </a:rPr>
              <a:t>64 ch</a:t>
            </a:r>
            <a:endParaRPr lang="en-US" sz="1200" dirty="0"/>
          </a:p>
          <a:p>
            <a:pPr algn="ctr" indent="0" marL="0">
              <a:buNone/>
            </a:pPr>
            <a:r>
              <a:rPr lang="en-US" sz="1200" dirty="0">
                <a:solidFill>
                  <a:srgbClr val="5B6B7F"/>
                </a:solidFill>
                <a:latin typeface="Calibri" pitchFamily="34" charset="0"/>
                <a:ea typeface="Calibri" pitchFamily="34" charset="-122"/>
                <a:cs typeface="Calibri" pitchFamily="34" charset="-120"/>
              </a:rPr>
              <a:t>56²</a:t>
            </a:r>
            <a:endParaRPr lang="en-US" sz="1200" dirty="0"/>
          </a:p>
        </p:txBody>
      </p:sp>
      <p:sp>
        <p:nvSpPr>
          <p:cNvPr id="13" name="Shape 10"/>
          <p:cNvSpPr/>
          <p:nvPr/>
        </p:nvSpPr>
        <p:spPr>
          <a:xfrm>
            <a:off x="3163824" y="2807208"/>
            <a:ext cx="310896" cy="0"/>
          </a:xfrm>
          <a:prstGeom prst="line">
            <a:avLst/>
          </a:prstGeom>
          <a:noFill/>
          <a:ln w="19050">
            <a:solidFill>
              <a:srgbClr val="8FA3B8"/>
            </a:solidFill>
            <a:prstDash val="solid"/>
            <a:tailEnd type="triangle"/>
          </a:ln>
        </p:spPr>
      </p:sp>
      <p:sp>
        <p:nvSpPr>
          <p:cNvPr id="14" name="Shape 11"/>
          <p:cNvSpPr/>
          <p:nvPr/>
        </p:nvSpPr>
        <p:spPr>
          <a:xfrm>
            <a:off x="3529584" y="2212848"/>
            <a:ext cx="566928" cy="1188720"/>
          </a:xfrm>
          <a:prstGeom prst="roundRect">
            <a:avLst>
              <a:gd name="adj" fmla="val 9677"/>
            </a:avLst>
          </a:prstGeom>
          <a:solidFill>
            <a:srgbClr val="98AEC6"/>
          </a:solidFill>
          <a:ln/>
        </p:spPr>
      </p:sp>
      <p:sp>
        <p:nvSpPr>
          <p:cNvPr id="15" name="Text 12"/>
          <p:cNvSpPr txBox="1"/>
          <p:nvPr/>
        </p:nvSpPr>
        <p:spPr>
          <a:xfrm>
            <a:off x="3300984" y="3630168"/>
            <a:ext cx="1024128" cy="457200"/>
          </a:xfrm>
          <a:prstGeom prst="rect">
            <a:avLst/>
          </a:prstGeom>
          <a:noFill/>
          <a:ln/>
        </p:spPr>
        <p:txBody>
          <a:bodyPr wrap="square" lIns="0" tIns="0" rIns="0" bIns="0" rtlCol="0" anchor="t"/>
          <a:lstStyle/>
          <a:p>
            <a:pPr algn="ctr" indent="0" marL="0">
              <a:buNone/>
            </a:pPr>
            <a:r>
              <a:rPr lang="en-US" sz="1200" b="1" dirty="0">
                <a:solidFill>
                  <a:srgbClr val="0E1E33"/>
                </a:solidFill>
                <a:latin typeface="Calibri" pitchFamily="34" charset="0"/>
                <a:ea typeface="Calibri" pitchFamily="34" charset="-122"/>
                <a:cs typeface="Calibri" pitchFamily="34" charset="-120"/>
              </a:rPr>
              <a:t>128 ch</a:t>
            </a:r>
            <a:endParaRPr lang="en-US" sz="1200" dirty="0"/>
          </a:p>
          <a:p>
            <a:pPr algn="ctr" indent="0" marL="0">
              <a:buNone/>
            </a:pPr>
            <a:r>
              <a:rPr lang="en-US" sz="1200" dirty="0">
                <a:solidFill>
                  <a:srgbClr val="5B6B7F"/>
                </a:solidFill>
                <a:latin typeface="Calibri" pitchFamily="34" charset="0"/>
                <a:ea typeface="Calibri" pitchFamily="34" charset="-122"/>
                <a:cs typeface="Calibri" pitchFamily="34" charset="-120"/>
              </a:rPr>
              <a:t>28²</a:t>
            </a:r>
            <a:endParaRPr lang="en-US" sz="1200" dirty="0"/>
          </a:p>
        </p:txBody>
      </p:sp>
      <p:sp>
        <p:nvSpPr>
          <p:cNvPr id="16" name="Shape 13"/>
          <p:cNvSpPr/>
          <p:nvPr/>
        </p:nvSpPr>
        <p:spPr>
          <a:xfrm>
            <a:off x="4151376" y="2807208"/>
            <a:ext cx="310896" cy="0"/>
          </a:xfrm>
          <a:prstGeom prst="line">
            <a:avLst/>
          </a:prstGeom>
          <a:noFill/>
          <a:ln w="19050">
            <a:solidFill>
              <a:srgbClr val="8FA3B8"/>
            </a:solidFill>
            <a:prstDash val="solid"/>
            <a:tailEnd type="triangle"/>
          </a:ln>
        </p:spPr>
      </p:sp>
      <p:sp>
        <p:nvSpPr>
          <p:cNvPr id="17" name="Shape 14"/>
          <p:cNvSpPr/>
          <p:nvPr/>
        </p:nvSpPr>
        <p:spPr>
          <a:xfrm>
            <a:off x="4517136" y="2350008"/>
            <a:ext cx="676656" cy="914400"/>
          </a:xfrm>
          <a:prstGeom prst="roundRect">
            <a:avLst>
              <a:gd name="adj" fmla="val 8108"/>
            </a:avLst>
          </a:prstGeom>
          <a:solidFill>
            <a:srgbClr val="5F7FA2"/>
          </a:solidFill>
          <a:ln/>
        </p:spPr>
      </p:sp>
      <p:sp>
        <p:nvSpPr>
          <p:cNvPr id="18" name="Text 15"/>
          <p:cNvSpPr txBox="1"/>
          <p:nvPr/>
        </p:nvSpPr>
        <p:spPr>
          <a:xfrm>
            <a:off x="4288536" y="3630168"/>
            <a:ext cx="1133856" cy="457200"/>
          </a:xfrm>
          <a:prstGeom prst="rect">
            <a:avLst/>
          </a:prstGeom>
          <a:noFill/>
          <a:ln/>
        </p:spPr>
        <p:txBody>
          <a:bodyPr wrap="square" lIns="0" tIns="0" rIns="0" bIns="0" rtlCol="0" anchor="t"/>
          <a:lstStyle/>
          <a:p>
            <a:pPr algn="ctr" indent="0" marL="0">
              <a:buNone/>
            </a:pPr>
            <a:r>
              <a:rPr lang="en-US" sz="1200" b="1" dirty="0">
                <a:solidFill>
                  <a:srgbClr val="0E1E33"/>
                </a:solidFill>
                <a:latin typeface="Calibri" pitchFamily="34" charset="0"/>
                <a:ea typeface="Calibri" pitchFamily="34" charset="-122"/>
                <a:cs typeface="Calibri" pitchFamily="34" charset="-120"/>
              </a:rPr>
              <a:t>256 ch</a:t>
            </a:r>
            <a:endParaRPr lang="en-US" sz="1200" dirty="0"/>
          </a:p>
          <a:p>
            <a:pPr algn="ctr" indent="0" marL="0">
              <a:buNone/>
            </a:pPr>
            <a:r>
              <a:rPr lang="en-US" sz="1200" dirty="0">
                <a:solidFill>
                  <a:srgbClr val="5B6B7F"/>
                </a:solidFill>
                <a:latin typeface="Calibri" pitchFamily="34" charset="0"/>
                <a:ea typeface="Calibri" pitchFamily="34" charset="-122"/>
                <a:cs typeface="Calibri" pitchFamily="34" charset="-120"/>
              </a:rPr>
              <a:t>14²</a:t>
            </a:r>
            <a:endParaRPr lang="en-US" sz="1200" dirty="0"/>
          </a:p>
        </p:txBody>
      </p:sp>
      <p:sp>
        <p:nvSpPr>
          <p:cNvPr id="19" name="Shape 16"/>
          <p:cNvSpPr/>
          <p:nvPr/>
        </p:nvSpPr>
        <p:spPr>
          <a:xfrm>
            <a:off x="5248656" y="2807208"/>
            <a:ext cx="310896" cy="0"/>
          </a:xfrm>
          <a:prstGeom prst="line">
            <a:avLst/>
          </a:prstGeom>
          <a:noFill/>
          <a:ln w="19050">
            <a:solidFill>
              <a:srgbClr val="8FA3B8"/>
            </a:solidFill>
            <a:prstDash val="solid"/>
            <a:tailEnd type="triangle"/>
          </a:ln>
        </p:spPr>
      </p:sp>
      <p:sp>
        <p:nvSpPr>
          <p:cNvPr id="20" name="Shape 17"/>
          <p:cNvSpPr/>
          <p:nvPr/>
        </p:nvSpPr>
        <p:spPr>
          <a:xfrm>
            <a:off x="5614416" y="2487168"/>
            <a:ext cx="786384" cy="640080"/>
          </a:xfrm>
          <a:prstGeom prst="roundRect">
            <a:avLst>
              <a:gd name="adj" fmla="val 8571"/>
            </a:avLst>
          </a:prstGeom>
          <a:solidFill>
            <a:srgbClr val="2C4A6E"/>
          </a:solidFill>
          <a:ln/>
        </p:spPr>
      </p:sp>
      <p:sp>
        <p:nvSpPr>
          <p:cNvPr id="21" name="Text 18"/>
          <p:cNvSpPr txBox="1"/>
          <p:nvPr/>
        </p:nvSpPr>
        <p:spPr>
          <a:xfrm>
            <a:off x="5385816" y="3630168"/>
            <a:ext cx="1243584" cy="457200"/>
          </a:xfrm>
          <a:prstGeom prst="rect">
            <a:avLst/>
          </a:prstGeom>
          <a:noFill/>
          <a:ln/>
        </p:spPr>
        <p:txBody>
          <a:bodyPr wrap="square" lIns="0" tIns="0" rIns="0" bIns="0" rtlCol="0" anchor="t"/>
          <a:lstStyle/>
          <a:p>
            <a:pPr algn="ctr" indent="0" marL="0">
              <a:buNone/>
            </a:pPr>
            <a:r>
              <a:rPr lang="en-US" sz="1200" b="1" dirty="0">
                <a:solidFill>
                  <a:srgbClr val="0E1E33"/>
                </a:solidFill>
                <a:latin typeface="Calibri" pitchFamily="34" charset="0"/>
                <a:ea typeface="Calibri" pitchFamily="34" charset="-122"/>
                <a:cs typeface="Calibri" pitchFamily="34" charset="-120"/>
              </a:rPr>
              <a:t>512 ch</a:t>
            </a:r>
            <a:endParaRPr lang="en-US" sz="1200" dirty="0"/>
          </a:p>
          <a:p>
            <a:pPr algn="ctr" indent="0" marL="0">
              <a:buNone/>
            </a:pPr>
            <a:r>
              <a:rPr lang="en-US" sz="1200" dirty="0">
                <a:solidFill>
                  <a:srgbClr val="5B6B7F"/>
                </a:solidFill>
                <a:latin typeface="Calibri" pitchFamily="34" charset="0"/>
                <a:ea typeface="Calibri" pitchFamily="34" charset="-122"/>
                <a:cs typeface="Calibri" pitchFamily="34" charset="-120"/>
              </a:rPr>
              <a:t>7²</a:t>
            </a:r>
            <a:endParaRPr lang="en-US" sz="1200" dirty="0"/>
          </a:p>
        </p:txBody>
      </p:sp>
      <p:sp>
        <p:nvSpPr>
          <p:cNvPr id="22" name="Text 19"/>
          <p:cNvSpPr txBox="1"/>
          <p:nvPr/>
        </p:nvSpPr>
        <p:spPr>
          <a:xfrm>
            <a:off x="2651760" y="1783080"/>
            <a:ext cx="3749040" cy="237744"/>
          </a:xfrm>
          <a:prstGeom prst="rect">
            <a:avLst/>
          </a:prstGeom>
          <a:noFill/>
          <a:ln/>
        </p:spPr>
        <p:txBody>
          <a:bodyPr wrap="square" lIns="0" tIns="0" rIns="0" bIns="0" rtlCol="0" anchor="t"/>
          <a:lstStyle/>
          <a:p>
            <a:pPr algn="ctr" indent="0" marL="0">
              <a:buNone/>
            </a:pPr>
            <a:r>
              <a:rPr lang="en-US" sz="1150" b="1" dirty="0">
                <a:solidFill>
                  <a:srgbClr val="5B6B7F"/>
                </a:solidFill>
                <a:latin typeface="Calibri" pitchFamily="34" charset="0"/>
                <a:ea typeface="Calibri" pitchFamily="34" charset="-122"/>
                <a:cs typeface="Calibri" pitchFamily="34" charset="-120"/>
              </a:rPr>
              <a:t>ResNet-18: 4 stages × 2 residual blocks</a:t>
            </a:r>
            <a:endParaRPr lang="en-US" sz="1150" dirty="0"/>
          </a:p>
        </p:txBody>
      </p:sp>
      <p:sp>
        <p:nvSpPr>
          <p:cNvPr id="23" name="Shape 20"/>
          <p:cNvSpPr/>
          <p:nvPr/>
        </p:nvSpPr>
        <p:spPr>
          <a:xfrm>
            <a:off x="6473952" y="2807208"/>
            <a:ext cx="347472" cy="0"/>
          </a:xfrm>
          <a:prstGeom prst="line">
            <a:avLst/>
          </a:prstGeom>
          <a:noFill/>
          <a:ln w="19050">
            <a:solidFill>
              <a:srgbClr val="8FA3B8"/>
            </a:solidFill>
            <a:prstDash val="solid"/>
            <a:tailEnd type="triangle"/>
          </a:ln>
        </p:spPr>
      </p:sp>
      <p:sp>
        <p:nvSpPr>
          <p:cNvPr id="24" name="Shape 21"/>
          <p:cNvSpPr/>
          <p:nvPr/>
        </p:nvSpPr>
        <p:spPr>
          <a:xfrm>
            <a:off x="6912864" y="2487168"/>
            <a:ext cx="274320" cy="640080"/>
          </a:xfrm>
          <a:prstGeom prst="roundRect">
            <a:avLst>
              <a:gd name="adj" fmla="val 16667"/>
            </a:avLst>
          </a:prstGeom>
          <a:solidFill>
            <a:srgbClr val="0E1E33"/>
          </a:solidFill>
          <a:ln/>
        </p:spPr>
      </p:sp>
      <p:sp>
        <p:nvSpPr>
          <p:cNvPr id="25" name="Text 22"/>
          <p:cNvSpPr txBox="1"/>
          <p:nvPr/>
        </p:nvSpPr>
        <p:spPr>
          <a:xfrm>
            <a:off x="6592824" y="3630168"/>
            <a:ext cx="914400" cy="457200"/>
          </a:xfrm>
          <a:prstGeom prst="rect">
            <a:avLst/>
          </a:prstGeom>
          <a:noFill/>
          <a:ln/>
        </p:spPr>
        <p:txBody>
          <a:bodyPr wrap="square" lIns="0" tIns="0" rIns="0" bIns="0" rtlCol="0" anchor="t"/>
          <a:lstStyle/>
          <a:p>
            <a:pPr algn="ctr" indent="0" marL="0">
              <a:buNone/>
            </a:pPr>
            <a:r>
              <a:rPr lang="en-US" sz="1200" dirty="0">
                <a:solidFill>
                  <a:srgbClr val="5B6B7F"/>
                </a:solidFill>
                <a:latin typeface="Calibri" pitchFamily="34" charset="0"/>
                <a:ea typeface="Calibri" pitchFamily="34" charset="-122"/>
                <a:cs typeface="Calibri" pitchFamily="34" charset="-120"/>
              </a:rPr>
              <a:t>pool +</a:t>
            </a:r>
            <a:endParaRPr lang="en-US" sz="1200" dirty="0"/>
          </a:p>
          <a:p>
            <a:pPr algn="ctr" indent="0" marL="0">
              <a:buNone/>
            </a:pPr>
            <a:r>
              <a:rPr lang="en-US" sz="1200" dirty="0">
                <a:solidFill>
                  <a:srgbClr val="5B6B7F"/>
                </a:solidFill>
                <a:latin typeface="Calibri" pitchFamily="34" charset="0"/>
                <a:ea typeface="Calibri" pitchFamily="34" charset="-122"/>
                <a:cs typeface="Calibri" pitchFamily="34" charset="-120"/>
              </a:rPr>
              <a:t>linear</a:t>
            </a:r>
            <a:endParaRPr lang="en-US" sz="1200" dirty="0"/>
          </a:p>
        </p:txBody>
      </p:sp>
      <p:sp>
        <p:nvSpPr>
          <p:cNvPr id="26" name="Shape 23"/>
          <p:cNvSpPr/>
          <p:nvPr/>
        </p:nvSpPr>
        <p:spPr>
          <a:xfrm>
            <a:off x="7260336" y="2807208"/>
            <a:ext cx="347472" cy="0"/>
          </a:xfrm>
          <a:prstGeom prst="line">
            <a:avLst/>
          </a:prstGeom>
          <a:noFill/>
          <a:ln w="19050">
            <a:solidFill>
              <a:srgbClr val="8FA3B8"/>
            </a:solidFill>
            <a:prstDash val="solid"/>
            <a:tailEnd type="triangle"/>
          </a:ln>
        </p:spPr>
      </p:sp>
      <p:sp>
        <p:nvSpPr>
          <p:cNvPr id="27" name="Shape 24"/>
          <p:cNvSpPr/>
          <p:nvPr/>
        </p:nvSpPr>
        <p:spPr>
          <a:xfrm>
            <a:off x="7699248" y="2505456"/>
            <a:ext cx="603504" cy="603504"/>
          </a:xfrm>
          <a:prstGeom prst="ellipse">
            <a:avLst/>
          </a:prstGeom>
          <a:solidFill>
            <a:srgbClr val="FFFFFF"/>
          </a:solidFill>
          <a:ln w="25400">
            <a:solidFill>
              <a:srgbClr val="0E1E33"/>
            </a:solidFill>
            <a:prstDash val="solid"/>
          </a:ln>
        </p:spPr>
      </p:sp>
      <p:sp>
        <p:nvSpPr>
          <p:cNvPr id="28" name="Text 25"/>
          <p:cNvSpPr txBox="1"/>
          <p:nvPr/>
        </p:nvSpPr>
        <p:spPr>
          <a:xfrm>
            <a:off x="7699248" y="2505456"/>
            <a:ext cx="603504" cy="566928"/>
          </a:xfrm>
          <a:prstGeom prst="rect">
            <a:avLst/>
          </a:prstGeom>
          <a:noFill/>
          <a:ln/>
        </p:spPr>
        <p:txBody>
          <a:bodyPr wrap="square" lIns="0" tIns="0" rIns="0" bIns="0" rtlCol="0" anchor="ctr"/>
          <a:lstStyle/>
          <a:p>
            <a:pPr algn="ctr" indent="0" marL="0">
              <a:buNone/>
            </a:pPr>
            <a:r>
              <a:rPr lang="en-US" sz="2400" b="1" i="1" dirty="0">
                <a:solidFill>
                  <a:srgbClr val="0E1E33"/>
                </a:solidFill>
                <a:latin typeface="Calibri" pitchFamily="34" charset="0"/>
                <a:ea typeface="Calibri" pitchFamily="34" charset="-122"/>
                <a:cs typeface="Calibri" pitchFamily="34" charset="-120"/>
              </a:rPr>
              <a:t>p</a:t>
            </a:r>
            <a:endParaRPr lang="en-US" sz="2400" dirty="0"/>
          </a:p>
        </p:txBody>
      </p:sp>
      <p:sp>
        <p:nvSpPr>
          <p:cNvPr id="29" name="Text 26"/>
          <p:cNvSpPr txBox="1"/>
          <p:nvPr/>
        </p:nvSpPr>
        <p:spPr>
          <a:xfrm>
            <a:off x="7287768" y="3630168"/>
            <a:ext cx="1426464" cy="457200"/>
          </a:xfrm>
          <a:prstGeom prst="rect">
            <a:avLst/>
          </a:prstGeom>
          <a:noFill/>
          <a:ln/>
        </p:spPr>
        <p:txBody>
          <a:bodyPr wrap="square" lIns="0" tIns="0" rIns="0" bIns="0" rtlCol="0" anchor="t"/>
          <a:lstStyle/>
          <a:p>
            <a:pPr algn="ctr" indent="0" marL="0">
              <a:buNone/>
            </a:pPr>
            <a:r>
              <a:rPr lang="en-US" sz="1200" dirty="0">
                <a:solidFill>
                  <a:srgbClr val="5B6B7F"/>
                </a:solidFill>
                <a:latin typeface="Calibri" pitchFamily="34" charset="0"/>
                <a:ea typeface="Calibri" pitchFamily="34" charset="-122"/>
                <a:cs typeface="Calibri" pitchFamily="34" charset="-120"/>
              </a:rPr>
              <a:t>sigmoid →</a:t>
            </a:r>
            <a:endParaRPr lang="en-US" sz="1200" dirty="0"/>
          </a:p>
          <a:p>
            <a:pPr algn="ctr" indent="0" marL="0">
              <a:buNone/>
            </a:pPr>
            <a:r>
              <a:rPr lang="en-US" sz="1200" b="1" dirty="0">
                <a:solidFill>
                  <a:srgbClr val="0E1E33"/>
                </a:solidFill>
                <a:latin typeface="Calibri" pitchFamily="34" charset="0"/>
                <a:ea typeface="Calibri" pitchFamily="34" charset="-122"/>
                <a:cs typeface="Calibri" pitchFamily="34" charset="-120"/>
              </a:rPr>
              <a:t>p(atelectasis)</a:t>
            </a:r>
            <a:endParaRPr lang="en-US" sz="1200" dirty="0"/>
          </a:p>
        </p:txBody>
      </p:sp>
      <p:sp>
        <p:nvSpPr>
          <p:cNvPr id="30" name="Shape 27"/>
          <p:cNvSpPr/>
          <p:nvPr/>
        </p:nvSpPr>
        <p:spPr>
          <a:xfrm>
            <a:off x="9464040" y="2148840"/>
            <a:ext cx="2176272" cy="384048"/>
          </a:xfrm>
          <a:prstGeom prst="roundRect">
            <a:avLst>
              <a:gd name="adj" fmla="val 50000"/>
            </a:avLst>
          </a:prstGeom>
          <a:solidFill>
            <a:srgbClr val="2266AA"/>
          </a:solidFill>
          <a:ln/>
        </p:spPr>
      </p:sp>
      <p:sp>
        <p:nvSpPr>
          <p:cNvPr id="31" name="Text 28"/>
          <p:cNvSpPr txBox="1"/>
          <p:nvPr/>
        </p:nvSpPr>
        <p:spPr>
          <a:xfrm>
            <a:off x="9464040" y="2148840"/>
            <a:ext cx="2176272"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Seen model</a:t>
            </a:r>
            <a:endParaRPr lang="en-US" sz="1300" dirty="0"/>
          </a:p>
        </p:txBody>
      </p:sp>
      <p:sp>
        <p:nvSpPr>
          <p:cNvPr id="32" name="Shape 29"/>
          <p:cNvSpPr/>
          <p:nvPr/>
        </p:nvSpPr>
        <p:spPr>
          <a:xfrm>
            <a:off x="9464040" y="2660904"/>
            <a:ext cx="2176272" cy="384048"/>
          </a:xfrm>
          <a:prstGeom prst="roundRect">
            <a:avLst>
              <a:gd name="adj" fmla="val 50000"/>
            </a:avLst>
          </a:prstGeom>
          <a:solidFill>
            <a:srgbClr val="B87716"/>
          </a:solidFill>
          <a:ln/>
        </p:spPr>
      </p:sp>
      <p:sp>
        <p:nvSpPr>
          <p:cNvPr id="33" name="Text 30"/>
          <p:cNvSpPr txBox="1"/>
          <p:nvPr/>
        </p:nvSpPr>
        <p:spPr>
          <a:xfrm>
            <a:off x="9464040" y="2660904"/>
            <a:ext cx="2176272"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Unseen model</a:t>
            </a:r>
            <a:endParaRPr lang="en-US" sz="1300" dirty="0"/>
          </a:p>
        </p:txBody>
      </p:sp>
      <p:sp>
        <p:nvSpPr>
          <p:cNvPr id="34" name="Text 31"/>
          <p:cNvSpPr txBox="1"/>
          <p:nvPr/>
        </p:nvSpPr>
        <p:spPr>
          <a:xfrm>
            <a:off x="9189720" y="3172968"/>
            <a:ext cx="2724912" cy="274320"/>
          </a:xfrm>
          <a:prstGeom prst="rect">
            <a:avLst/>
          </a:prstGeom>
          <a:noFill/>
          <a:ln/>
        </p:spPr>
        <p:txBody>
          <a:bodyPr wrap="square" lIns="0" tIns="0" rIns="0" bIns="0" rtlCol="0" anchor="t"/>
          <a:lstStyle/>
          <a:p>
            <a:pPr algn="ctr" indent="0" marL="0">
              <a:buNone/>
            </a:pPr>
            <a:r>
              <a:rPr lang="en-US" sz="1150" dirty="0">
                <a:solidFill>
                  <a:srgbClr val="5B6B7F"/>
                </a:solidFill>
                <a:latin typeface="Calibri" pitchFamily="34" charset="0"/>
                <a:ea typeface="Calibri" pitchFamily="34" charset="-122"/>
                <a:cs typeface="Calibri" pitchFamily="34" charset="-120"/>
              </a:rPr>
              <a:t>identical architecture and recipe</a:t>
            </a:r>
            <a:endParaRPr lang="en-US" sz="1150" dirty="0"/>
          </a:p>
        </p:txBody>
      </p:sp>
      <p:sp>
        <p:nvSpPr>
          <p:cNvPr id="35" name="Shape 32"/>
          <p:cNvSpPr/>
          <p:nvPr/>
        </p:nvSpPr>
        <p:spPr>
          <a:xfrm>
            <a:off x="548640" y="4224528"/>
            <a:ext cx="3545738" cy="1810512"/>
          </a:xfrm>
          <a:prstGeom prst="roundRect">
            <a:avLst>
              <a:gd name="adj" fmla="val 6061"/>
            </a:avLst>
          </a:prstGeom>
          <a:solidFill>
            <a:srgbClr val="F3F6FA"/>
          </a:solidFill>
          <a:ln/>
        </p:spPr>
      </p:sp>
      <p:sp>
        <p:nvSpPr>
          <p:cNvPr id="36" name="Shape 33"/>
          <p:cNvSpPr/>
          <p:nvPr/>
        </p:nvSpPr>
        <p:spPr>
          <a:xfrm>
            <a:off x="777240" y="4407408"/>
            <a:ext cx="438912" cy="438912"/>
          </a:xfrm>
          <a:prstGeom prst="ellipse">
            <a:avLst/>
          </a:prstGeom>
          <a:solidFill>
            <a:srgbClr val="FFFFFF"/>
          </a:solidFill>
          <a:ln/>
        </p:spPr>
      </p:sp>
      <p:pic>
        <p:nvPicPr>
          <p:cNvPr id="37" name="Image 1" descr="scan line icon">    </p:cNvPr>
          <p:cNvPicPr>
            <a:picLocks noChangeAspect="1"/>
          </p:cNvPicPr>
          <p:nvPr/>
        </p:nvPicPr>
        <p:blipFill>
          <a:blip r:embed="rId2"/>
          <a:stretch>
            <a:fillRect/>
          </a:stretch>
        </p:blipFill>
        <p:spPr>
          <a:xfrm>
            <a:off x="882579" y="4512747"/>
            <a:ext cx="228234" cy="228234"/>
          </a:xfrm>
          <a:prstGeom prst="rect">
            <a:avLst/>
          </a:prstGeom>
        </p:spPr>
      </p:pic>
      <p:sp>
        <p:nvSpPr>
          <p:cNvPr id="38" name="Text 34"/>
          <p:cNvSpPr txBox="1"/>
          <p:nvPr/>
        </p:nvSpPr>
        <p:spPr>
          <a:xfrm>
            <a:off x="1335024" y="4407408"/>
            <a:ext cx="2631338" cy="438912"/>
          </a:xfrm>
          <a:prstGeom prst="rect">
            <a:avLst/>
          </a:prstGeom>
          <a:noFill/>
          <a:ln/>
        </p:spPr>
        <p:txBody>
          <a:bodyPr wrap="square" lIns="0" tIns="0" rIns="0" bIns="0" rtlCol="0" anchor="ctr"/>
          <a:lstStyle/>
          <a:p>
            <a:pPr indent="0" marL="0">
              <a:buNone/>
            </a:pPr>
            <a:r>
              <a:rPr lang="en-US" sz="1550" b="1" dirty="0">
                <a:solidFill>
                  <a:srgbClr val="0E1E33"/>
                </a:solidFill>
                <a:latin typeface="Calibri" pitchFamily="34" charset="0"/>
                <a:ea typeface="Calibri" pitchFamily="34" charset="-122"/>
                <a:cs typeface="Calibri" pitchFamily="34" charset="-120"/>
              </a:rPr>
              <a:t>Preprocessing</a:t>
            </a:r>
            <a:endParaRPr lang="en-US" sz="1550" dirty="0"/>
          </a:p>
        </p:txBody>
      </p:sp>
      <p:sp>
        <p:nvSpPr>
          <p:cNvPr id="39" name="Text 35"/>
          <p:cNvSpPr txBox="1"/>
          <p:nvPr/>
        </p:nvSpPr>
        <p:spPr>
          <a:xfrm>
            <a:off x="777240" y="4937760"/>
            <a:ext cx="3179978" cy="1024128"/>
          </a:xfrm>
          <a:prstGeom prst="rect">
            <a:avLst/>
          </a:prstGeom>
          <a:noFill/>
          <a:ln/>
        </p:spPr>
        <p:txBody>
          <a:bodyPr wrap="square" lIns="0" tIns="0" rIns="0" bIns="0" rtlCol="0" anchor="t"/>
          <a:lstStyle/>
          <a:p>
            <a:pPr marL="165100" indent="-165100">
              <a:spcAft>
                <a:spcPts val="300"/>
              </a:spcAft>
              <a:buSzPct val="100000"/>
              <a:buChar char="•"/>
            </a:pPr>
            <a:r>
              <a:rPr lang="en-US" sz="1250" dirty="0">
                <a:solidFill>
                  <a:srgbClr val="24364F"/>
                </a:solidFill>
                <a:latin typeface="Calibri" pitchFamily="34" charset="0"/>
                <a:ea typeface="Calibri" pitchFamily="34" charset="-122"/>
                <a:cs typeface="Calibri" pitchFamily="34" charset="-120"/>
              </a:rPr>
              <a:t>DICOM rescale; invert MONOCHROME1</a:t>
            </a:r>
            <a:endParaRPr lang="en-US" sz="1250" dirty="0"/>
          </a:p>
          <a:p>
            <a:pPr marL="165100" indent="-165100">
              <a:spcAft>
                <a:spcPts val="300"/>
              </a:spcAft>
              <a:buSzPct val="100000"/>
              <a:buChar char="•"/>
            </a:pPr>
            <a:r>
              <a:rPr lang="en-US" sz="1250" dirty="0">
                <a:solidFill>
                  <a:srgbClr val="24364F"/>
                </a:solidFill>
                <a:latin typeface="Calibri" pitchFamily="34" charset="0"/>
                <a:ea typeface="Calibri" pitchFamily="34" charset="-122"/>
                <a:cs typeface="Calibri" pitchFamily="34" charset="-120"/>
              </a:rPr>
              <a:t>Clip to 0.5–99.5th percentile</a:t>
            </a:r>
            <a:endParaRPr lang="en-US" sz="1250" dirty="0"/>
          </a:p>
          <a:p>
            <a:pPr marL="165100" indent="-165100">
              <a:spcAft>
                <a:spcPts val="300"/>
              </a:spcAft>
              <a:buSzPct val="100000"/>
              <a:buChar char="•"/>
            </a:pPr>
            <a:r>
              <a:rPr lang="en-US" sz="1250" dirty="0">
                <a:solidFill>
                  <a:srgbClr val="24364F"/>
                </a:solidFill>
                <a:latin typeface="Calibri" pitchFamily="34" charset="0"/>
                <a:ea typeface="Calibri" pitchFamily="34" charset="-122"/>
                <a:cs typeface="Calibri" pitchFamily="34" charset="-120"/>
              </a:rPr>
              <a:t>Keep aspect ratio, pad to 224 × 224</a:t>
            </a:r>
            <a:endParaRPr lang="en-US" sz="1250" dirty="0"/>
          </a:p>
          <a:p>
            <a:pPr marL="165100" indent="-165100">
              <a:spcAft>
                <a:spcPts val="300"/>
              </a:spcAft>
              <a:buSzPct val="100000"/>
              <a:buChar char="•"/>
            </a:pPr>
            <a:r>
              <a:rPr lang="en-US" sz="1250" dirty="0">
                <a:solidFill>
                  <a:srgbClr val="24364F"/>
                </a:solidFill>
                <a:latin typeface="Calibri" pitchFamily="34" charset="0"/>
                <a:ea typeface="Calibri" pitchFamily="34" charset="-122"/>
                <a:cs typeface="Calibri" pitchFamily="34" charset="-120"/>
              </a:rPr>
              <a:t>ImageNet normalisation; no augmentation</a:t>
            </a:r>
            <a:endParaRPr lang="en-US" sz="1250" dirty="0"/>
          </a:p>
        </p:txBody>
      </p:sp>
      <p:sp>
        <p:nvSpPr>
          <p:cNvPr id="40" name="Shape 36"/>
          <p:cNvSpPr/>
          <p:nvPr/>
        </p:nvSpPr>
        <p:spPr>
          <a:xfrm>
            <a:off x="4322978" y="4224528"/>
            <a:ext cx="3545738" cy="1810512"/>
          </a:xfrm>
          <a:prstGeom prst="roundRect">
            <a:avLst>
              <a:gd name="adj" fmla="val 6061"/>
            </a:avLst>
          </a:prstGeom>
          <a:solidFill>
            <a:srgbClr val="F3F6FA"/>
          </a:solidFill>
          <a:ln/>
        </p:spPr>
      </p:sp>
      <p:sp>
        <p:nvSpPr>
          <p:cNvPr id="41" name="Shape 37"/>
          <p:cNvSpPr/>
          <p:nvPr/>
        </p:nvSpPr>
        <p:spPr>
          <a:xfrm>
            <a:off x="4551578" y="4407408"/>
            <a:ext cx="438912" cy="438912"/>
          </a:xfrm>
          <a:prstGeom prst="ellipse">
            <a:avLst/>
          </a:prstGeom>
          <a:solidFill>
            <a:srgbClr val="FFFFFF"/>
          </a:solidFill>
          <a:ln/>
        </p:spPr>
      </p:sp>
      <p:pic>
        <p:nvPicPr>
          <p:cNvPr id="42" name="Image 2" descr="sliders horizontal icon">    </p:cNvPr>
          <p:cNvPicPr>
            <a:picLocks noChangeAspect="1"/>
          </p:cNvPicPr>
          <p:nvPr/>
        </p:nvPicPr>
        <p:blipFill>
          <a:blip r:embed="rId3"/>
          <a:stretch>
            <a:fillRect/>
          </a:stretch>
        </p:blipFill>
        <p:spPr>
          <a:xfrm>
            <a:off x="4656917" y="4512747"/>
            <a:ext cx="228234" cy="228234"/>
          </a:xfrm>
          <a:prstGeom prst="rect">
            <a:avLst/>
          </a:prstGeom>
        </p:spPr>
      </p:pic>
      <p:sp>
        <p:nvSpPr>
          <p:cNvPr id="43" name="Text 38"/>
          <p:cNvSpPr txBox="1"/>
          <p:nvPr/>
        </p:nvSpPr>
        <p:spPr>
          <a:xfrm>
            <a:off x="5109362" y="4407408"/>
            <a:ext cx="2631338" cy="438912"/>
          </a:xfrm>
          <a:prstGeom prst="rect">
            <a:avLst/>
          </a:prstGeom>
          <a:noFill/>
          <a:ln/>
        </p:spPr>
        <p:txBody>
          <a:bodyPr wrap="square" lIns="0" tIns="0" rIns="0" bIns="0" rtlCol="0" anchor="ctr"/>
          <a:lstStyle/>
          <a:p>
            <a:pPr indent="0" marL="0">
              <a:buNone/>
            </a:pPr>
            <a:r>
              <a:rPr lang="en-US" sz="1550" b="1" dirty="0">
                <a:solidFill>
                  <a:srgbClr val="0E1E33"/>
                </a:solidFill>
                <a:latin typeface="Calibri" pitchFamily="34" charset="0"/>
                <a:ea typeface="Calibri" pitchFamily="34" charset="-122"/>
                <a:cs typeface="Calibri" pitchFamily="34" charset="-120"/>
              </a:rPr>
              <a:t>Training</a:t>
            </a:r>
            <a:endParaRPr lang="en-US" sz="1550" dirty="0"/>
          </a:p>
        </p:txBody>
      </p:sp>
      <p:sp>
        <p:nvSpPr>
          <p:cNvPr id="44" name="Text 39"/>
          <p:cNvSpPr txBox="1"/>
          <p:nvPr/>
        </p:nvSpPr>
        <p:spPr>
          <a:xfrm>
            <a:off x="4551578" y="4937760"/>
            <a:ext cx="3179978" cy="1024128"/>
          </a:xfrm>
          <a:prstGeom prst="rect">
            <a:avLst/>
          </a:prstGeom>
          <a:noFill/>
          <a:ln/>
        </p:spPr>
        <p:txBody>
          <a:bodyPr wrap="square" lIns="0" tIns="0" rIns="0" bIns="0" rtlCol="0" anchor="t"/>
          <a:lstStyle/>
          <a:p>
            <a:pPr marL="165100" indent="-165100">
              <a:spcAft>
                <a:spcPts val="300"/>
              </a:spcAft>
              <a:buSzPct val="100000"/>
              <a:buChar char="•"/>
            </a:pPr>
            <a:r>
              <a:rPr lang="en-US" sz="1250" dirty="0">
                <a:solidFill>
                  <a:srgbClr val="24364F"/>
                </a:solidFill>
                <a:latin typeface="Calibri" pitchFamily="34" charset="0"/>
                <a:ea typeface="Calibri" pitchFamily="34" charset="-122"/>
                <a:cs typeface="Calibri" pitchFamily="34" charset="-120"/>
              </a:rPr>
              <a:t>ImageNet init; all layers fine-tuned</a:t>
            </a:r>
            <a:endParaRPr lang="en-US" sz="1250" dirty="0"/>
          </a:p>
          <a:p>
            <a:pPr marL="165100" indent="-165100">
              <a:spcAft>
                <a:spcPts val="300"/>
              </a:spcAft>
              <a:buSzPct val="100000"/>
              <a:buChar char="•"/>
            </a:pPr>
            <a:r>
              <a:rPr lang="en-US" sz="1250" dirty="0">
                <a:solidFill>
                  <a:srgbClr val="24364F"/>
                </a:solidFill>
                <a:latin typeface="Calibri" pitchFamily="34" charset="0"/>
                <a:ea typeface="Calibri" pitchFamily="34" charset="-122"/>
                <a:cs typeface="Calibri" pitchFamily="34" charset="-120"/>
              </a:rPr>
              <a:t>AdamW, lr 1e-4, weight decay 1e-4</a:t>
            </a:r>
            <a:endParaRPr lang="en-US" sz="1250" dirty="0"/>
          </a:p>
          <a:p>
            <a:pPr marL="165100" indent="-165100">
              <a:spcAft>
                <a:spcPts val="300"/>
              </a:spcAft>
              <a:buSzPct val="100000"/>
              <a:buChar char="•"/>
            </a:pPr>
            <a:r>
              <a:rPr lang="en-US" sz="1250" dirty="0">
                <a:solidFill>
                  <a:srgbClr val="24364F"/>
                </a:solidFill>
                <a:latin typeface="Calibri" pitchFamily="34" charset="0"/>
                <a:ea typeface="Calibri" pitchFamily="34" charset="-122"/>
                <a:cs typeface="Calibri" pitchFamily="34" charset="-120"/>
              </a:rPr>
              <a:t>Batch 32, mixed precision, 5 epochs</a:t>
            </a:r>
            <a:endParaRPr lang="en-US" sz="1250" dirty="0"/>
          </a:p>
          <a:p>
            <a:pPr marL="165100" indent="-165100">
              <a:spcAft>
                <a:spcPts val="300"/>
              </a:spcAft>
              <a:buSzPct val="100000"/>
              <a:buChar char="•"/>
            </a:pPr>
            <a:r>
              <a:rPr lang="en-US" sz="1250" dirty="0">
                <a:solidFill>
                  <a:srgbClr val="24364F"/>
                </a:solidFill>
                <a:latin typeface="Calibri" pitchFamily="34" charset="0"/>
                <a:ea typeface="Calibri" pitchFamily="34" charset="-122"/>
                <a:cs typeface="Calibri" pitchFamily="34" charset="-120"/>
              </a:rPr>
              <a:t>Keep epoch with lowest validation BCE</a:t>
            </a:r>
            <a:endParaRPr lang="en-US" sz="1250" dirty="0"/>
          </a:p>
        </p:txBody>
      </p:sp>
      <p:sp>
        <p:nvSpPr>
          <p:cNvPr id="45" name="Shape 40"/>
          <p:cNvSpPr/>
          <p:nvPr/>
        </p:nvSpPr>
        <p:spPr>
          <a:xfrm>
            <a:off x="8097317" y="4224528"/>
            <a:ext cx="3545738" cy="1810512"/>
          </a:xfrm>
          <a:prstGeom prst="roundRect">
            <a:avLst>
              <a:gd name="adj" fmla="val 6061"/>
            </a:avLst>
          </a:prstGeom>
          <a:solidFill>
            <a:srgbClr val="F3F6FA"/>
          </a:solidFill>
          <a:ln/>
        </p:spPr>
      </p:sp>
      <p:sp>
        <p:nvSpPr>
          <p:cNvPr id="46" name="Shape 41"/>
          <p:cNvSpPr/>
          <p:nvPr/>
        </p:nvSpPr>
        <p:spPr>
          <a:xfrm>
            <a:off x="8325917" y="4407408"/>
            <a:ext cx="438912" cy="438912"/>
          </a:xfrm>
          <a:prstGeom prst="ellipse">
            <a:avLst/>
          </a:prstGeom>
          <a:solidFill>
            <a:srgbClr val="FFFFFF"/>
          </a:solidFill>
          <a:ln/>
        </p:spPr>
      </p:sp>
      <p:pic>
        <p:nvPicPr>
          <p:cNvPr id="47" name="Image 3" descr="target icon">    </p:cNvPr>
          <p:cNvPicPr>
            <a:picLocks noChangeAspect="1"/>
          </p:cNvPicPr>
          <p:nvPr/>
        </p:nvPicPr>
        <p:blipFill>
          <a:blip r:embed="rId4"/>
          <a:stretch>
            <a:fillRect/>
          </a:stretch>
        </p:blipFill>
        <p:spPr>
          <a:xfrm>
            <a:off x="8431256" y="4512747"/>
            <a:ext cx="228234" cy="228234"/>
          </a:xfrm>
          <a:prstGeom prst="rect">
            <a:avLst/>
          </a:prstGeom>
        </p:spPr>
      </p:pic>
      <p:sp>
        <p:nvSpPr>
          <p:cNvPr id="48" name="Text 42"/>
          <p:cNvSpPr txBox="1"/>
          <p:nvPr/>
        </p:nvSpPr>
        <p:spPr>
          <a:xfrm>
            <a:off x="8883701" y="4407408"/>
            <a:ext cx="2631338" cy="438912"/>
          </a:xfrm>
          <a:prstGeom prst="rect">
            <a:avLst/>
          </a:prstGeom>
          <a:noFill/>
          <a:ln/>
        </p:spPr>
        <p:txBody>
          <a:bodyPr wrap="square" lIns="0" tIns="0" rIns="0" bIns="0" rtlCol="0" anchor="ctr"/>
          <a:lstStyle/>
          <a:p>
            <a:pPr indent="0" marL="0">
              <a:buNone/>
            </a:pPr>
            <a:r>
              <a:rPr lang="en-US" sz="1550" b="1" dirty="0">
                <a:solidFill>
                  <a:srgbClr val="0E1E33"/>
                </a:solidFill>
                <a:latin typeface="Calibri" pitchFamily="34" charset="0"/>
                <a:ea typeface="Calibri" pitchFamily="34" charset="-122"/>
                <a:cs typeface="Calibri" pitchFamily="34" charset="-120"/>
              </a:rPr>
              <a:t>Evaluation</a:t>
            </a:r>
            <a:endParaRPr lang="en-US" sz="1550" dirty="0"/>
          </a:p>
        </p:txBody>
      </p:sp>
      <p:sp>
        <p:nvSpPr>
          <p:cNvPr id="49" name="Text 43"/>
          <p:cNvSpPr txBox="1"/>
          <p:nvPr/>
        </p:nvSpPr>
        <p:spPr>
          <a:xfrm>
            <a:off x="8325917" y="4937760"/>
            <a:ext cx="3179978" cy="1024128"/>
          </a:xfrm>
          <a:prstGeom prst="rect">
            <a:avLst/>
          </a:prstGeom>
          <a:noFill/>
          <a:ln/>
        </p:spPr>
        <p:txBody>
          <a:bodyPr wrap="square" lIns="0" tIns="0" rIns="0" bIns="0" rtlCol="0" anchor="t"/>
          <a:lstStyle/>
          <a:p>
            <a:pPr marL="165100" indent="-165100">
              <a:spcAft>
                <a:spcPts val="300"/>
              </a:spcAft>
              <a:buSzPct val="100000"/>
              <a:buChar char="•"/>
            </a:pPr>
            <a:r>
              <a:rPr lang="en-US" sz="1250" dirty="0">
                <a:solidFill>
                  <a:srgbClr val="24364F"/>
                </a:solidFill>
                <a:latin typeface="Calibri" pitchFamily="34" charset="0"/>
                <a:ea typeface="Calibri" pitchFamily="34" charset="-122"/>
                <a:cs typeface="Calibri" pitchFamily="34" charset="-120"/>
              </a:rPr>
              <a:t>AUROC (primary), AUPRC, Brier score</a:t>
            </a:r>
            <a:endParaRPr lang="en-US" sz="1250" dirty="0"/>
          </a:p>
          <a:p>
            <a:pPr marL="165100" indent="-165100">
              <a:spcAft>
                <a:spcPts val="300"/>
              </a:spcAft>
              <a:buSzPct val="100000"/>
              <a:buChar char="•"/>
            </a:pPr>
            <a:r>
              <a:rPr lang="en-US" sz="1250" dirty="0">
                <a:solidFill>
                  <a:srgbClr val="24364F"/>
                </a:solidFill>
                <a:latin typeface="Calibri" pitchFamily="34" charset="0"/>
                <a:ea typeface="Calibri" pitchFamily="34" charset="-122"/>
                <a:cs typeface="Calibri" pitchFamily="34" charset="-120"/>
              </a:rPr>
              <a:t>Δ = seen − unseen on the same studies</a:t>
            </a:r>
            <a:endParaRPr lang="en-US" sz="1250" dirty="0"/>
          </a:p>
          <a:p>
            <a:pPr marL="165100" indent="-165100">
              <a:spcAft>
                <a:spcPts val="300"/>
              </a:spcAft>
              <a:buSzPct val="100000"/>
              <a:buChar char="•"/>
            </a:pPr>
            <a:r>
              <a:rPr lang="en-US" sz="1250" dirty="0">
                <a:solidFill>
                  <a:srgbClr val="24364F"/>
                </a:solidFill>
                <a:latin typeface="Calibri" pitchFamily="34" charset="0"/>
                <a:ea typeface="Calibri" pitchFamily="34" charset="-122"/>
                <a:cs typeface="Calibri" pitchFamily="34" charset="-120"/>
              </a:rPr>
              <a:t>95% CI: 1,000 patient-paired bootstraps</a:t>
            </a:r>
            <a:endParaRPr lang="en-US" sz="1250" dirty="0"/>
          </a:p>
          <a:p>
            <a:pPr marL="165100" indent="-165100">
              <a:spcAft>
                <a:spcPts val="300"/>
              </a:spcAft>
              <a:buSzPct val="100000"/>
              <a:buChar char="•"/>
            </a:pPr>
            <a:r>
              <a:rPr lang="en-US" sz="1250" dirty="0">
                <a:solidFill>
                  <a:srgbClr val="24364F"/>
                </a:solidFill>
                <a:latin typeface="Calibri" pitchFamily="34" charset="0"/>
                <a:ea typeface="Calibri" pitchFamily="34" charset="-122"/>
                <a:cs typeface="Calibri" pitchFamily="34" charset="-120"/>
              </a:rPr>
              <a:t>Test set never used for any choice</a:t>
            </a:r>
            <a:endParaRPr lang="en-US" sz="1250" dirty="0"/>
          </a:p>
        </p:txBody>
      </p:sp>
      <p:sp>
        <p:nvSpPr>
          <p:cNvPr id="50" name="Text 44"/>
          <p:cNvSpPr txBox="1"/>
          <p:nvPr/>
        </p:nvSpPr>
        <p:spPr>
          <a:xfrm>
            <a:off x="548640" y="6144768"/>
            <a:ext cx="10241280" cy="384048"/>
          </a:xfrm>
          <a:prstGeom prst="rect">
            <a:avLst/>
          </a:prstGeom>
          <a:noFill/>
          <a:ln/>
        </p:spPr>
        <p:txBody>
          <a:bodyPr wrap="square" lIns="0" tIns="0" rIns="0" bIns="0" rtlCol="0" anchor="b"/>
          <a:lstStyle/>
          <a:p>
            <a:pPr indent="0" marL="0">
              <a:buNone/>
            </a:pPr>
            <a:r>
              <a:rPr lang="en-US" sz="950" dirty="0">
                <a:solidFill>
                  <a:srgbClr val="8793A3"/>
                </a:solidFill>
                <a:latin typeface="Calibri" pitchFamily="34" charset="0"/>
                <a:ea typeface="Calibri" pitchFamily="34" charset="-122"/>
                <a:cs typeface="Calibri" pitchFamily="34" charset="-120"/>
              </a:rPr>
              <a:t>ResNet: He et al., CVPR 2016 [4]. The lung drawing is a schematic; the experiment used real frontal radiographs (not shown).</a:t>
            </a:r>
            <a:endParaRPr lang="en-US" sz="950" dirty="0"/>
          </a:p>
        </p:txBody>
      </p:sp>
      <p:sp>
        <p:nvSpPr>
          <p:cNvPr id="51" name="Text 45"/>
          <p:cNvSpPr txBox="1"/>
          <p:nvPr/>
        </p:nvSpPr>
        <p:spPr>
          <a:xfrm>
            <a:off x="11094415" y="6254496"/>
            <a:ext cx="548640" cy="274320"/>
          </a:xfrm>
          <a:prstGeom prst="rect">
            <a:avLst/>
          </a:prstGeom>
          <a:noFill/>
          <a:ln/>
        </p:spPr>
        <p:txBody>
          <a:bodyPr wrap="square" lIns="0" tIns="0" rIns="0" bIns="0" rtlCol="0" anchor="b"/>
          <a:lstStyle/>
          <a:p>
            <a:pPr algn="r" indent="0" marL="0">
              <a:buNone/>
            </a:pPr>
            <a:r>
              <a:rPr lang="en-US" sz="1000" b="1" dirty="0">
                <a:solidFill>
                  <a:srgbClr val="5B6B7F"/>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84048"/>
            <a:ext cx="384048" cy="237744"/>
          </a:xfrm>
          <a:prstGeom prst="roundRect">
            <a:avLst>
              <a:gd name="adj" fmla="val 19231"/>
            </a:avLst>
          </a:prstGeom>
          <a:solidFill>
            <a:srgbClr val="0E1E33"/>
          </a:solidFill>
          <a:ln/>
        </p:spPr>
      </p:sp>
      <p:sp>
        <p:nvSpPr>
          <p:cNvPr id="3" name="Text 1"/>
          <p:cNvSpPr txBox="1"/>
          <p:nvPr/>
        </p:nvSpPr>
        <p:spPr>
          <a:xfrm>
            <a:off x="548640" y="384048"/>
            <a:ext cx="38404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4" name="Text 2"/>
          <p:cNvSpPr txBox="1"/>
          <p:nvPr/>
        </p:nvSpPr>
        <p:spPr>
          <a:xfrm>
            <a:off x="1060704" y="384048"/>
            <a:ext cx="6400800" cy="237744"/>
          </a:xfrm>
          <a:prstGeom prst="rect">
            <a:avLst/>
          </a:prstGeom>
          <a:noFill/>
          <a:ln/>
        </p:spPr>
        <p:txBody>
          <a:bodyPr wrap="square" lIns="0" tIns="0" rIns="0" bIns="0" rtlCol="0" anchor="ctr"/>
          <a:lstStyle/>
          <a:p>
            <a:pPr indent="0" marL="0">
              <a:buNone/>
            </a:pPr>
            <a:r>
              <a:rPr lang="en-US" sz="1050" b="1" spc="150" kern="0" dirty="0">
                <a:solidFill>
                  <a:srgbClr val="5B6B7F"/>
                </a:solidFill>
                <a:latin typeface="Calibri" pitchFamily="34" charset="0"/>
                <a:ea typeface="Calibri" pitchFamily="34" charset="-122"/>
                <a:cs typeface="Calibri" pitchFamily="34" charset="-120"/>
              </a:rPr>
              <a:t>METHOD</a:t>
            </a:r>
            <a:endParaRPr lang="en-US" sz="1050" dirty="0"/>
          </a:p>
        </p:txBody>
      </p:sp>
      <p:sp>
        <p:nvSpPr>
          <p:cNvPr id="5" name="Text 3"/>
          <p:cNvSpPr txBox="1"/>
          <p:nvPr/>
        </p:nvSpPr>
        <p:spPr>
          <a:xfrm>
            <a:off x="548640" y="731520"/>
            <a:ext cx="11094415" cy="548640"/>
          </a:xfrm>
          <a:prstGeom prst="rect">
            <a:avLst/>
          </a:prstGeom>
          <a:noFill/>
          <a:ln/>
        </p:spPr>
        <p:txBody>
          <a:bodyPr wrap="square" lIns="0" tIns="0" rIns="0" bIns="0" rtlCol="0" anchor="ctr"/>
          <a:lstStyle/>
          <a:p>
            <a:pPr indent="0" marL="0">
              <a:buNone/>
            </a:pPr>
            <a:r>
              <a:rPr lang="en-US" sz="2800" b="1" dirty="0">
                <a:solidFill>
                  <a:srgbClr val="0E1E33"/>
                </a:solidFill>
                <a:latin typeface="Calibri" pitchFamily="34" charset="0"/>
                <a:ea typeface="Calibri" pitchFamily="34" charset="-122"/>
                <a:cs typeface="Calibri" pitchFamily="34" charset="-120"/>
              </a:rPr>
              <a:t>Validation loss chose epoch 3 (seen) and epoch 4 (unseen)</a:t>
            </a:r>
            <a:endParaRPr lang="en-US" sz="2800" dirty="0"/>
          </a:p>
        </p:txBody>
      </p:sp>
      <p:sp>
        <p:nvSpPr>
          <p:cNvPr id="6" name="Text 4"/>
          <p:cNvSpPr txBox="1"/>
          <p:nvPr/>
        </p:nvSpPr>
        <p:spPr>
          <a:xfrm>
            <a:off x="548640" y="1280160"/>
            <a:ext cx="11094415" cy="329184"/>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Training loss kept falling; validation loss rose again after its minimum, so later epochs were not kept.</a:t>
            </a:r>
            <a:endParaRPr lang="en-US" sz="1500" dirty="0"/>
          </a:p>
        </p:txBody>
      </p:sp>
      <p:sp>
        <p:nvSpPr>
          <p:cNvPr id="7" name="Shape 5"/>
          <p:cNvSpPr/>
          <p:nvPr/>
        </p:nvSpPr>
        <p:spPr>
          <a:xfrm>
            <a:off x="548640" y="1947672"/>
            <a:ext cx="384048" cy="0"/>
          </a:xfrm>
          <a:prstGeom prst="line">
            <a:avLst/>
          </a:prstGeom>
          <a:noFill/>
          <a:ln w="31750">
            <a:solidFill>
              <a:srgbClr val="2266AA"/>
            </a:solidFill>
            <a:prstDash val="solid"/>
          </a:ln>
        </p:spPr>
      </p:sp>
      <p:sp>
        <p:nvSpPr>
          <p:cNvPr id="8" name="Shape 6"/>
          <p:cNvSpPr/>
          <p:nvPr/>
        </p:nvSpPr>
        <p:spPr>
          <a:xfrm>
            <a:off x="685800" y="1892808"/>
            <a:ext cx="109728" cy="109728"/>
          </a:xfrm>
          <a:prstGeom prst="ellipse">
            <a:avLst/>
          </a:prstGeom>
          <a:solidFill>
            <a:srgbClr val="2266AA"/>
          </a:solidFill>
          <a:ln/>
        </p:spPr>
      </p:sp>
      <p:sp>
        <p:nvSpPr>
          <p:cNvPr id="9" name="Text 7"/>
          <p:cNvSpPr txBox="1"/>
          <p:nvPr/>
        </p:nvSpPr>
        <p:spPr>
          <a:xfrm>
            <a:off x="1024128" y="1810512"/>
            <a:ext cx="2377440" cy="274320"/>
          </a:xfrm>
          <a:prstGeom prst="rect">
            <a:avLst/>
          </a:prstGeom>
          <a:noFill/>
          <a:ln/>
        </p:spPr>
        <p:txBody>
          <a:bodyPr wrap="square" lIns="0" tIns="0" rIns="0" bIns="0" rtlCol="0" anchor="ctr"/>
          <a:lstStyle/>
          <a:p>
            <a:pPr indent="0" marL="0">
              <a:buNone/>
            </a:pPr>
            <a:r>
              <a:rPr lang="en-US" sz="1250" dirty="0">
                <a:solidFill>
                  <a:srgbClr val="24364F"/>
                </a:solidFill>
                <a:latin typeface="Calibri" pitchFamily="34" charset="0"/>
                <a:ea typeface="Calibri" pitchFamily="34" charset="-122"/>
                <a:cs typeface="Calibri" pitchFamily="34" charset="-120"/>
              </a:rPr>
              <a:t>Seen (includes A)</a:t>
            </a:r>
            <a:endParaRPr lang="en-US" sz="1250" dirty="0"/>
          </a:p>
        </p:txBody>
      </p:sp>
      <p:sp>
        <p:nvSpPr>
          <p:cNvPr id="10" name="Shape 8"/>
          <p:cNvSpPr/>
          <p:nvPr/>
        </p:nvSpPr>
        <p:spPr>
          <a:xfrm>
            <a:off x="2926080" y="1947672"/>
            <a:ext cx="384048" cy="0"/>
          </a:xfrm>
          <a:prstGeom prst="line">
            <a:avLst/>
          </a:prstGeom>
          <a:noFill/>
          <a:ln w="31750">
            <a:solidFill>
              <a:srgbClr val="B87716"/>
            </a:solidFill>
            <a:prstDash val="dash"/>
          </a:ln>
        </p:spPr>
      </p:sp>
      <p:sp>
        <p:nvSpPr>
          <p:cNvPr id="11" name="Shape 9"/>
          <p:cNvSpPr/>
          <p:nvPr/>
        </p:nvSpPr>
        <p:spPr>
          <a:xfrm>
            <a:off x="3063240" y="1892808"/>
            <a:ext cx="109728" cy="109728"/>
          </a:xfrm>
          <a:prstGeom prst="ellipse">
            <a:avLst/>
          </a:prstGeom>
          <a:solidFill>
            <a:srgbClr val="B87716"/>
          </a:solidFill>
          <a:ln/>
        </p:spPr>
      </p:sp>
      <p:sp>
        <p:nvSpPr>
          <p:cNvPr id="12" name="Text 10"/>
          <p:cNvSpPr txBox="1"/>
          <p:nvPr/>
        </p:nvSpPr>
        <p:spPr>
          <a:xfrm>
            <a:off x="3401568" y="1810512"/>
            <a:ext cx="2377440" cy="274320"/>
          </a:xfrm>
          <a:prstGeom prst="rect">
            <a:avLst/>
          </a:prstGeom>
          <a:noFill/>
          <a:ln/>
        </p:spPr>
        <p:txBody>
          <a:bodyPr wrap="square" lIns="0" tIns="0" rIns="0" bIns="0" rtlCol="0" anchor="ctr"/>
          <a:lstStyle/>
          <a:p>
            <a:pPr indent="0" marL="0">
              <a:buNone/>
            </a:pPr>
            <a:r>
              <a:rPr lang="en-US" sz="1250" dirty="0">
                <a:solidFill>
                  <a:srgbClr val="24364F"/>
                </a:solidFill>
                <a:latin typeface="Calibri" pitchFamily="34" charset="0"/>
                <a:ea typeface="Calibri" pitchFamily="34" charset="-122"/>
                <a:cs typeface="Calibri" pitchFamily="34" charset="-120"/>
              </a:rPr>
              <a:t>Unseen (excludes A)</a:t>
            </a:r>
            <a:endParaRPr lang="en-US" sz="1250" dirty="0"/>
          </a:p>
        </p:txBody>
      </p:sp>
      <p:sp>
        <p:nvSpPr>
          <p:cNvPr id="13" name="Text 11"/>
          <p:cNvSpPr txBox="1"/>
          <p:nvPr/>
        </p:nvSpPr>
        <p:spPr>
          <a:xfrm>
            <a:off x="548640" y="2212848"/>
            <a:ext cx="5303520" cy="292608"/>
          </a:xfrm>
          <a:prstGeom prst="rect">
            <a:avLst/>
          </a:prstGeom>
          <a:noFill/>
          <a:ln/>
        </p:spPr>
        <p:txBody>
          <a:bodyPr wrap="square" lIns="0" tIns="0" rIns="0" bIns="0" rtlCol="0" anchor="t"/>
          <a:lstStyle/>
          <a:p>
            <a:pPr indent="0" marL="0">
              <a:buNone/>
            </a:pPr>
            <a:r>
              <a:rPr lang="en-US" sz="1450" b="1" dirty="0">
                <a:solidFill>
                  <a:srgbClr val="0E1E33"/>
                </a:solidFill>
                <a:latin typeface="Calibri" pitchFamily="34" charset="0"/>
                <a:ea typeface="Calibri" pitchFamily="34" charset="-122"/>
                <a:cs typeface="Calibri" pitchFamily="34" charset="-120"/>
              </a:rPr>
              <a:t>Training BCE</a:t>
            </a:r>
            <a:endParaRPr lang="en-US" sz="1450" dirty="0"/>
          </a:p>
        </p:txBody>
      </p:sp>
      <p:graphicFrame>
        <p:nvGraphicFramePr>
          <p:cNvPr id="14" name="Chart 0" descr="Line chart of training BCE by epoch: seen 0.712 to 0.048, unseen 0.685 to 0.040"/>
          <p:cNvGraphicFramePr/>
          <p:nvPr/>
        </p:nvGraphicFramePr>
        <p:xfrm>
          <a:off x="457200" y="2542032"/>
          <a:ext cx="5440680" cy="288036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6336792" y="2212848"/>
            <a:ext cx="5303520" cy="292608"/>
          </a:xfrm>
          <a:prstGeom prst="rect">
            <a:avLst/>
          </a:prstGeom>
          <a:noFill/>
          <a:ln/>
        </p:spPr>
        <p:txBody>
          <a:bodyPr wrap="square" lIns="0" tIns="0" rIns="0" bIns="0" rtlCol="0" anchor="t"/>
          <a:lstStyle/>
          <a:p>
            <a:pPr indent="0" marL="0">
              <a:buNone/>
            </a:pPr>
            <a:r>
              <a:rPr lang="en-US" sz="1450" b="1" dirty="0">
                <a:solidFill>
                  <a:srgbClr val="0E1E33"/>
                </a:solidFill>
                <a:latin typeface="Calibri" pitchFamily="34" charset="0"/>
                <a:ea typeface="Calibri" pitchFamily="34" charset="-122"/>
                <a:cs typeface="Calibri" pitchFamily="34" charset="-120"/>
              </a:rPr>
              <a:t>Shared validation BCE (no A cases)</a:t>
            </a:r>
            <a:endParaRPr lang="en-US" sz="1450" dirty="0"/>
          </a:p>
        </p:txBody>
      </p:sp>
      <p:graphicFrame>
        <p:nvGraphicFramePr>
          <p:cNvPr id="16" name="Chart 1" descr="Line chart of shared validation BCE by epoch; minimum at epoch 3 for seen (0.521) and epoch 4 for unseen (0.597)"/>
          <p:cNvGraphicFramePr/>
          <p:nvPr/>
        </p:nvGraphicFramePr>
        <p:xfrm>
          <a:off x="6245352" y="2542032"/>
          <a:ext cx="5440680" cy="2880360"/>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txBox="1"/>
          <p:nvPr/>
        </p:nvSpPr>
        <p:spPr>
          <a:xfrm>
            <a:off x="548640" y="5532120"/>
            <a:ext cx="5303520" cy="310896"/>
          </a:xfrm>
          <a:prstGeom prst="rect">
            <a:avLst/>
          </a:prstGeom>
          <a:noFill/>
          <a:ln/>
        </p:spPr>
        <p:txBody>
          <a:bodyPr wrap="square" lIns="0" tIns="0" rIns="0" bIns="0" rtlCol="0" anchor="ctr"/>
          <a:lstStyle/>
          <a:p>
            <a:pPr indent="0" marL="0">
              <a:buNone/>
            </a:pPr>
            <a:r>
              <a:rPr lang="en-US" sz="1300" b="1" dirty="0">
                <a:solidFill>
                  <a:srgbClr val="2266AA"/>
                </a:solidFill>
                <a:latin typeface="Calibri" pitchFamily="34" charset="0"/>
                <a:ea typeface="Calibri" pitchFamily="34" charset="-122"/>
                <a:cs typeface="Calibri" pitchFamily="34" charset="-120"/>
              </a:rPr>
              <a:t>Seen  </a:t>
            </a:r>
            <a:pPr indent="0" marL="0">
              <a:buNone/>
            </a:pPr>
            <a:r>
              <a:rPr lang="en-US" sz="1300" dirty="0">
                <a:solidFill>
                  <a:srgbClr val="24364F"/>
                </a:solidFill>
                <a:latin typeface="Calibri" pitchFamily="34" charset="0"/>
                <a:ea typeface="Calibri" pitchFamily="34" charset="-122"/>
                <a:cs typeface="Calibri" pitchFamily="34" charset="-120"/>
              </a:rPr>
              <a:t>0.712 → 0.048</a:t>
            </a:r>
            <a:pPr indent="0" marL="0">
              <a:buNone/>
            </a:pPr>
            <a:r>
              <a:rPr lang="en-US" sz="1300" b="1" dirty="0">
                <a:solidFill>
                  <a:srgbClr val="B87716"/>
                </a:solidFill>
                <a:latin typeface="Calibri" pitchFamily="34" charset="0"/>
                <a:ea typeface="Calibri" pitchFamily="34" charset="-122"/>
                <a:cs typeface="Calibri" pitchFamily="34" charset="-120"/>
              </a:rPr>
              <a:t>      Unseen  </a:t>
            </a:r>
            <a:pPr indent="0" marL="0">
              <a:buNone/>
            </a:pPr>
            <a:r>
              <a:rPr lang="en-US" sz="1300" dirty="0">
                <a:solidFill>
                  <a:srgbClr val="24364F"/>
                </a:solidFill>
                <a:latin typeface="Calibri" pitchFamily="34" charset="0"/>
                <a:ea typeface="Calibri" pitchFamily="34" charset="-122"/>
                <a:cs typeface="Calibri" pitchFamily="34" charset="-120"/>
              </a:rPr>
              <a:t>0.685 → 0.040</a:t>
            </a:r>
            <a:endParaRPr lang="en-US" sz="1300" dirty="0"/>
          </a:p>
        </p:txBody>
      </p:sp>
      <p:sp>
        <p:nvSpPr>
          <p:cNvPr id="18" name="Text 14"/>
          <p:cNvSpPr txBox="1"/>
          <p:nvPr/>
        </p:nvSpPr>
        <p:spPr>
          <a:xfrm>
            <a:off x="6336792" y="5532120"/>
            <a:ext cx="5303520" cy="310896"/>
          </a:xfrm>
          <a:prstGeom prst="rect">
            <a:avLst/>
          </a:prstGeom>
          <a:noFill/>
          <a:ln/>
        </p:spPr>
        <p:txBody>
          <a:bodyPr wrap="square" lIns="0" tIns="0" rIns="0" bIns="0" rtlCol="0" anchor="ctr"/>
          <a:lstStyle/>
          <a:p>
            <a:pPr indent="0" marL="0">
              <a:buNone/>
            </a:pPr>
            <a:r>
              <a:rPr lang="en-US" sz="1300" b="1" dirty="0">
                <a:solidFill>
                  <a:srgbClr val="0E1E33"/>
                </a:solidFill>
                <a:latin typeface="Calibri" pitchFamily="34" charset="0"/>
                <a:ea typeface="Calibri" pitchFamily="34" charset="-122"/>
                <a:cs typeface="Calibri" pitchFamily="34" charset="-120"/>
              </a:rPr>
              <a:t>Kept:  </a:t>
            </a:r>
            <a:pPr indent="0" marL="0">
              <a:buNone/>
            </a:pPr>
            <a:r>
              <a:rPr lang="en-US" sz="1300" b="1" dirty="0">
                <a:solidFill>
                  <a:srgbClr val="2266AA"/>
                </a:solidFill>
                <a:latin typeface="Calibri" pitchFamily="34" charset="0"/>
                <a:ea typeface="Calibri" pitchFamily="34" charset="-122"/>
                <a:cs typeface="Calibri" pitchFamily="34" charset="-120"/>
              </a:rPr>
              <a:t>seen epoch 3 · 0.521</a:t>
            </a:r>
            <a:pPr indent="0" marL="0">
              <a:buNone/>
            </a:pPr>
            <a:r>
              <a:rPr lang="en-US" sz="1300" dirty="0">
                <a:solidFill>
                  <a:srgbClr val="0E1E33"/>
                </a:solidFill>
                <a:latin typeface="Calibri" pitchFamily="34" charset="0"/>
                <a:ea typeface="Calibri" pitchFamily="34" charset="-122"/>
                <a:cs typeface="Calibri" pitchFamily="34" charset="-120"/>
              </a:rPr>
              <a:t>      </a:t>
            </a:r>
            <a:pPr indent="0" marL="0">
              <a:buNone/>
            </a:pPr>
            <a:r>
              <a:rPr lang="en-US" sz="1300" b="1" dirty="0">
                <a:solidFill>
                  <a:srgbClr val="B87716"/>
                </a:solidFill>
                <a:latin typeface="Calibri" pitchFamily="34" charset="0"/>
                <a:ea typeface="Calibri" pitchFamily="34" charset="-122"/>
                <a:cs typeface="Calibri" pitchFamily="34" charset="-120"/>
              </a:rPr>
              <a:t>unseen epoch 4 · 0.597</a:t>
            </a:r>
            <a:endParaRPr lang="en-US" sz="1300" dirty="0"/>
          </a:p>
        </p:txBody>
      </p:sp>
      <p:sp>
        <p:nvSpPr>
          <p:cNvPr id="19" name="Text 15"/>
          <p:cNvSpPr txBox="1"/>
          <p:nvPr/>
        </p:nvSpPr>
        <p:spPr>
          <a:xfrm>
            <a:off x="548640" y="6144768"/>
            <a:ext cx="10241280" cy="384048"/>
          </a:xfrm>
          <a:prstGeom prst="rect">
            <a:avLst/>
          </a:prstGeom>
          <a:noFill/>
          <a:ln/>
        </p:spPr>
        <p:txBody>
          <a:bodyPr wrap="square" lIns="0" tIns="0" rIns="0" bIns="0" rtlCol="0" anchor="b"/>
          <a:lstStyle/>
          <a:p>
            <a:pPr indent="0" marL="0">
              <a:buNone/>
            </a:pPr>
            <a:r>
              <a:rPr lang="en-US" sz="950" dirty="0">
                <a:solidFill>
                  <a:srgbClr val="8793A3"/>
                </a:solidFill>
                <a:latin typeface="Calibri" pitchFamily="34" charset="0"/>
                <a:ea typeface="Calibri" pitchFamily="34" charset="-122"/>
                <a:cs typeface="Calibri" pitchFamily="34" charset="-120"/>
              </a:rPr>
              <a:t>BCE = binary cross-entropy (lower is better); note the different y-axis ranges. Validation excludes A and each curve is one run, so the curves select epochs; they do not compare the groups.</a:t>
            </a:r>
            <a:endParaRPr lang="en-US" sz="950" dirty="0"/>
          </a:p>
        </p:txBody>
      </p:sp>
      <p:sp>
        <p:nvSpPr>
          <p:cNvPr id="20" name="Text 16"/>
          <p:cNvSpPr txBox="1"/>
          <p:nvPr/>
        </p:nvSpPr>
        <p:spPr>
          <a:xfrm>
            <a:off x="11094415" y="6254496"/>
            <a:ext cx="548640" cy="274320"/>
          </a:xfrm>
          <a:prstGeom prst="rect">
            <a:avLst/>
          </a:prstGeom>
          <a:noFill/>
          <a:ln/>
        </p:spPr>
        <p:txBody>
          <a:bodyPr wrap="square" lIns="0" tIns="0" rIns="0" bIns="0" rtlCol="0" anchor="b"/>
          <a:lstStyle/>
          <a:p>
            <a:pPr algn="r" indent="0" marL="0">
              <a:buNone/>
            </a:pPr>
            <a:r>
              <a:rPr lang="en-US" sz="1000" b="1" dirty="0">
                <a:solidFill>
                  <a:srgbClr val="5B6B7F"/>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84048"/>
            <a:ext cx="384048" cy="237744"/>
          </a:xfrm>
          <a:prstGeom prst="roundRect">
            <a:avLst>
              <a:gd name="adj" fmla="val 19231"/>
            </a:avLst>
          </a:prstGeom>
          <a:solidFill>
            <a:srgbClr val="0E1E33"/>
          </a:solidFill>
          <a:ln/>
        </p:spPr>
      </p:sp>
      <p:sp>
        <p:nvSpPr>
          <p:cNvPr id="3" name="Text 1"/>
          <p:cNvSpPr txBox="1"/>
          <p:nvPr/>
        </p:nvSpPr>
        <p:spPr>
          <a:xfrm>
            <a:off x="548640" y="384048"/>
            <a:ext cx="38404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4" name="Text 2"/>
          <p:cNvSpPr txBox="1"/>
          <p:nvPr/>
        </p:nvSpPr>
        <p:spPr>
          <a:xfrm>
            <a:off x="1060704" y="384048"/>
            <a:ext cx="6400800" cy="237744"/>
          </a:xfrm>
          <a:prstGeom prst="rect">
            <a:avLst/>
          </a:prstGeom>
          <a:noFill/>
          <a:ln/>
        </p:spPr>
        <p:txBody>
          <a:bodyPr wrap="square" lIns="0" tIns="0" rIns="0" bIns="0" rtlCol="0" anchor="ctr"/>
          <a:lstStyle/>
          <a:p>
            <a:pPr indent="0" marL="0">
              <a:buNone/>
            </a:pPr>
            <a:r>
              <a:rPr lang="en-US" sz="1050" b="1" spc="150" kern="0" dirty="0">
                <a:solidFill>
                  <a:srgbClr val="5B6B7F"/>
                </a:solidFill>
                <a:latin typeface="Calibri" pitchFamily="34" charset="0"/>
                <a:ea typeface="Calibri" pitchFamily="34" charset="-122"/>
                <a:cs typeface="Calibri" pitchFamily="34" charset="-120"/>
              </a:rPr>
              <a:t>RESULTS</a:t>
            </a:r>
            <a:endParaRPr lang="en-US" sz="1050" dirty="0"/>
          </a:p>
        </p:txBody>
      </p:sp>
      <p:sp>
        <p:nvSpPr>
          <p:cNvPr id="5" name="Text 3"/>
          <p:cNvSpPr txBox="1"/>
          <p:nvPr/>
        </p:nvSpPr>
        <p:spPr>
          <a:xfrm>
            <a:off x="548640" y="731520"/>
            <a:ext cx="11094415" cy="548640"/>
          </a:xfrm>
          <a:prstGeom prst="rect">
            <a:avLst/>
          </a:prstGeom>
          <a:noFill/>
          <a:ln/>
        </p:spPr>
        <p:txBody>
          <a:bodyPr wrap="square" lIns="0" tIns="0" rIns="0" bIns="0" rtlCol="0" anchor="ctr"/>
          <a:lstStyle/>
          <a:p>
            <a:pPr indent="0" marL="0">
              <a:buNone/>
            </a:pPr>
            <a:r>
              <a:rPr lang="en-US" sz="2800" b="1" dirty="0">
                <a:solidFill>
                  <a:srgbClr val="0E1E33"/>
                </a:solidFill>
                <a:latin typeface="Calibri" pitchFamily="34" charset="0"/>
                <a:ea typeface="Calibri" pitchFamily="34" charset="-122"/>
                <a:cs typeface="Calibri" pitchFamily="34" charset="-120"/>
              </a:rPr>
              <a:t>Same 109 test studies: AUROC 0.673 (seen) vs 0.677 (unseen)</a:t>
            </a:r>
            <a:endParaRPr lang="en-US" sz="2800" dirty="0"/>
          </a:p>
        </p:txBody>
      </p:sp>
      <p:sp>
        <p:nvSpPr>
          <p:cNvPr id="6" name="Text 4"/>
          <p:cNvSpPr txBox="1"/>
          <p:nvPr/>
        </p:nvSpPr>
        <p:spPr>
          <a:xfrm>
            <a:off x="548640" y="1280160"/>
            <a:ext cx="11094415" cy="329184"/>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Both models beat a constant-probability baseline, and their ROC curves cross repeatedly.</a:t>
            </a:r>
            <a:endParaRPr lang="en-US" sz="1500" dirty="0"/>
          </a:p>
        </p:txBody>
      </p:sp>
      <p:pic>
        <p:nvPicPr>
          <p:cNvPr id="7" name="Image 0" descr="ROC curves on the common test cohort: seen AUC 0.673, unseen AUC 0.677, both above the chance diagonal">    </p:cNvPr>
          <p:cNvPicPr>
            <a:picLocks noChangeAspect="1"/>
          </p:cNvPicPr>
          <p:nvPr/>
        </p:nvPicPr>
        <p:blipFill>
          <a:blip r:embed="rId1"/>
          <a:stretch>
            <a:fillRect/>
          </a:stretch>
        </p:blipFill>
        <p:spPr>
          <a:xfrm>
            <a:off x="502920" y="1810512"/>
            <a:ext cx="5257800" cy="3758195"/>
          </a:xfrm>
          <a:prstGeom prst="rect">
            <a:avLst/>
          </a:prstGeom>
        </p:spPr>
      </p:pic>
      <p:sp>
        <p:nvSpPr>
          <p:cNvPr id="8" name="Text 5"/>
          <p:cNvSpPr txBox="1"/>
          <p:nvPr/>
        </p:nvSpPr>
        <p:spPr>
          <a:xfrm>
            <a:off x="548640" y="5641859"/>
            <a:ext cx="5257800" cy="384048"/>
          </a:xfrm>
          <a:prstGeom prst="rect">
            <a:avLst/>
          </a:prstGeom>
          <a:noFill/>
          <a:ln/>
        </p:spPr>
        <p:txBody>
          <a:bodyPr wrap="square" lIns="0" tIns="0" rIns="0" bIns="0" rtlCol="0" anchor="t"/>
          <a:lstStyle/>
          <a:p>
            <a:pPr indent="0" marL="0">
              <a:buNone/>
            </a:pPr>
            <a:r>
              <a:rPr lang="en-US" sz="1000" dirty="0">
                <a:solidFill>
                  <a:srgbClr val="8793A3"/>
                </a:solidFill>
                <a:latin typeface="Calibri" pitchFamily="34" charset="0"/>
                <a:ea typeface="Calibri" pitchFamily="34" charset="-122"/>
                <a:cs typeface="Calibri" pitchFamily="34" charset="-120"/>
              </a:rPr>
              <a:t>ROC on the common test cohort (109 studies · 55 patients · 39 positive). Figure: results/midterm_v1/results.png</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172200" y="1847088"/>
          <a:ext cx="5470855" cy="914400"/>
        </p:xfrm>
        <a:graphic>
          <a:graphicData uri="http://schemas.openxmlformats.org/drawingml/2006/table">
            <a:tbl>
              <a:tblPr/>
              <a:tblGrid>
                <a:gridCol w="1600200"/>
                <a:gridCol w="1188720"/>
                <a:gridCol w="1188720"/>
                <a:gridCol w="1493215"/>
              </a:tblGrid>
              <a:tr h="420624">
                <a:tc>
                  <a:txBody>
                    <a:bodyPr/>
                    <a:lstStyle/>
                    <a:p>
                      <a:pPr algn="l" indent="0" marL="0">
                        <a:buNone/>
                      </a:pPr>
                      <a:r>
                        <a:rPr lang="en-US" sz="1250" b="1" dirty="0">
                          <a:solidFill>
                            <a:srgbClr val="5B6B7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15875" cap="flat" cmpd="sng" algn="ctr">
                      <a:solidFill>
                        <a:srgbClr val="0E1E33"/>
                      </a:solidFill>
                      <a:prstDash val="solid"/>
                      <a:round/>
                      <a:headEnd type="none" w="med" len="med"/>
                      <a:tailEnd type="none" w="med" len="med"/>
                    </a:lnB>
                  </a:tcPr>
                </a:tc>
                <a:tc>
                  <a:txBody>
                    <a:bodyPr/>
                    <a:lstStyle/>
                    <a:p>
                      <a:pPr algn="ctr" indent="0" marL="0">
                        <a:buNone/>
                      </a:pPr>
                      <a:r>
                        <a:rPr lang="en-US" sz="1250" b="1" dirty="0">
                          <a:solidFill>
                            <a:srgbClr val="2266AA"/>
                          </a:solidFill>
                          <a:latin typeface="Calibri" pitchFamily="34" charset="0"/>
                          <a:ea typeface="Calibri" pitchFamily="34" charset="-122"/>
                          <a:cs typeface="Calibri" pitchFamily="34" charset="-120"/>
                        </a:rPr>
                        <a:t>Seen</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15875" cap="flat" cmpd="sng" algn="ctr">
                      <a:solidFill>
                        <a:srgbClr val="0E1E33"/>
                      </a:solidFill>
                      <a:prstDash val="solid"/>
                      <a:round/>
                      <a:headEnd type="none" w="med" len="med"/>
                      <a:tailEnd type="none" w="med" len="med"/>
                    </a:lnB>
                  </a:tcPr>
                </a:tc>
                <a:tc>
                  <a:txBody>
                    <a:bodyPr/>
                    <a:lstStyle/>
                    <a:p>
                      <a:pPr algn="ctr" indent="0" marL="0">
                        <a:buNone/>
                      </a:pPr>
                      <a:r>
                        <a:rPr lang="en-US" sz="1250" b="1" dirty="0">
                          <a:solidFill>
                            <a:srgbClr val="B87716"/>
                          </a:solidFill>
                          <a:latin typeface="Calibri" pitchFamily="34" charset="0"/>
                          <a:ea typeface="Calibri" pitchFamily="34" charset="-122"/>
                          <a:cs typeface="Calibri" pitchFamily="34" charset="-120"/>
                        </a:rPr>
                        <a:t>Unseen</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15875" cap="flat" cmpd="sng" algn="ctr">
                      <a:solidFill>
                        <a:srgbClr val="0E1E33"/>
                      </a:solidFill>
                      <a:prstDash val="solid"/>
                      <a:round/>
                      <a:headEnd type="none" w="med" len="med"/>
                      <a:tailEnd type="none" w="med" len="med"/>
                    </a:lnB>
                  </a:tcPr>
                </a:tc>
                <a:tc>
                  <a:txBody>
                    <a:bodyPr/>
                    <a:lstStyle/>
                    <a:p>
                      <a:pPr algn="ctr" indent="0" marL="0">
                        <a:buNone/>
                      </a:pPr>
                      <a:r>
                        <a:rPr lang="en-US" sz="1250" b="1" dirty="0">
                          <a:solidFill>
                            <a:srgbClr val="5B6B7F"/>
                          </a:solidFill>
                          <a:latin typeface="Calibri" pitchFamily="34" charset="0"/>
                          <a:ea typeface="Calibri" pitchFamily="34" charset="-122"/>
                          <a:cs typeface="Calibri" pitchFamily="34" charset="-120"/>
                        </a:rPr>
                        <a:t>Constant baseline</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15875" cap="flat" cmpd="sng" algn="ctr">
                      <a:solidFill>
                        <a:srgbClr val="0E1E33"/>
                      </a:solidFill>
                      <a:prstDash val="solid"/>
                      <a:round/>
                      <a:headEnd type="none" w="med" len="med"/>
                      <a:tailEnd type="none" w="med" len="med"/>
                    </a:lnB>
                  </a:tcPr>
                </a:tc>
              </a:tr>
              <a:tr h="512064">
                <a:tc>
                  <a:txBody>
                    <a:bodyPr/>
                    <a:lstStyle/>
                    <a:p>
                      <a:pPr algn="l" indent="0" marL="0">
                        <a:buNone/>
                      </a:pPr>
                      <a:r>
                        <a:rPr lang="en-US" sz="1500" b="1" dirty="0">
                          <a:solidFill>
                            <a:srgbClr val="0E1E33"/>
                          </a:solidFill>
                          <a:latin typeface="Calibri" pitchFamily="34" charset="0"/>
                          <a:ea typeface="Calibri" pitchFamily="34" charset="-122"/>
                          <a:cs typeface="Calibri" pitchFamily="34" charset="-120"/>
                        </a:rPr>
                        <a:t>AUROC ↑</a:t>
                      </a:r>
                      <a:endParaRPr lang="en-US" sz="15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algn="ctr" indent="0" marL="0">
                        <a:buNone/>
                      </a:pPr>
                      <a:r>
                        <a:rPr lang="en-US" sz="1700" dirty="0">
                          <a:solidFill>
                            <a:srgbClr val="0E1E33"/>
                          </a:solidFill>
                          <a:latin typeface="Calibri" pitchFamily="34" charset="0"/>
                          <a:ea typeface="Calibri" pitchFamily="34" charset="-122"/>
                          <a:cs typeface="Calibri" pitchFamily="34" charset="-120"/>
                        </a:rPr>
                        <a:t>0.673</a:t>
                      </a:r>
                      <a:endParaRPr lang="en-US" sz="17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algn="ctr" indent="0" marL="0">
                        <a:buNone/>
                      </a:pPr>
                      <a:r>
                        <a:rPr lang="en-US" sz="1700" dirty="0">
                          <a:solidFill>
                            <a:srgbClr val="0E1E33"/>
                          </a:solidFill>
                          <a:latin typeface="Calibri" pitchFamily="34" charset="0"/>
                          <a:ea typeface="Calibri" pitchFamily="34" charset="-122"/>
                          <a:cs typeface="Calibri" pitchFamily="34" charset="-120"/>
                        </a:rPr>
                        <a:t>0.677</a:t>
                      </a:r>
                      <a:endParaRPr lang="en-US" sz="17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algn="ctr" indent="0" marL="0">
                        <a:buNone/>
                      </a:pPr>
                      <a:r>
                        <a:rPr lang="en-US" sz="1500" dirty="0">
                          <a:solidFill>
                            <a:srgbClr val="5B6B7F"/>
                          </a:solidFill>
                          <a:latin typeface="Calibri" pitchFamily="34" charset="0"/>
                          <a:ea typeface="Calibri" pitchFamily="34" charset="-122"/>
                          <a:cs typeface="Calibri" pitchFamily="34" charset="-120"/>
                        </a:rPr>
                        <a:t>0.500</a:t>
                      </a:r>
                      <a:endParaRPr lang="en-US" sz="15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r>
              <a:tr h="512064">
                <a:tc>
                  <a:txBody>
                    <a:bodyPr/>
                    <a:lstStyle/>
                    <a:p>
                      <a:pPr algn="l" indent="0" marL="0">
                        <a:buNone/>
                      </a:pPr>
                      <a:r>
                        <a:rPr lang="en-US" sz="1500" b="1" dirty="0">
                          <a:solidFill>
                            <a:srgbClr val="0E1E33"/>
                          </a:solidFill>
                          <a:latin typeface="Calibri" pitchFamily="34" charset="0"/>
                          <a:ea typeface="Calibri" pitchFamily="34" charset="-122"/>
                          <a:cs typeface="Calibri" pitchFamily="34" charset="-120"/>
                        </a:rPr>
                        <a:t>AUPRC ↑</a:t>
                      </a:r>
                      <a:endParaRPr lang="en-US" sz="15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algn="ctr" indent="0" marL="0">
                        <a:buNone/>
                      </a:pPr>
                      <a:r>
                        <a:rPr lang="en-US" sz="1700" dirty="0">
                          <a:solidFill>
                            <a:srgbClr val="0E1E33"/>
                          </a:solidFill>
                          <a:latin typeface="Calibri" pitchFamily="34" charset="0"/>
                          <a:ea typeface="Calibri" pitchFamily="34" charset="-122"/>
                          <a:cs typeface="Calibri" pitchFamily="34" charset="-120"/>
                        </a:rPr>
                        <a:t>0.511</a:t>
                      </a:r>
                      <a:endParaRPr lang="en-US" sz="17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algn="ctr" indent="0" marL="0">
                        <a:buNone/>
                      </a:pPr>
                      <a:r>
                        <a:rPr lang="en-US" sz="1700" dirty="0">
                          <a:solidFill>
                            <a:srgbClr val="0E1E33"/>
                          </a:solidFill>
                          <a:latin typeface="Calibri" pitchFamily="34" charset="0"/>
                          <a:ea typeface="Calibri" pitchFamily="34" charset="-122"/>
                          <a:cs typeface="Calibri" pitchFamily="34" charset="-120"/>
                        </a:rPr>
                        <a:t>0.573</a:t>
                      </a:r>
                      <a:endParaRPr lang="en-US" sz="17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algn="ctr" indent="0" marL="0">
                        <a:buNone/>
                      </a:pPr>
                      <a:r>
                        <a:rPr lang="en-US" sz="1500" dirty="0">
                          <a:solidFill>
                            <a:srgbClr val="5B6B7F"/>
                          </a:solidFill>
                          <a:latin typeface="Calibri" pitchFamily="34" charset="0"/>
                          <a:ea typeface="Calibri" pitchFamily="34" charset="-122"/>
                          <a:cs typeface="Calibri" pitchFamily="34" charset="-120"/>
                        </a:rPr>
                        <a:t>0.358</a:t>
                      </a:r>
                      <a:endParaRPr lang="en-US" sz="15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r>
              <a:tr h="512064">
                <a:tc>
                  <a:txBody>
                    <a:bodyPr/>
                    <a:lstStyle/>
                    <a:p>
                      <a:pPr algn="l" indent="0" marL="0">
                        <a:buNone/>
                      </a:pPr>
                      <a:r>
                        <a:rPr lang="en-US" sz="1500" b="1" dirty="0">
                          <a:solidFill>
                            <a:srgbClr val="0E1E33"/>
                          </a:solidFill>
                          <a:latin typeface="Calibri" pitchFamily="34" charset="0"/>
                          <a:ea typeface="Calibri" pitchFamily="34" charset="-122"/>
                          <a:cs typeface="Calibri" pitchFamily="34" charset="-120"/>
                        </a:rPr>
                        <a:t>Brier ↓</a:t>
                      </a:r>
                      <a:endParaRPr lang="en-US" sz="15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algn="ctr" indent="0" marL="0">
                        <a:buNone/>
                      </a:pPr>
                      <a:r>
                        <a:rPr lang="en-US" sz="1700" dirty="0">
                          <a:solidFill>
                            <a:srgbClr val="0E1E33"/>
                          </a:solidFill>
                          <a:latin typeface="Calibri" pitchFamily="34" charset="0"/>
                          <a:ea typeface="Calibri" pitchFamily="34" charset="-122"/>
                          <a:cs typeface="Calibri" pitchFamily="34" charset="-120"/>
                        </a:rPr>
                        <a:t>0.222</a:t>
                      </a:r>
                      <a:endParaRPr lang="en-US" sz="17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algn="ctr" indent="0" marL="0">
                        <a:buNone/>
                      </a:pPr>
                      <a:r>
                        <a:rPr lang="en-US" sz="1700" dirty="0">
                          <a:solidFill>
                            <a:srgbClr val="0E1E33"/>
                          </a:solidFill>
                          <a:latin typeface="Calibri" pitchFamily="34" charset="0"/>
                          <a:ea typeface="Calibri" pitchFamily="34" charset="-122"/>
                          <a:cs typeface="Calibri" pitchFamily="34" charset="-120"/>
                        </a:rPr>
                        <a:t>0.219</a:t>
                      </a:r>
                      <a:endParaRPr lang="en-US" sz="17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algn="ctr" indent="0" marL="0">
                        <a:buNone/>
                      </a:pPr>
                      <a:r>
                        <a:rPr lang="en-US" sz="1500" dirty="0">
                          <a:solidFill>
                            <a:srgbClr val="5B6B7F"/>
                          </a:solidFill>
                          <a:latin typeface="Calibri" pitchFamily="34" charset="0"/>
                          <a:ea typeface="Calibri" pitchFamily="34" charset="-122"/>
                          <a:cs typeface="Calibri" pitchFamily="34" charset="-120"/>
                        </a:rPr>
                        <a:t>0.246</a:t>
                      </a:r>
                      <a:endParaRPr lang="en-US" sz="15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r>
            </a:tbl>
          </a:graphicData>
        </a:graphic>
      </p:graphicFrame>
      <p:sp>
        <p:nvSpPr>
          <p:cNvPr id="10" name="Text 6"/>
          <p:cNvSpPr txBox="1"/>
          <p:nvPr/>
        </p:nvSpPr>
        <p:spPr>
          <a:xfrm>
            <a:off x="6172200" y="4114800"/>
            <a:ext cx="5470855" cy="237744"/>
          </a:xfrm>
          <a:prstGeom prst="rect">
            <a:avLst/>
          </a:prstGeom>
          <a:noFill/>
          <a:ln/>
        </p:spPr>
        <p:txBody>
          <a:bodyPr wrap="square" lIns="0" tIns="0" rIns="0" bIns="0" rtlCol="0" anchor="t"/>
          <a:lstStyle/>
          <a:p>
            <a:pPr indent="0" marL="0">
              <a:buNone/>
            </a:pPr>
            <a:r>
              <a:rPr lang="en-US" sz="1050" b="1" spc="150" kern="0" dirty="0">
                <a:solidFill>
                  <a:srgbClr val="5B6B7F"/>
                </a:solidFill>
                <a:latin typeface="Calibri" pitchFamily="34" charset="0"/>
                <a:ea typeface="Calibri" pitchFamily="34" charset="-122"/>
                <a:cs typeface="Calibri" pitchFamily="34" charset="-120"/>
              </a:rPr>
              <a:t>HOW TO READ THE METRICS</a:t>
            </a:r>
            <a:endParaRPr lang="en-US" sz="1050" dirty="0"/>
          </a:p>
        </p:txBody>
      </p:sp>
      <p:sp>
        <p:nvSpPr>
          <p:cNvPr id="11" name="Text 7"/>
          <p:cNvSpPr txBox="1"/>
          <p:nvPr/>
        </p:nvSpPr>
        <p:spPr>
          <a:xfrm>
            <a:off x="6172200" y="4425696"/>
            <a:ext cx="5470855" cy="1554480"/>
          </a:xfrm>
          <a:prstGeom prst="rect">
            <a:avLst/>
          </a:prstGeom>
          <a:noFill/>
          <a:ln/>
        </p:spPr>
        <p:txBody>
          <a:bodyPr wrap="square" lIns="0" tIns="0" rIns="0" bIns="0" rtlCol="0" anchor="t"/>
          <a:lstStyle/>
          <a:p>
            <a:pPr indent="0" marL="0">
              <a:buNone/>
            </a:pPr>
            <a:r>
              <a:rPr lang="en-US" sz="1250" b="1" dirty="0">
                <a:solidFill>
                  <a:srgbClr val="0E1E33"/>
                </a:solidFill>
                <a:latin typeface="Calibri" pitchFamily="34" charset="0"/>
                <a:ea typeface="Calibri" pitchFamily="34" charset="-122"/>
                <a:cs typeface="Calibri" pitchFamily="34" charset="-120"/>
              </a:rPr>
              <a:t>AUROC  </a:t>
            </a:r>
            <a:pPr indent="0" marL="0">
              <a:spcAft>
                <a:spcPts val="600"/>
              </a:spcAft>
              <a:buNone/>
            </a:pPr>
            <a:r>
              <a:rPr lang="en-US" sz="1250" dirty="0">
                <a:solidFill>
                  <a:srgbClr val="24364F"/>
                </a:solidFill>
                <a:latin typeface="Calibri" pitchFamily="34" charset="0"/>
                <a:ea typeface="Calibri" pitchFamily="34" charset="-122"/>
                <a:cs typeface="Calibri" pitchFamily="34" charset="-120"/>
              </a:rPr>
              <a:t>chance that a random positive study is ranked above a random negative one (0.5 = chance). Not accuracy.</a:t>
            </a:r>
            <a:endParaRPr lang="en-US" sz="1250" dirty="0"/>
          </a:p>
          <a:p>
            <a:pPr indent="0" marL="0">
              <a:buNone/>
            </a:pPr>
            <a:r>
              <a:rPr lang="en-US" sz="1250" b="1" dirty="0">
                <a:solidFill>
                  <a:srgbClr val="0E1E33"/>
                </a:solidFill>
                <a:latin typeface="Calibri" pitchFamily="34" charset="0"/>
                <a:ea typeface="Calibri" pitchFamily="34" charset="-122"/>
                <a:cs typeface="Calibri" pitchFamily="34" charset="-120"/>
              </a:rPr>
              <a:t>AUPRC  </a:t>
            </a:r>
            <a:pPr indent="0" marL="0">
              <a:spcAft>
                <a:spcPts val="600"/>
              </a:spcAft>
              <a:buNone/>
            </a:pPr>
            <a:r>
              <a:rPr lang="en-US" sz="1250" dirty="0">
                <a:solidFill>
                  <a:srgbClr val="24364F"/>
                </a:solidFill>
                <a:latin typeface="Calibri" pitchFamily="34" charset="0"/>
                <a:ea typeface="Calibri" pitchFamily="34" charset="-122"/>
                <a:cs typeface="Calibri" pitchFamily="34" charset="-120"/>
              </a:rPr>
              <a:t>precision–recall summary; its chance level is the prevalence, 39/109 = 0.358.</a:t>
            </a:r>
            <a:endParaRPr lang="en-US" sz="1250" dirty="0"/>
          </a:p>
          <a:p>
            <a:pPr indent="0" marL="0">
              <a:buNone/>
            </a:pPr>
            <a:r>
              <a:rPr lang="en-US" sz="1250" b="1" dirty="0">
                <a:solidFill>
                  <a:srgbClr val="0E1E33"/>
                </a:solidFill>
                <a:latin typeface="Calibri" pitchFamily="34" charset="0"/>
                <a:ea typeface="Calibri" pitchFamily="34" charset="-122"/>
                <a:cs typeface="Calibri" pitchFamily="34" charset="-120"/>
              </a:rPr>
              <a:t>Brier  </a:t>
            </a:r>
            <a:pPr indent="0" marL="0">
              <a:spcAft>
                <a:spcPts val="600"/>
              </a:spcAft>
              <a:buNone/>
            </a:pPr>
            <a:r>
              <a:rPr lang="en-US" sz="1250" dirty="0">
                <a:solidFill>
                  <a:srgbClr val="24364F"/>
                </a:solidFill>
                <a:latin typeface="Calibri" pitchFamily="34" charset="0"/>
                <a:ea typeface="Calibri" pitchFamily="34" charset="-122"/>
                <a:cs typeface="Calibri" pitchFamily="34" charset="-120"/>
              </a:rPr>
              <a:t>mean squared error of the predicted probabilities; lower is better.</a:t>
            </a:r>
            <a:endParaRPr lang="en-US" sz="1250" dirty="0"/>
          </a:p>
        </p:txBody>
      </p:sp>
      <p:sp>
        <p:nvSpPr>
          <p:cNvPr id="12" name="Text 8"/>
          <p:cNvSpPr txBox="1"/>
          <p:nvPr/>
        </p:nvSpPr>
        <p:spPr>
          <a:xfrm>
            <a:off x="548640" y="6144768"/>
            <a:ext cx="10241280" cy="384048"/>
          </a:xfrm>
          <a:prstGeom prst="rect">
            <a:avLst/>
          </a:prstGeom>
          <a:noFill/>
          <a:ln/>
        </p:spPr>
        <p:txBody>
          <a:bodyPr wrap="square" lIns="0" tIns="0" rIns="0" bIns="0" rtlCol="0" anchor="b"/>
          <a:lstStyle/>
          <a:p>
            <a:pPr indent="0" marL="0">
              <a:buNone/>
            </a:pPr>
            <a:r>
              <a:rPr lang="en-US" sz="950" dirty="0">
                <a:solidFill>
                  <a:srgbClr val="8793A3"/>
                </a:solidFill>
                <a:latin typeface="Calibri" pitchFamily="34" charset="0"/>
                <a:ea typeface="Calibri" pitchFamily="34" charset="-122"/>
                <a:cs typeface="Calibri" pitchFamily="34" charset="-120"/>
              </a:rPr>
              <a:t>Constant baseline predicts the training positive rate for every study. Point estimates only; no separate significance test against the baseline.</a:t>
            </a:r>
            <a:endParaRPr lang="en-US" sz="950" dirty="0"/>
          </a:p>
        </p:txBody>
      </p:sp>
      <p:sp>
        <p:nvSpPr>
          <p:cNvPr id="13" name="Text 9"/>
          <p:cNvSpPr txBox="1"/>
          <p:nvPr/>
        </p:nvSpPr>
        <p:spPr>
          <a:xfrm>
            <a:off x="11094415" y="6254496"/>
            <a:ext cx="548640" cy="274320"/>
          </a:xfrm>
          <a:prstGeom prst="rect">
            <a:avLst/>
          </a:prstGeom>
          <a:noFill/>
          <a:ln/>
        </p:spPr>
        <p:txBody>
          <a:bodyPr wrap="square" lIns="0" tIns="0" rIns="0" bIns="0" rtlCol="0" anchor="b"/>
          <a:lstStyle/>
          <a:p>
            <a:pPr algn="r" indent="0" marL="0">
              <a:buNone/>
            </a:pPr>
            <a:r>
              <a:rPr lang="en-US" sz="1000" b="1" dirty="0">
                <a:solidFill>
                  <a:srgbClr val="5B6B7F"/>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84048"/>
            <a:ext cx="384048" cy="237744"/>
          </a:xfrm>
          <a:prstGeom prst="roundRect">
            <a:avLst>
              <a:gd name="adj" fmla="val 19231"/>
            </a:avLst>
          </a:prstGeom>
          <a:solidFill>
            <a:srgbClr val="0E1E33"/>
          </a:solidFill>
          <a:ln/>
        </p:spPr>
      </p:sp>
      <p:sp>
        <p:nvSpPr>
          <p:cNvPr id="3" name="Text 1"/>
          <p:cNvSpPr txBox="1"/>
          <p:nvPr/>
        </p:nvSpPr>
        <p:spPr>
          <a:xfrm>
            <a:off x="548640" y="384048"/>
            <a:ext cx="38404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4" name="Text 2"/>
          <p:cNvSpPr txBox="1"/>
          <p:nvPr/>
        </p:nvSpPr>
        <p:spPr>
          <a:xfrm>
            <a:off x="1060704" y="384048"/>
            <a:ext cx="6400800" cy="237744"/>
          </a:xfrm>
          <a:prstGeom prst="rect">
            <a:avLst/>
          </a:prstGeom>
          <a:noFill/>
          <a:ln/>
        </p:spPr>
        <p:txBody>
          <a:bodyPr wrap="square" lIns="0" tIns="0" rIns="0" bIns="0" rtlCol="0" anchor="ctr"/>
          <a:lstStyle/>
          <a:p>
            <a:pPr indent="0" marL="0">
              <a:buNone/>
            </a:pPr>
            <a:r>
              <a:rPr lang="en-US" sz="1050" b="1" spc="150" kern="0" dirty="0">
                <a:solidFill>
                  <a:srgbClr val="5B6B7F"/>
                </a:solidFill>
                <a:latin typeface="Calibri" pitchFamily="34" charset="0"/>
                <a:ea typeface="Calibri" pitchFamily="34" charset="-122"/>
                <a:cs typeface="Calibri" pitchFamily="34" charset="-120"/>
              </a:rPr>
              <a:t>RESULTS</a:t>
            </a:r>
            <a:endParaRPr lang="en-US" sz="1050" dirty="0"/>
          </a:p>
        </p:txBody>
      </p:sp>
      <p:sp>
        <p:nvSpPr>
          <p:cNvPr id="5" name="Text 3"/>
          <p:cNvSpPr txBox="1"/>
          <p:nvPr/>
        </p:nvSpPr>
        <p:spPr>
          <a:xfrm>
            <a:off x="548640" y="731520"/>
            <a:ext cx="11094415" cy="548640"/>
          </a:xfrm>
          <a:prstGeom prst="rect">
            <a:avLst/>
          </a:prstGeom>
          <a:noFill/>
          <a:ln/>
        </p:spPr>
        <p:txBody>
          <a:bodyPr wrap="square" lIns="0" tIns="0" rIns="0" bIns="0" rtlCol="0" anchor="ctr"/>
          <a:lstStyle/>
          <a:p>
            <a:pPr indent="0" marL="0">
              <a:buNone/>
            </a:pPr>
            <a:r>
              <a:rPr lang="en-US" sz="2800" b="1" dirty="0">
                <a:solidFill>
                  <a:srgbClr val="0E1E33"/>
                </a:solidFill>
                <a:latin typeface="Calibri" pitchFamily="34" charset="0"/>
                <a:ea typeface="Calibri" pitchFamily="34" charset="-122"/>
                <a:cs typeface="Calibri" pitchFamily="34" charset="-120"/>
              </a:rPr>
              <a:t>All three paired 95% intervals include zero</a:t>
            </a:r>
            <a:endParaRPr lang="en-US" sz="2800" dirty="0"/>
          </a:p>
        </p:txBody>
      </p:sp>
      <p:sp>
        <p:nvSpPr>
          <p:cNvPr id="6" name="Text 4"/>
          <p:cNvSpPr txBox="1"/>
          <p:nvPr/>
        </p:nvSpPr>
        <p:spPr>
          <a:xfrm>
            <a:off x="548640" y="1280160"/>
            <a:ext cx="11094415" cy="329184"/>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Seen − unseen on the same test patients: no stable difference in this pilot.</a:t>
            </a:r>
            <a:endParaRPr lang="en-US" sz="1500" dirty="0"/>
          </a:p>
        </p:txBody>
      </p:sp>
      <p:sp>
        <p:nvSpPr>
          <p:cNvPr id="7" name="Text 5"/>
          <p:cNvSpPr txBox="1"/>
          <p:nvPr/>
        </p:nvSpPr>
        <p:spPr>
          <a:xfrm>
            <a:off x="548640" y="1810512"/>
            <a:ext cx="1645920" cy="237744"/>
          </a:xfrm>
          <a:prstGeom prst="rect">
            <a:avLst/>
          </a:prstGeom>
          <a:noFill/>
          <a:ln/>
        </p:spPr>
        <p:txBody>
          <a:bodyPr wrap="square" lIns="0" tIns="0" rIns="0" bIns="0" rtlCol="0" anchor="t"/>
          <a:lstStyle/>
          <a:p>
            <a:pPr indent="0" marL="0">
              <a:buNone/>
            </a:pPr>
            <a:r>
              <a:rPr lang="en-US" sz="1050" b="1" spc="120" kern="0" dirty="0">
                <a:solidFill>
                  <a:srgbClr val="5B6B7F"/>
                </a:solidFill>
                <a:latin typeface="Calibri" pitchFamily="34" charset="0"/>
                <a:ea typeface="Calibri" pitchFamily="34" charset="-122"/>
                <a:cs typeface="Calibri" pitchFamily="34" charset="-120"/>
              </a:rPr>
              <a:t>METRIC</a:t>
            </a:r>
            <a:endParaRPr lang="en-US" sz="1050" dirty="0"/>
          </a:p>
        </p:txBody>
      </p:sp>
      <p:sp>
        <p:nvSpPr>
          <p:cNvPr id="8" name="Text 6"/>
          <p:cNvSpPr txBox="1"/>
          <p:nvPr/>
        </p:nvSpPr>
        <p:spPr>
          <a:xfrm>
            <a:off x="2468880" y="1810512"/>
            <a:ext cx="6035040" cy="237744"/>
          </a:xfrm>
          <a:prstGeom prst="rect">
            <a:avLst/>
          </a:prstGeom>
          <a:noFill/>
          <a:ln/>
        </p:spPr>
        <p:txBody>
          <a:bodyPr wrap="square" lIns="0" tIns="0" rIns="0" bIns="0" rtlCol="0" anchor="t"/>
          <a:lstStyle/>
          <a:p>
            <a:pPr algn="ctr" indent="0" marL="0">
              <a:buNone/>
            </a:pPr>
            <a:r>
              <a:rPr lang="en-US" sz="1050" b="1" spc="120" kern="0" dirty="0">
                <a:solidFill>
                  <a:srgbClr val="5B6B7F"/>
                </a:solidFill>
                <a:latin typeface="Calibri" pitchFamily="34" charset="0"/>
                <a:ea typeface="Calibri" pitchFamily="34" charset="-122"/>
                <a:cs typeface="Calibri" pitchFamily="34" charset="-120"/>
              </a:rPr>
              <a:t>SEEN − UNSEEN  (95% CI)</a:t>
            </a:r>
            <a:endParaRPr lang="en-US" sz="1050" dirty="0"/>
          </a:p>
        </p:txBody>
      </p:sp>
      <p:sp>
        <p:nvSpPr>
          <p:cNvPr id="9" name="Text 7"/>
          <p:cNvSpPr txBox="1"/>
          <p:nvPr/>
        </p:nvSpPr>
        <p:spPr>
          <a:xfrm>
            <a:off x="8823960" y="1810512"/>
            <a:ext cx="2819095" cy="237744"/>
          </a:xfrm>
          <a:prstGeom prst="rect">
            <a:avLst/>
          </a:prstGeom>
          <a:noFill/>
          <a:ln/>
        </p:spPr>
        <p:txBody>
          <a:bodyPr wrap="square" lIns="0" tIns="0" rIns="0" bIns="0" rtlCol="0" anchor="t"/>
          <a:lstStyle/>
          <a:p>
            <a:pPr algn="r" indent="0" marL="0">
              <a:buNone/>
            </a:pPr>
            <a:r>
              <a:rPr lang="en-US" sz="1050" b="1" spc="120" kern="0" dirty="0">
                <a:solidFill>
                  <a:srgbClr val="5B6B7F"/>
                </a:solidFill>
                <a:latin typeface="Calibri" pitchFamily="34" charset="0"/>
                <a:ea typeface="Calibri" pitchFamily="34" charset="-122"/>
                <a:cs typeface="Calibri" pitchFamily="34" charset="-120"/>
              </a:rPr>
              <a:t>ESTIMATE  [95% CI]</a:t>
            </a:r>
            <a:endParaRPr lang="en-US" sz="1050" dirty="0"/>
          </a:p>
        </p:txBody>
      </p:sp>
      <p:sp>
        <p:nvSpPr>
          <p:cNvPr id="10" name="Shape 8"/>
          <p:cNvSpPr/>
          <p:nvPr/>
        </p:nvSpPr>
        <p:spPr>
          <a:xfrm>
            <a:off x="2468880" y="2148840"/>
            <a:ext cx="0" cy="2167128"/>
          </a:xfrm>
          <a:prstGeom prst="line">
            <a:avLst/>
          </a:prstGeom>
          <a:noFill/>
          <a:ln w="9525">
            <a:solidFill>
              <a:srgbClr val="E4E9EF"/>
            </a:solidFill>
            <a:prstDash val="solid"/>
          </a:ln>
        </p:spPr>
      </p:sp>
      <p:sp>
        <p:nvSpPr>
          <p:cNvPr id="11" name="Text 9"/>
          <p:cNvSpPr txBox="1"/>
          <p:nvPr/>
        </p:nvSpPr>
        <p:spPr>
          <a:xfrm>
            <a:off x="2103120" y="4370832"/>
            <a:ext cx="731520" cy="237744"/>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−0.20</a:t>
            </a:r>
            <a:endParaRPr lang="en-US" sz="1100" dirty="0"/>
          </a:p>
        </p:txBody>
      </p:sp>
      <p:sp>
        <p:nvSpPr>
          <p:cNvPr id="12" name="Shape 10"/>
          <p:cNvSpPr/>
          <p:nvPr/>
        </p:nvSpPr>
        <p:spPr>
          <a:xfrm>
            <a:off x="3474720" y="2148840"/>
            <a:ext cx="0" cy="2167128"/>
          </a:xfrm>
          <a:prstGeom prst="line">
            <a:avLst/>
          </a:prstGeom>
          <a:noFill/>
          <a:ln w="9525">
            <a:solidFill>
              <a:srgbClr val="E4E9EF"/>
            </a:solidFill>
            <a:prstDash val="solid"/>
          </a:ln>
        </p:spPr>
      </p:sp>
      <p:sp>
        <p:nvSpPr>
          <p:cNvPr id="13" name="Text 11"/>
          <p:cNvSpPr txBox="1"/>
          <p:nvPr/>
        </p:nvSpPr>
        <p:spPr>
          <a:xfrm>
            <a:off x="3108960" y="4370832"/>
            <a:ext cx="731520" cy="237744"/>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−0.15</a:t>
            </a:r>
            <a:endParaRPr lang="en-US" sz="1100" dirty="0"/>
          </a:p>
        </p:txBody>
      </p:sp>
      <p:sp>
        <p:nvSpPr>
          <p:cNvPr id="14" name="Shape 12"/>
          <p:cNvSpPr/>
          <p:nvPr/>
        </p:nvSpPr>
        <p:spPr>
          <a:xfrm>
            <a:off x="4480560" y="2148840"/>
            <a:ext cx="0" cy="2167128"/>
          </a:xfrm>
          <a:prstGeom prst="line">
            <a:avLst/>
          </a:prstGeom>
          <a:noFill/>
          <a:ln w="9525">
            <a:solidFill>
              <a:srgbClr val="E4E9EF"/>
            </a:solidFill>
            <a:prstDash val="solid"/>
          </a:ln>
        </p:spPr>
      </p:sp>
      <p:sp>
        <p:nvSpPr>
          <p:cNvPr id="15" name="Text 13"/>
          <p:cNvSpPr txBox="1"/>
          <p:nvPr/>
        </p:nvSpPr>
        <p:spPr>
          <a:xfrm>
            <a:off x="4114800" y="4370832"/>
            <a:ext cx="731520" cy="237744"/>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−0.10</a:t>
            </a:r>
            <a:endParaRPr lang="en-US" sz="1100" dirty="0"/>
          </a:p>
        </p:txBody>
      </p:sp>
      <p:sp>
        <p:nvSpPr>
          <p:cNvPr id="16" name="Shape 14"/>
          <p:cNvSpPr/>
          <p:nvPr/>
        </p:nvSpPr>
        <p:spPr>
          <a:xfrm>
            <a:off x="5486400" y="2148840"/>
            <a:ext cx="0" cy="2167128"/>
          </a:xfrm>
          <a:prstGeom prst="line">
            <a:avLst/>
          </a:prstGeom>
          <a:noFill/>
          <a:ln w="9525">
            <a:solidFill>
              <a:srgbClr val="E4E9EF"/>
            </a:solidFill>
            <a:prstDash val="solid"/>
          </a:ln>
        </p:spPr>
      </p:sp>
      <p:sp>
        <p:nvSpPr>
          <p:cNvPr id="17" name="Text 15"/>
          <p:cNvSpPr txBox="1"/>
          <p:nvPr/>
        </p:nvSpPr>
        <p:spPr>
          <a:xfrm>
            <a:off x="5120640" y="4370832"/>
            <a:ext cx="731520" cy="237744"/>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−0.05</a:t>
            </a:r>
            <a:endParaRPr lang="en-US" sz="1100" dirty="0"/>
          </a:p>
        </p:txBody>
      </p:sp>
      <p:sp>
        <p:nvSpPr>
          <p:cNvPr id="18" name="Text 16"/>
          <p:cNvSpPr txBox="1"/>
          <p:nvPr/>
        </p:nvSpPr>
        <p:spPr>
          <a:xfrm>
            <a:off x="6126480" y="4370832"/>
            <a:ext cx="731520" cy="237744"/>
          </a:xfrm>
          <a:prstGeom prst="rect">
            <a:avLst/>
          </a:prstGeom>
          <a:noFill/>
          <a:ln/>
        </p:spPr>
        <p:txBody>
          <a:bodyPr wrap="square" lIns="0" tIns="0" rIns="0" bIns="0" rtlCol="0" anchor="t"/>
          <a:lstStyle/>
          <a:p>
            <a:pPr algn="ctr" indent="0" marL="0">
              <a:buNone/>
            </a:pPr>
            <a:r>
              <a:rPr lang="en-US" sz="1100" b="1" dirty="0">
                <a:solidFill>
                  <a:srgbClr val="0E1E33"/>
                </a:solidFill>
                <a:latin typeface="Calibri" pitchFamily="34" charset="0"/>
                <a:ea typeface="Calibri" pitchFamily="34" charset="-122"/>
                <a:cs typeface="Calibri" pitchFamily="34" charset="-120"/>
              </a:rPr>
              <a:t>0</a:t>
            </a:r>
            <a:endParaRPr lang="en-US" sz="1100" dirty="0"/>
          </a:p>
        </p:txBody>
      </p:sp>
      <p:sp>
        <p:nvSpPr>
          <p:cNvPr id="19" name="Shape 17"/>
          <p:cNvSpPr/>
          <p:nvPr/>
        </p:nvSpPr>
        <p:spPr>
          <a:xfrm>
            <a:off x="7498080" y="2148840"/>
            <a:ext cx="0" cy="2167128"/>
          </a:xfrm>
          <a:prstGeom prst="line">
            <a:avLst/>
          </a:prstGeom>
          <a:noFill/>
          <a:ln w="9525">
            <a:solidFill>
              <a:srgbClr val="E4E9EF"/>
            </a:solidFill>
            <a:prstDash val="solid"/>
          </a:ln>
        </p:spPr>
      </p:sp>
      <p:sp>
        <p:nvSpPr>
          <p:cNvPr id="20" name="Text 18"/>
          <p:cNvSpPr txBox="1"/>
          <p:nvPr/>
        </p:nvSpPr>
        <p:spPr>
          <a:xfrm>
            <a:off x="7132320" y="4370832"/>
            <a:ext cx="731520" cy="237744"/>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+0.05</a:t>
            </a:r>
            <a:endParaRPr lang="en-US" sz="1100" dirty="0"/>
          </a:p>
        </p:txBody>
      </p:sp>
      <p:sp>
        <p:nvSpPr>
          <p:cNvPr id="21" name="Shape 19"/>
          <p:cNvSpPr/>
          <p:nvPr/>
        </p:nvSpPr>
        <p:spPr>
          <a:xfrm>
            <a:off x="8503920" y="2148840"/>
            <a:ext cx="0" cy="2167128"/>
          </a:xfrm>
          <a:prstGeom prst="line">
            <a:avLst/>
          </a:prstGeom>
          <a:noFill/>
          <a:ln w="9525">
            <a:solidFill>
              <a:srgbClr val="E4E9EF"/>
            </a:solidFill>
            <a:prstDash val="solid"/>
          </a:ln>
        </p:spPr>
      </p:sp>
      <p:sp>
        <p:nvSpPr>
          <p:cNvPr id="22" name="Text 20"/>
          <p:cNvSpPr txBox="1"/>
          <p:nvPr/>
        </p:nvSpPr>
        <p:spPr>
          <a:xfrm>
            <a:off x="8138160" y="4370832"/>
            <a:ext cx="731520" cy="237744"/>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+0.10</a:t>
            </a:r>
            <a:endParaRPr lang="en-US" sz="1100" dirty="0"/>
          </a:p>
        </p:txBody>
      </p:sp>
      <p:sp>
        <p:nvSpPr>
          <p:cNvPr id="23" name="Shape 21"/>
          <p:cNvSpPr/>
          <p:nvPr/>
        </p:nvSpPr>
        <p:spPr>
          <a:xfrm>
            <a:off x="2468880" y="4315968"/>
            <a:ext cx="6035040" cy="0"/>
          </a:xfrm>
          <a:prstGeom prst="line">
            <a:avLst/>
          </a:prstGeom>
          <a:noFill/>
          <a:ln w="12700">
            <a:solidFill>
              <a:srgbClr val="C9D5E2"/>
            </a:solidFill>
            <a:prstDash val="solid"/>
          </a:ln>
        </p:spPr>
      </p:sp>
      <p:sp>
        <p:nvSpPr>
          <p:cNvPr id="24" name="Shape 22"/>
          <p:cNvSpPr/>
          <p:nvPr/>
        </p:nvSpPr>
        <p:spPr>
          <a:xfrm>
            <a:off x="6492240" y="2103120"/>
            <a:ext cx="0" cy="2212848"/>
          </a:xfrm>
          <a:prstGeom prst="line">
            <a:avLst/>
          </a:prstGeom>
          <a:noFill/>
          <a:ln w="19050">
            <a:solidFill>
              <a:srgbClr val="0E1E33"/>
            </a:solidFill>
            <a:prstDash val="solid"/>
          </a:ln>
        </p:spPr>
      </p:sp>
      <p:sp>
        <p:nvSpPr>
          <p:cNvPr id="25" name="Text 23"/>
          <p:cNvSpPr txBox="1"/>
          <p:nvPr/>
        </p:nvSpPr>
        <p:spPr>
          <a:xfrm>
            <a:off x="548640" y="2286000"/>
            <a:ext cx="1737360" cy="310896"/>
          </a:xfrm>
          <a:prstGeom prst="rect">
            <a:avLst/>
          </a:prstGeom>
          <a:noFill/>
          <a:ln/>
        </p:spPr>
        <p:txBody>
          <a:bodyPr wrap="square" lIns="0" tIns="0" rIns="0" bIns="0" rtlCol="0" anchor="ctr"/>
          <a:lstStyle/>
          <a:p>
            <a:pPr indent="0" marL="0">
              <a:buNone/>
            </a:pPr>
            <a:r>
              <a:rPr lang="en-US" sz="1700" b="1" dirty="0">
                <a:solidFill>
                  <a:srgbClr val="0E1E33"/>
                </a:solidFill>
                <a:latin typeface="Calibri" pitchFamily="34" charset="0"/>
                <a:ea typeface="Calibri" pitchFamily="34" charset="-122"/>
                <a:cs typeface="Calibri" pitchFamily="34" charset="-120"/>
              </a:rPr>
              <a:t>AUROC</a:t>
            </a:r>
            <a:endParaRPr lang="en-US" sz="1700" dirty="0"/>
          </a:p>
        </p:txBody>
      </p:sp>
      <p:sp>
        <p:nvSpPr>
          <p:cNvPr id="26" name="Text 24"/>
          <p:cNvSpPr txBox="1"/>
          <p:nvPr/>
        </p:nvSpPr>
        <p:spPr>
          <a:xfrm>
            <a:off x="548640" y="2596896"/>
            <a:ext cx="1737360" cy="237744"/>
          </a:xfrm>
          <a:prstGeom prst="rect">
            <a:avLst/>
          </a:prstGeom>
          <a:noFill/>
          <a:ln/>
        </p:spPr>
        <p:txBody>
          <a:bodyPr wrap="square" lIns="0" tIns="0" rIns="0" bIns="0" rtlCol="0" anchor="ctr"/>
          <a:lstStyle/>
          <a:p>
            <a:pPr indent="0" marL="0">
              <a:buNone/>
            </a:pPr>
            <a:r>
              <a:rPr lang="en-US" sz="1100" dirty="0">
                <a:solidFill>
                  <a:srgbClr val="5B6B7F"/>
                </a:solidFill>
                <a:latin typeface="Calibri" pitchFamily="34" charset="0"/>
                <a:ea typeface="Calibri" pitchFamily="34" charset="-122"/>
                <a:cs typeface="Calibri" pitchFamily="34" charset="-120"/>
              </a:rPr>
              <a:t>higher is better</a:t>
            </a:r>
            <a:endParaRPr lang="en-US" sz="1100" dirty="0"/>
          </a:p>
        </p:txBody>
      </p:sp>
      <p:sp>
        <p:nvSpPr>
          <p:cNvPr id="27" name="Shape 25"/>
          <p:cNvSpPr/>
          <p:nvPr/>
        </p:nvSpPr>
        <p:spPr>
          <a:xfrm>
            <a:off x="4873113" y="2560320"/>
            <a:ext cx="2830912" cy="0"/>
          </a:xfrm>
          <a:prstGeom prst="line">
            <a:avLst/>
          </a:prstGeom>
          <a:noFill/>
          <a:ln w="38100">
            <a:solidFill>
              <a:srgbClr val="24364F"/>
            </a:solidFill>
            <a:prstDash val="solid"/>
          </a:ln>
        </p:spPr>
      </p:sp>
      <p:sp>
        <p:nvSpPr>
          <p:cNvPr id="28" name="Shape 26"/>
          <p:cNvSpPr/>
          <p:nvPr/>
        </p:nvSpPr>
        <p:spPr>
          <a:xfrm>
            <a:off x="4873113" y="2459736"/>
            <a:ext cx="0" cy="201168"/>
          </a:xfrm>
          <a:prstGeom prst="line">
            <a:avLst/>
          </a:prstGeom>
          <a:noFill/>
          <a:ln w="25400">
            <a:solidFill>
              <a:srgbClr val="24364F"/>
            </a:solidFill>
            <a:prstDash val="solid"/>
          </a:ln>
        </p:spPr>
      </p:sp>
      <p:sp>
        <p:nvSpPr>
          <p:cNvPr id="29" name="Shape 27"/>
          <p:cNvSpPr/>
          <p:nvPr/>
        </p:nvSpPr>
        <p:spPr>
          <a:xfrm>
            <a:off x="7704024" y="2459736"/>
            <a:ext cx="0" cy="201168"/>
          </a:xfrm>
          <a:prstGeom prst="line">
            <a:avLst/>
          </a:prstGeom>
          <a:noFill/>
          <a:ln w="25400">
            <a:solidFill>
              <a:srgbClr val="24364F"/>
            </a:solidFill>
            <a:prstDash val="solid"/>
          </a:ln>
        </p:spPr>
      </p:sp>
      <p:sp>
        <p:nvSpPr>
          <p:cNvPr id="30" name="Shape 28"/>
          <p:cNvSpPr/>
          <p:nvPr/>
        </p:nvSpPr>
        <p:spPr>
          <a:xfrm>
            <a:off x="6310599" y="2459736"/>
            <a:ext cx="201168" cy="201168"/>
          </a:xfrm>
          <a:prstGeom prst="ellipse">
            <a:avLst/>
          </a:prstGeom>
          <a:solidFill>
            <a:srgbClr val="0E1E33"/>
          </a:solidFill>
          <a:ln w="19050">
            <a:solidFill>
              <a:srgbClr val="FFFFFF"/>
            </a:solidFill>
            <a:prstDash val="solid"/>
          </a:ln>
        </p:spPr>
      </p:sp>
      <p:sp>
        <p:nvSpPr>
          <p:cNvPr id="31" name="Text 29"/>
          <p:cNvSpPr txBox="1"/>
          <p:nvPr/>
        </p:nvSpPr>
        <p:spPr>
          <a:xfrm>
            <a:off x="8823960" y="2359152"/>
            <a:ext cx="2819095" cy="402336"/>
          </a:xfrm>
          <a:prstGeom prst="rect">
            <a:avLst/>
          </a:prstGeom>
          <a:noFill/>
          <a:ln/>
        </p:spPr>
        <p:txBody>
          <a:bodyPr wrap="square" lIns="0" tIns="0" rIns="0" bIns="0" rtlCol="0" anchor="ctr"/>
          <a:lstStyle/>
          <a:p>
            <a:pPr algn="r" indent="0" marL="0">
              <a:buNone/>
            </a:pPr>
            <a:r>
              <a:rPr lang="en-US" sz="1700" b="1" dirty="0">
                <a:solidFill>
                  <a:srgbClr val="0E1E33"/>
                </a:solidFill>
                <a:latin typeface="Calibri" pitchFamily="34" charset="0"/>
                <a:ea typeface="Calibri" pitchFamily="34" charset="-122"/>
                <a:cs typeface="Calibri" pitchFamily="34" charset="-120"/>
              </a:rPr>
              <a:t>−0.004  </a:t>
            </a:r>
            <a:pPr algn="r" indent="0" marL="0">
              <a:buNone/>
            </a:pPr>
            <a:r>
              <a:rPr lang="en-US" sz="1350" dirty="0">
                <a:solidFill>
                  <a:srgbClr val="5B6B7F"/>
                </a:solidFill>
                <a:latin typeface="Calibri" pitchFamily="34" charset="0"/>
                <a:ea typeface="Calibri" pitchFamily="34" charset="-122"/>
                <a:cs typeface="Calibri" pitchFamily="34" charset="-120"/>
              </a:rPr>
              <a:t>[−0.080, +0.060]</a:t>
            </a:r>
            <a:endParaRPr lang="en-US" sz="1400" dirty="0"/>
          </a:p>
        </p:txBody>
      </p:sp>
      <p:sp>
        <p:nvSpPr>
          <p:cNvPr id="32" name="Text 30"/>
          <p:cNvSpPr txBox="1"/>
          <p:nvPr/>
        </p:nvSpPr>
        <p:spPr>
          <a:xfrm>
            <a:off x="548640" y="2944368"/>
            <a:ext cx="1737360" cy="310896"/>
          </a:xfrm>
          <a:prstGeom prst="rect">
            <a:avLst/>
          </a:prstGeom>
          <a:noFill/>
          <a:ln/>
        </p:spPr>
        <p:txBody>
          <a:bodyPr wrap="square" lIns="0" tIns="0" rIns="0" bIns="0" rtlCol="0" anchor="ctr"/>
          <a:lstStyle/>
          <a:p>
            <a:pPr indent="0" marL="0">
              <a:buNone/>
            </a:pPr>
            <a:r>
              <a:rPr lang="en-US" sz="1700" b="1" dirty="0">
                <a:solidFill>
                  <a:srgbClr val="0E1E33"/>
                </a:solidFill>
                <a:latin typeface="Calibri" pitchFamily="34" charset="0"/>
                <a:ea typeface="Calibri" pitchFamily="34" charset="-122"/>
                <a:cs typeface="Calibri" pitchFamily="34" charset="-120"/>
              </a:rPr>
              <a:t>AUPRC</a:t>
            </a:r>
            <a:endParaRPr lang="en-US" sz="1700" dirty="0"/>
          </a:p>
        </p:txBody>
      </p:sp>
      <p:sp>
        <p:nvSpPr>
          <p:cNvPr id="33" name="Text 31"/>
          <p:cNvSpPr txBox="1"/>
          <p:nvPr/>
        </p:nvSpPr>
        <p:spPr>
          <a:xfrm>
            <a:off x="548640" y="3255264"/>
            <a:ext cx="1737360" cy="237744"/>
          </a:xfrm>
          <a:prstGeom prst="rect">
            <a:avLst/>
          </a:prstGeom>
          <a:noFill/>
          <a:ln/>
        </p:spPr>
        <p:txBody>
          <a:bodyPr wrap="square" lIns="0" tIns="0" rIns="0" bIns="0" rtlCol="0" anchor="ctr"/>
          <a:lstStyle/>
          <a:p>
            <a:pPr indent="0" marL="0">
              <a:buNone/>
            </a:pPr>
            <a:r>
              <a:rPr lang="en-US" sz="1100" dirty="0">
                <a:solidFill>
                  <a:srgbClr val="5B6B7F"/>
                </a:solidFill>
                <a:latin typeface="Calibri" pitchFamily="34" charset="0"/>
                <a:ea typeface="Calibri" pitchFamily="34" charset="-122"/>
                <a:cs typeface="Calibri" pitchFamily="34" charset="-120"/>
              </a:rPr>
              <a:t>higher is better</a:t>
            </a:r>
            <a:endParaRPr lang="en-US" sz="1100" dirty="0"/>
          </a:p>
        </p:txBody>
      </p:sp>
      <p:sp>
        <p:nvSpPr>
          <p:cNvPr id="34" name="Shape 32"/>
          <p:cNvSpPr/>
          <p:nvPr/>
        </p:nvSpPr>
        <p:spPr>
          <a:xfrm>
            <a:off x="3124591" y="3218688"/>
            <a:ext cx="4853352" cy="0"/>
          </a:xfrm>
          <a:prstGeom prst="line">
            <a:avLst/>
          </a:prstGeom>
          <a:noFill/>
          <a:ln w="38100">
            <a:solidFill>
              <a:srgbClr val="24364F"/>
            </a:solidFill>
            <a:prstDash val="solid"/>
          </a:ln>
        </p:spPr>
      </p:sp>
      <p:sp>
        <p:nvSpPr>
          <p:cNvPr id="35" name="Shape 33"/>
          <p:cNvSpPr/>
          <p:nvPr/>
        </p:nvSpPr>
        <p:spPr>
          <a:xfrm>
            <a:off x="3124591" y="3118104"/>
            <a:ext cx="0" cy="201168"/>
          </a:xfrm>
          <a:prstGeom prst="line">
            <a:avLst/>
          </a:prstGeom>
          <a:noFill/>
          <a:ln w="25400">
            <a:solidFill>
              <a:srgbClr val="24364F"/>
            </a:solidFill>
            <a:prstDash val="solid"/>
          </a:ln>
        </p:spPr>
      </p:sp>
      <p:sp>
        <p:nvSpPr>
          <p:cNvPr id="36" name="Shape 34"/>
          <p:cNvSpPr/>
          <p:nvPr/>
        </p:nvSpPr>
        <p:spPr>
          <a:xfrm>
            <a:off x="7977942" y="3118104"/>
            <a:ext cx="0" cy="201168"/>
          </a:xfrm>
          <a:prstGeom prst="line">
            <a:avLst/>
          </a:prstGeom>
          <a:noFill/>
          <a:ln w="25400">
            <a:solidFill>
              <a:srgbClr val="24364F"/>
            </a:solidFill>
            <a:prstDash val="solid"/>
          </a:ln>
        </p:spPr>
      </p:sp>
      <p:sp>
        <p:nvSpPr>
          <p:cNvPr id="37" name="Shape 35"/>
          <p:cNvSpPr/>
          <p:nvPr/>
        </p:nvSpPr>
        <p:spPr>
          <a:xfrm>
            <a:off x="5149809" y="3118104"/>
            <a:ext cx="201168" cy="201168"/>
          </a:xfrm>
          <a:prstGeom prst="ellipse">
            <a:avLst/>
          </a:prstGeom>
          <a:solidFill>
            <a:srgbClr val="0E1E33"/>
          </a:solidFill>
          <a:ln w="19050">
            <a:solidFill>
              <a:srgbClr val="FFFFFF"/>
            </a:solidFill>
            <a:prstDash val="solid"/>
          </a:ln>
        </p:spPr>
      </p:sp>
      <p:sp>
        <p:nvSpPr>
          <p:cNvPr id="38" name="Text 36"/>
          <p:cNvSpPr txBox="1"/>
          <p:nvPr/>
        </p:nvSpPr>
        <p:spPr>
          <a:xfrm>
            <a:off x="8823960" y="3017520"/>
            <a:ext cx="2819095" cy="402336"/>
          </a:xfrm>
          <a:prstGeom prst="rect">
            <a:avLst/>
          </a:prstGeom>
          <a:noFill/>
          <a:ln/>
        </p:spPr>
        <p:txBody>
          <a:bodyPr wrap="square" lIns="0" tIns="0" rIns="0" bIns="0" rtlCol="0" anchor="ctr"/>
          <a:lstStyle/>
          <a:p>
            <a:pPr algn="r" indent="0" marL="0">
              <a:buNone/>
            </a:pPr>
            <a:r>
              <a:rPr lang="en-US" sz="1700" b="1" dirty="0">
                <a:solidFill>
                  <a:srgbClr val="0E1E33"/>
                </a:solidFill>
                <a:latin typeface="Calibri" pitchFamily="34" charset="0"/>
                <a:ea typeface="Calibri" pitchFamily="34" charset="-122"/>
                <a:cs typeface="Calibri" pitchFamily="34" charset="-120"/>
              </a:rPr>
              <a:t>−0.062  </a:t>
            </a:r>
            <a:pPr algn="r" indent="0" marL="0">
              <a:buNone/>
            </a:pPr>
            <a:r>
              <a:rPr lang="en-US" sz="1350" dirty="0">
                <a:solidFill>
                  <a:srgbClr val="5B6B7F"/>
                </a:solidFill>
                <a:latin typeface="Calibri" pitchFamily="34" charset="0"/>
                <a:ea typeface="Calibri" pitchFamily="34" charset="-122"/>
                <a:cs typeface="Calibri" pitchFamily="34" charset="-120"/>
              </a:rPr>
              <a:t>[−0.167, +0.074]</a:t>
            </a:r>
            <a:endParaRPr lang="en-US" sz="1400" dirty="0"/>
          </a:p>
        </p:txBody>
      </p:sp>
      <p:sp>
        <p:nvSpPr>
          <p:cNvPr id="39" name="Text 37"/>
          <p:cNvSpPr txBox="1"/>
          <p:nvPr/>
        </p:nvSpPr>
        <p:spPr>
          <a:xfrm>
            <a:off x="548640" y="3602736"/>
            <a:ext cx="1737360" cy="310896"/>
          </a:xfrm>
          <a:prstGeom prst="rect">
            <a:avLst/>
          </a:prstGeom>
          <a:noFill/>
          <a:ln/>
        </p:spPr>
        <p:txBody>
          <a:bodyPr wrap="square" lIns="0" tIns="0" rIns="0" bIns="0" rtlCol="0" anchor="ctr"/>
          <a:lstStyle/>
          <a:p>
            <a:pPr indent="0" marL="0">
              <a:buNone/>
            </a:pPr>
            <a:r>
              <a:rPr lang="en-US" sz="1700" b="1" dirty="0">
                <a:solidFill>
                  <a:srgbClr val="0E1E33"/>
                </a:solidFill>
                <a:latin typeface="Calibri" pitchFamily="34" charset="0"/>
                <a:ea typeface="Calibri" pitchFamily="34" charset="-122"/>
                <a:cs typeface="Calibri" pitchFamily="34" charset="-120"/>
              </a:rPr>
              <a:t>Brier</a:t>
            </a:r>
            <a:endParaRPr lang="en-US" sz="1700" dirty="0"/>
          </a:p>
        </p:txBody>
      </p:sp>
      <p:sp>
        <p:nvSpPr>
          <p:cNvPr id="40" name="Text 38"/>
          <p:cNvSpPr txBox="1"/>
          <p:nvPr/>
        </p:nvSpPr>
        <p:spPr>
          <a:xfrm>
            <a:off x="548640" y="3913632"/>
            <a:ext cx="1737360" cy="237744"/>
          </a:xfrm>
          <a:prstGeom prst="rect">
            <a:avLst/>
          </a:prstGeom>
          <a:noFill/>
          <a:ln/>
        </p:spPr>
        <p:txBody>
          <a:bodyPr wrap="square" lIns="0" tIns="0" rIns="0" bIns="0" rtlCol="0" anchor="ctr"/>
          <a:lstStyle/>
          <a:p>
            <a:pPr indent="0" marL="0">
              <a:buNone/>
            </a:pPr>
            <a:r>
              <a:rPr lang="en-US" sz="1100" dirty="0">
                <a:solidFill>
                  <a:srgbClr val="5B6B7F"/>
                </a:solidFill>
                <a:latin typeface="Calibri" pitchFamily="34" charset="0"/>
                <a:ea typeface="Calibri" pitchFamily="34" charset="-122"/>
                <a:cs typeface="Calibri" pitchFamily="34" charset="-120"/>
              </a:rPr>
              <a:t>lower is better</a:t>
            </a:r>
            <a:endParaRPr lang="en-US" sz="1100" dirty="0"/>
          </a:p>
        </p:txBody>
      </p:sp>
      <p:sp>
        <p:nvSpPr>
          <p:cNvPr id="41" name="Shape 39"/>
          <p:cNvSpPr/>
          <p:nvPr/>
        </p:nvSpPr>
        <p:spPr>
          <a:xfrm>
            <a:off x="5808598" y="3877056"/>
            <a:ext cx="1520146" cy="0"/>
          </a:xfrm>
          <a:prstGeom prst="line">
            <a:avLst/>
          </a:prstGeom>
          <a:noFill/>
          <a:ln w="38100">
            <a:solidFill>
              <a:srgbClr val="24364F"/>
            </a:solidFill>
            <a:prstDash val="solid"/>
          </a:ln>
        </p:spPr>
      </p:sp>
      <p:sp>
        <p:nvSpPr>
          <p:cNvPr id="42" name="Shape 40"/>
          <p:cNvSpPr/>
          <p:nvPr/>
        </p:nvSpPr>
        <p:spPr>
          <a:xfrm>
            <a:off x="5808598" y="3776472"/>
            <a:ext cx="0" cy="201168"/>
          </a:xfrm>
          <a:prstGeom prst="line">
            <a:avLst/>
          </a:prstGeom>
          <a:noFill/>
          <a:ln w="25400">
            <a:solidFill>
              <a:srgbClr val="24364F"/>
            </a:solidFill>
            <a:prstDash val="solid"/>
          </a:ln>
        </p:spPr>
      </p:sp>
      <p:sp>
        <p:nvSpPr>
          <p:cNvPr id="43" name="Shape 41"/>
          <p:cNvSpPr/>
          <p:nvPr/>
        </p:nvSpPr>
        <p:spPr>
          <a:xfrm>
            <a:off x="7328744" y="3776472"/>
            <a:ext cx="0" cy="201168"/>
          </a:xfrm>
          <a:prstGeom prst="line">
            <a:avLst/>
          </a:prstGeom>
          <a:noFill/>
          <a:ln w="25400">
            <a:solidFill>
              <a:srgbClr val="24364F"/>
            </a:solidFill>
            <a:prstDash val="solid"/>
          </a:ln>
        </p:spPr>
      </p:sp>
      <p:sp>
        <p:nvSpPr>
          <p:cNvPr id="44" name="Shape 42"/>
          <p:cNvSpPr/>
          <p:nvPr/>
        </p:nvSpPr>
        <p:spPr>
          <a:xfrm>
            <a:off x="6451254" y="3776472"/>
            <a:ext cx="201168" cy="201168"/>
          </a:xfrm>
          <a:prstGeom prst="ellipse">
            <a:avLst/>
          </a:prstGeom>
          <a:solidFill>
            <a:srgbClr val="0E1E33"/>
          </a:solidFill>
          <a:ln w="19050">
            <a:solidFill>
              <a:srgbClr val="FFFFFF"/>
            </a:solidFill>
            <a:prstDash val="solid"/>
          </a:ln>
        </p:spPr>
      </p:sp>
      <p:sp>
        <p:nvSpPr>
          <p:cNvPr id="45" name="Text 43"/>
          <p:cNvSpPr txBox="1"/>
          <p:nvPr/>
        </p:nvSpPr>
        <p:spPr>
          <a:xfrm>
            <a:off x="8823960" y="3675888"/>
            <a:ext cx="2819095" cy="402336"/>
          </a:xfrm>
          <a:prstGeom prst="rect">
            <a:avLst/>
          </a:prstGeom>
          <a:noFill/>
          <a:ln/>
        </p:spPr>
        <p:txBody>
          <a:bodyPr wrap="square" lIns="0" tIns="0" rIns="0" bIns="0" rtlCol="0" anchor="ctr"/>
          <a:lstStyle/>
          <a:p>
            <a:pPr algn="r" indent="0" marL="0">
              <a:buNone/>
            </a:pPr>
            <a:r>
              <a:rPr lang="en-US" sz="1700" b="1" dirty="0">
                <a:solidFill>
                  <a:srgbClr val="0E1E33"/>
                </a:solidFill>
                <a:latin typeface="Calibri" pitchFamily="34" charset="0"/>
                <a:ea typeface="Calibri" pitchFamily="34" charset="-122"/>
                <a:cs typeface="Calibri" pitchFamily="34" charset="-120"/>
              </a:rPr>
              <a:t>+0.003  </a:t>
            </a:r>
            <a:pPr algn="r" indent="0" marL="0">
              <a:buNone/>
            </a:pPr>
            <a:r>
              <a:rPr lang="en-US" sz="1350" dirty="0">
                <a:solidFill>
                  <a:srgbClr val="5B6B7F"/>
                </a:solidFill>
                <a:latin typeface="Calibri" pitchFamily="34" charset="0"/>
                <a:ea typeface="Calibri" pitchFamily="34" charset="-122"/>
                <a:cs typeface="Calibri" pitchFamily="34" charset="-120"/>
              </a:rPr>
              <a:t>[−0.034, +0.042]</a:t>
            </a:r>
            <a:endParaRPr lang="en-US" sz="1400" dirty="0"/>
          </a:p>
        </p:txBody>
      </p:sp>
      <p:sp>
        <p:nvSpPr>
          <p:cNvPr id="46" name="Shape 44"/>
          <p:cNvSpPr/>
          <p:nvPr/>
        </p:nvSpPr>
        <p:spPr>
          <a:xfrm>
            <a:off x="548640" y="4846320"/>
            <a:ext cx="3545738" cy="1188720"/>
          </a:xfrm>
          <a:prstGeom prst="roundRect">
            <a:avLst>
              <a:gd name="adj" fmla="val 9231"/>
            </a:avLst>
          </a:prstGeom>
          <a:solidFill>
            <a:srgbClr val="F3F6FA"/>
          </a:solidFill>
          <a:ln/>
        </p:spPr>
      </p:sp>
      <p:sp>
        <p:nvSpPr>
          <p:cNvPr id="47" name="Shape 45"/>
          <p:cNvSpPr/>
          <p:nvPr/>
        </p:nvSpPr>
        <p:spPr>
          <a:xfrm>
            <a:off x="749808" y="5047488"/>
            <a:ext cx="438912" cy="438912"/>
          </a:xfrm>
          <a:prstGeom prst="ellipse">
            <a:avLst/>
          </a:prstGeom>
          <a:solidFill>
            <a:srgbClr val="FFFFFF"/>
          </a:solidFill>
          <a:ln/>
        </p:spPr>
      </p:sp>
      <p:pic>
        <p:nvPicPr>
          <p:cNvPr id="48" name="Image 0" descr="circle check icon">    </p:cNvPr>
          <p:cNvPicPr>
            <a:picLocks noChangeAspect="1"/>
          </p:cNvPicPr>
          <p:nvPr/>
        </p:nvPicPr>
        <p:blipFill>
          <a:blip r:embed="rId1"/>
          <a:stretch>
            <a:fillRect/>
          </a:stretch>
        </p:blipFill>
        <p:spPr>
          <a:xfrm>
            <a:off x="855147" y="5152827"/>
            <a:ext cx="228234" cy="228234"/>
          </a:xfrm>
          <a:prstGeom prst="rect">
            <a:avLst/>
          </a:prstGeom>
        </p:spPr>
      </p:pic>
      <p:sp>
        <p:nvSpPr>
          <p:cNvPr id="49" name="Text 46"/>
          <p:cNvSpPr txBox="1"/>
          <p:nvPr/>
        </p:nvSpPr>
        <p:spPr>
          <a:xfrm>
            <a:off x="1325880" y="5029200"/>
            <a:ext cx="2631338" cy="292608"/>
          </a:xfrm>
          <a:prstGeom prst="rect">
            <a:avLst/>
          </a:prstGeom>
          <a:noFill/>
          <a:ln/>
        </p:spPr>
        <p:txBody>
          <a:bodyPr wrap="square" lIns="0" tIns="0" rIns="0" bIns="0" rtlCol="0" anchor="ctr"/>
          <a:lstStyle/>
          <a:p>
            <a:pPr indent="0" marL="0">
              <a:buNone/>
            </a:pPr>
            <a:r>
              <a:rPr lang="en-US" sz="1450" b="1" dirty="0">
                <a:solidFill>
                  <a:srgbClr val="0E1E33"/>
                </a:solidFill>
                <a:latin typeface="Calibri" pitchFamily="34" charset="0"/>
                <a:ea typeface="Calibri" pitchFamily="34" charset="-122"/>
                <a:cs typeface="Calibri" pitchFamily="34" charset="-120"/>
              </a:rPr>
              <a:t>No stable difference</a:t>
            </a:r>
            <a:endParaRPr lang="en-US" sz="1450" dirty="0"/>
          </a:p>
        </p:txBody>
      </p:sp>
      <p:sp>
        <p:nvSpPr>
          <p:cNvPr id="50" name="Text 47"/>
          <p:cNvSpPr txBox="1"/>
          <p:nvPr/>
        </p:nvSpPr>
        <p:spPr>
          <a:xfrm>
            <a:off x="1325880" y="5340096"/>
            <a:ext cx="2613050" cy="640080"/>
          </a:xfrm>
          <a:prstGeom prst="rect">
            <a:avLst/>
          </a:prstGeom>
          <a:noFill/>
          <a:ln/>
        </p:spPr>
        <p:txBody>
          <a:bodyPr wrap="square" lIns="0" tIns="0" rIns="0" bIns="0" rtlCol="0" anchor="t"/>
          <a:lstStyle/>
          <a:p>
            <a:pPr indent="0" marL="0">
              <a:buNone/>
            </a:pPr>
            <a:r>
              <a:rPr lang="en-US" sz="1200" dirty="0">
                <a:solidFill>
                  <a:srgbClr val="24364F"/>
                </a:solidFill>
                <a:latin typeface="Calibri" pitchFamily="34" charset="0"/>
                <a:ea typeface="Calibri" pitchFamily="34" charset="-122"/>
                <a:cs typeface="Calibri" pitchFamily="34" charset="-120"/>
              </a:rPr>
              <a:t>Training with A’s 46 studies gave no detectable difference on A’s patients in this pilot.</a:t>
            </a:r>
            <a:endParaRPr lang="en-US" sz="1200" dirty="0"/>
          </a:p>
        </p:txBody>
      </p:sp>
      <p:sp>
        <p:nvSpPr>
          <p:cNvPr id="51" name="Shape 48"/>
          <p:cNvSpPr/>
          <p:nvPr/>
        </p:nvSpPr>
        <p:spPr>
          <a:xfrm>
            <a:off x="4322978" y="4846320"/>
            <a:ext cx="3545738" cy="1188720"/>
          </a:xfrm>
          <a:prstGeom prst="roundRect">
            <a:avLst>
              <a:gd name="adj" fmla="val 9231"/>
            </a:avLst>
          </a:prstGeom>
          <a:solidFill>
            <a:srgbClr val="F3F6FA"/>
          </a:solidFill>
          <a:ln/>
        </p:spPr>
      </p:sp>
      <p:sp>
        <p:nvSpPr>
          <p:cNvPr id="52" name="Shape 49"/>
          <p:cNvSpPr/>
          <p:nvPr/>
        </p:nvSpPr>
        <p:spPr>
          <a:xfrm>
            <a:off x="4524146" y="5047488"/>
            <a:ext cx="438912" cy="438912"/>
          </a:xfrm>
          <a:prstGeom prst="ellipse">
            <a:avLst/>
          </a:prstGeom>
          <a:solidFill>
            <a:srgbClr val="FFFFFF"/>
          </a:solidFill>
          <a:ln/>
        </p:spPr>
      </p:sp>
      <p:pic>
        <p:nvPicPr>
          <p:cNvPr id="53" name="Image 1" descr="equal not icon">    </p:cNvPr>
          <p:cNvPicPr>
            <a:picLocks noChangeAspect="1"/>
          </p:cNvPicPr>
          <p:nvPr/>
        </p:nvPicPr>
        <p:blipFill>
          <a:blip r:embed="rId2"/>
          <a:stretch>
            <a:fillRect/>
          </a:stretch>
        </p:blipFill>
        <p:spPr>
          <a:xfrm>
            <a:off x="4629485" y="5152827"/>
            <a:ext cx="228234" cy="228234"/>
          </a:xfrm>
          <a:prstGeom prst="rect">
            <a:avLst/>
          </a:prstGeom>
        </p:spPr>
      </p:pic>
      <p:sp>
        <p:nvSpPr>
          <p:cNvPr id="54" name="Text 50"/>
          <p:cNvSpPr txBox="1"/>
          <p:nvPr/>
        </p:nvSpPr>
        <p:spPr>
          <a:xfrm>
            <a:off x="5100218" y="5029200"/>
            <a:ext cx="2631338" cy="292608"/>
          </a:xfrm>
          <a:prstGeom prst="rect">
            <a:avLst/>
          </a:prstGeom>
          <a:noFill/>
          <a:ln/>
        </p:spPr>
        <p:txBody>
          <a:bodyPr wrap="square" lIns="0" tIns="0" rIns="0" bIns="0" rtlCol="0" anchor="ctr"/>
          <a:lstStyle/>
          <a:p>
            <a:pPr indent="0" marL="0">
              <a:buNone/>
            </a:pPr>
            <a:r>
              <a:rPr lang="en-US" sz="1450" b="1" dirty="0">
                <a:solidFill>
                  <a:srgbClr val="0E1E33"/>
                </a:solidFill>
                <a:latin typeface="Calibri" pitchFamily="34" charset="0"/>
                <a:ea typeface="Calibri" pitchFamily="34" charset="-122"/>
                <a:cs typeface="Calibri" pitchFamily="34" charset="-120"/>
              </a:rPr>
              <a:t>Not proof of equivalence</a:t>
            </a:r>
            <a:endParaRPr lang="en-US" sz="1450" dirty="0"/>
          </a:p>
        </p:txBody>
      </p:sp>
      <p:sp>
        <p:nvSpPr>
          <p:cNvPr id="55" name="Text 51"/>
          <p:cNvSpPr txBox="1"/>
          <p:nvPr/>
        </p:nvSpPr>
        <p:spPr>
          <a:xfrm>
            <a:off x="5100218" y="5340096"/>
            <a:ext cx="2613050" cy="640080"/>
          </a:xfrm>
          <a:prstGeom prst="rect">
            <a:avLst/>
          </a:prstGeom>
          <a:noFill/>
          <a:ln/>
        </p:spPr>
        <p:txBody>
          <a:bodyPr wrap="square" lIns="0" tIns="0" rIns="0" bIns="0" rtlCol="0" anchor="t"/>
          <a:lstStyle/>
          <a:p>
            <a:pPr indent="0" marL="0">
              <a:buNone/>
            </a:pPr>
            <a:r>
              <a:rPr lang="en-US" sz="1200" dirty="0">
                <a:solidFill>
                  <a:srgbClr val="24364F"/>
                </a:solidFill>
                <a:latin typeface="Calibri" pitchFamily="34" charset="0"/>
                <a:ea typeface="Calibri" pitchFamily="34" charset="-122"/>
                <a:cs typeface="Calibri" pitchFamily="34" charset="-120"/>
              </a:rPr>
              <a:t>AUROC differences from −0.080 to +0.060 remain compatible with these data.</a:t>
            </a:r>
            <a:endParaRPr lang="en-US" sz="1200" dirty="0"/>
          </a:p>
        </p:txBody>
      </p:sp>
      <p:sp>
        <p:nvSpPr>
          <p:cNvPr id="56" name="Shape 52"/>
          <p:cNvSpPr/>
          <p:nvPr/>
        </p:nvSpPr>
        <p:spPr>
          <a:xfrm>
            <a:off x="8097317" y="4846320"/>
            <a:ext cx="3545738" cy="1188720"/>
          </a:xfrm>
          <a:prstGeom prst="roundRect">
            <a:avLst>
              <a:gd name="adj" fmla="val 9231"/>
            </a:avLst>
          </a:prstGeom>
          <a:solidFill>
            <a:srgbClr val="F3F6FA"/>
          </a:solidFill>
          <a:ln/>
        </p:spPr>
      </p:sp>
      <p:sp>
        <p:nvSpPr>
          <p:cNvPr id="57" name="Shape 53"/>
          <p:cNvSpPr/>
          <p:nvPr/>
        </p:nvSpPr>
        <p:spPr>
          <a:xfrm>
            <a:off x="8298485" y="5047488"/>
            <a:ext cx="438912" cy="438912"/>
          </a:xfrm>
          <a:prstGeom prst="ellipse">
            <a:avLst/>
          </a:prstGeom>
          <a:solidFill>
            <a:srgbClr val="FFFFFF"/>
          </a:solidFill>
          <a:ln/>
        </p:spPr>
      </p:sp>
      <p:pic>
        <p:nvPicPr>
          <p:cNvPr id="58" name="Image 2" descr="dices icon">    </p:cNvPr>
          <p:cNvPicPr>
            <a:picLocks noChangeAspect="1"/>
          </p:cNvPicPr>
          <p:nvPr/>
        </p:nvPicPr>
        <p:blipFill>
          <a:blip r:embed="rId3"/>
          <a:stretch>
            <a:fillRect/>
          </a:stretch>
        </p:blipFill>
        <p:spPr>
          <a:xfrm>
            <a:off x="8403824" y="5152827"/>
            <a:ext cx="228234" cy="228234"/>
          </a:xfrm>
          <a:prstGeom prst="rect">
            <a:avLst/>
          </a:prstGeom>
        </p:spPr>
      </p:pic>
      <p:sp>
        <p:nvSpPr>
          <p:cNvPr id="59" name="Text 54"/>
          <p:cNvSpPr txBox="1"/>
          <p:nvPr/>
        </p:nvSpPr>
        <p:spPr>
          <a:xfrm>
            <a:off x="8874557" y="5029200"/>
            <a:ext cx="2631338" cy="292608"/>
          </a:xfrm>
          <a:prstGeom prst="rect">
            <a:avLst/>
          </a:prstGeom>
          <a:noFill/>
          <a:ln/>
        </p:spPr>
        <p:txBody>
          <a:bodyPr wrap="square" lIns="0" tIns="0" rIns="0" bIns="0" rtlCol="0" anchor="ctr"/>
          <a:lstStyle/>
          <a:p>
            <a:pPr indent="0" marL="0">
              <a:buNone/>
            </a:pPr>
            <a:r>
              <a:rPr lang="en-US" sz="1450" b="1" dirty="0">
                <a:solidFill>
                  <a:srgbClr val="0E1E33"/>
                </a:solidFill>
                <a:latin typeface="Calibri" pitchFamily="34" charset="0"/>
                <a:ea typeface="Calibri" pitchFamily="34" charset="-122"/>
                <a:cs typeface="Calibri" pitchFamily="34" charset="-120"/>
              </a:rPr>
              <a:t>Uncertainty is partial</a:t>
            </a:r>
            <a:endParaRPr lang="en-US" sz="1450" dirty="0"/>
          </a:p>
        </p:txBody>
      </p:sp>
      <p:sp>
        <p:nvSpPr>
          <p:cNvPr id="60" name="Text 55"/>
          <p:cNvSpPr txBox="1"/>
          <p:nvPr/>
        </p:nvSpPr>
        <p:spPr>
          <a:xfrm>
            <a:off x="8874557" y="5340096"/>
            <a:ext cx="2613050" cy="640080"/>
          </a:xfrm>
          <a:prstGeom prst="rect">
            <a:avLst/>
          </a:prstGeom>
          <a:noFill/>
          <a:ln/>
        </p:spPr>
        <p:txBody>
          <a:bodyPr wrap="square" lIns="0" tIns="0" rIns="0" bIns="0" rtlCol="0" anchor="t"/>
          <a:lstStyle/>
          <a:p>
            <a:pPr indent="0" marL="0">
              <a:buNone/>
            </a:pPr>
            <a:r>
              <a:rPr lang="en-US" sz="1200" dirty="0">
                <a:solidFill>
                  <a:srgbClr val="24364F"/>
                </a:solidFill>
                <a:latin typeface="Calibri" pitchFamily="34" charset="0"/>
                <a:ea typeface="Calibri" pitchFamily="34" charset="-122"/>
                <a:cs typeface="Calibri" pitchFamily="34" charset="-120"/>
              </a:rPr>
              <a:t>Intervals resample test patients only, not retraining with another seed.</a:t>
            </a:r>
            <a:endParaRPr lang="en-US" sz="1200" dirty="0"/>
          </a:p>
        </p:txBody>
      </p:sp>
      <p:sp>
        <p:nvSpPr>
          <p:cNvPr id="61" name="Text 56"/>
          <p:cNvSpPr txBox="1"/>
          <p:nvPr/>
        </p:nvSpPr>
        <p:spPr>
          <a:xfrm>
            <a:off x="548640" y="6144768"/>
            <a:ext cx="10241280" cy="384048"/>
          </a:xfrm>
          <a:prstGeom prst="rect">
            <a:avLst/>
          </a:prstGeom>
          <a:noFill/>
          <a:ln/>
        </p:spPr>
        <p:txBody>
          <a:bodyPr wrap="square" lIns="0" tIns="0" rIns="0" bIns="0" rtlCol="0" anchor="b"/>
          <a:lstStyle/>
          <a:p>
            <a:pPr indent="0" marL="0">
              <a:buNone/>
            </a:pPr>
            <a:r>
              <a:rPr lang="en-US" sz="950" dirty="0">
                <a:solidFill>
                  <a:srgbClr val="8793A3"/>
                </a:solidFill>
                <a:latin typeface="Calibri" pitchFamily="34" charset="0"/>
                <a:ea typeface="Calibri" pitchFamily="34" charset="-122"/>
                <a:cs typeface="Calibri" pitchFamily="34" charset="-120"/>
              </a:rPr>
              <a:t>Δ = seen − unseen. A negative Δ for AUROC/AUPRC, or a positive Δ for Brier, numerically favours the unseen model. 1,000 paired patient-level bootstrap resamples, all valid.</a:t>
            </a:r>
            <a:endParaRPr lang="en-US" sz="950" dirty="0"/>
          </a:p>
        </p:txBody>
      </p:sp>
      <p:sp>
        <p:nvSpPr>
          <p:cNvPr id="62" name="Text 57"/>
          <p:cNvSpPr txBox="1"/>
          <p:nvPr/>
        </p:nvSpPr>
        <p:spPr>
          <a:xfrm>
            <a:off x="11094415" y="6254496"/>
            <a:ext cx="548640" cy="274320"/>
          </a:xfrm>
          <a:prstGeom prst="rect">
            <a:avLst/>
          </a:prstGeom>
          <a:noFill/>
          <a:ln/>
        </p:spPr>
        <p:txBody>
          <a:bodyPr wrap="square" lIns="0" tIns="0" rIns="0" bIns="0" rtlCol="0" anchor="b"/>
          <a:lstStyle/>
          <a:p>
            <a:pPr algn="r" indent="0" marL="0">
              <a:buNone/>
            </a:pPr>
            <a:r>
              <a:rPr lang="en-US" sz="1000" b="1" dirty="0">
                <a:solidFill>
                  <a:srgbClr val="5B6B7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E33"/>
        </a:solidFill>
      </p:bgPr>
    </p:bg>
    <p:spTree>
      <p:nvGrpSpPr>
        <p:cNvPr id="1" name=""/>
        <p:cNvGrpSpPr/>
        <p:nvPr/>
      </p:nvGrpSpPr>
      <p:grpSpPr>
        <a:xfrm>
          <a:off x="0" y="0"/>
          <a:ext cx="0" cy="0"/>
          <a:chOff x="0" y="0"/>
          <a:chExt cx="0" cy="0"/>
        </a:xfrm>
      </p:grpSpPr>
      <p:sp>
        <p:nvSpPr>
          <p:cNvPr id="2" name="Shape 0"/>
          <p:cNvSpPr/>
          <p:nvPr/>
        </p:nvSpPr>
        <p:spPr>
          <a:xfrm>
            <a:off x="548640" y="384048"/>
            <a:ext cx="384048" cy="237744"/>
          </a:xfrm>
          <a:prstGeom prst="roundRect">
            <a:avLst>
              <a:gd name="adj" fmla="val 19231"/>
            </a:avLst>
          </a:prstGeom>
          <a:solidFill>
            <a:srgbClr val="2A4466"/>
          </a:solidFill>
          <a:ln/>
        </p:spPr>
      </p:sp>
      <p:sp>
        <p:nvSpPr>
          <p:cNvPr id="3" name="Text 1"/>
          <p:cNvSpPr txBox="1"/>
          <p:nvPr/>
        </p:nvSpPr>
        <p:spPr>
          <a:xfrm>
            <a:off x="548640" y="384048"/>
            <a:ext cx="38404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4" name="Text 2"/>
          <p:cNvSpPr txBox="1"/>
          <p:nvPr/>
        </p:nvSpPr>
        <p:spPr>
          <a:xfrm>
            <a:off x="1060704" y="384048"/>
            <a:ext cx="6400800" cy="237744"/>
          </a:xfrm>
          <a:prstGeom prst="rect">
            <a:avLst/>
          </a:prstGeom>
          <a:noFill/>
          <a:ln/>
        </p:spPr>
        <p:txBody>
          <a:bodyPr wrap="square" lIns="0" tIns="0" rIns="0" bIns="0" rtlCol="0" anchor="ctr"/>
          <a:lstStyle/>
          <a:p>
            <a:pPr indent="0" marL="0">
              <a:buNone/>
            </a:pPr>
            <a:r>
              <a:rPr lang="en-US" sz="1050" b="1" spc="150" kern="0" dirty="0">
                <a:solidFill>
                  <a:srgbClr val="9FB3C8"/>
                </a:solidFill>
                <a:latin typeface="Calibri" pitchFamily="34" charset="0"/>
                <a:ea typeface="Calibri" pitchFamily="34" charset="-122"/>
                <a:cs typeface="Calibri" pitchFamily="34" charset="-120"/>
              </a:rPr>
              <a:t>CONCLUSION &amp; NEXT STEPS</a:t>
            </a:r>
            <a:endParaRPr lang="en-US" sz="1050" dirty="0"/>
          </a:p>
        </p:txBody>
      </p:sp>
      <p:sp>
        <p:nvSpPr>
          <p:cNvPr id="5" name="Text 3"/>
          <p:cNvSpPr txBox="1"/>
          <p:nvPr/>
        </p:nvSpPr>
        <p:spPr>
          <a:xfrm>
            <a:off x="548640" y="731520"/>
            <a:ext cx="11094415"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the pilot shows, and what comes next</a:t>
            </a:r>
            <a:endParaRPr lang="en-US" sz="2800" dirty="0"/>
          </a:p>
        </p:txBody>
      </p:sp>
      <p:sp>
        <p:nvSpPr>
          <p:cNvPr id="6" name="Text 4"/>
          <p:cNvSpPr txBox="1"/>
          <p:nvPr/>
        </p:nvSpPr>
        <p:spPr>
          <a:xfrm>
            <a:off x="548640" y="1280160"/>
            <a:ext cx="11094415" cy="329184"/>
          </a:xfrm>
          <a:prstGeom prst="rect">
            <a:avLst/>
          </a:prstGeom>
          <a:noFill/>
          <a:ln/>
        </p:spPr>
        <p:txBody>
          <a:bodyPr wrap="square" lIns="0" tIns="0" rIns="0" bIns="0" rtlCol="0" anchor="ctr"/>
          <a:lstStyle/>
          <a:p>
            <a:pPr indent="0" marL="0">
              <a:buNone/>
            </a:pPr>
            <a:r>
              <a:rPr lang="en-US" sz="1500" dirty="0">
                <a:solidFill>
                  <a:srgbClr val="D7E2EE"/>
                </a:solidFill>
                <a:latin typeface="Calibri" pitchFamily="34" charset="0"/>
                <a:ea typeface="Calibri" pitchFamily="34" charset="-122"/>
                <a:cs typeface="Calibri" pitchFamily="34" charset="-120"/>
              </a:rPr>
              <a:t>A working paired pipeline on real images, with uncertainty still too wide for a firm conclusion.</a:t>
            </a:r>
            <a:endParaRPr lang="en-US" sz="1500" dirty="0"/>
          </a:p>
        </p:txBody>
      </p:sp>
      <p:sp>
        <p:nvSpPr>
          <p:cNvPr id="7" name="Shape 5"/>
          <p:cNvSpPr/>
          <p:nvPr/>
        </p:nvSpPr>
        <p:spPr>
          <a:xfrm>
            <a:off x="548640" y="1874520"/>
            <a:ext cx="5387188" cy="3200400"/>
          </a:xfrm>
          <a:prstGeom prst="roundRect">
            <a:avLst>
              <a:gd name="adj" fmla="val 3429"/>
            </a:avLst>
          </a:prstGeom>
          <a:solidFill>
            <a:srgbClr val="17304D"/>
          </a:solidFill>
          <a:ln/>
        </p:spPr>
      </p:sp>
      <p:sp>
        <p:nvSpPr>
          <p:cNvPr id="8" name="Shape 6"/>
          <p:cNvSpPr/>
          <p:nvPr/>
        </p:nvSpPr>
        <p:spPr>
          <a:xfrm>
            <a:off x="6255868" y="1874520"/>
            <a:ext cx="5387188" cy="3200400"/>
          </a:xfrm>
          <a:prstGeom prst="roundRect">
            <a:avLst>
              <a:gd name="adj" fmla="val 3429"/>
            </a:avLst>
          </a:prstGeom>
          <a:solidFill>
            <a:srgbClr val="17304D"/>
          </a:solidFill>
          <a:ln/>
        </p:spPr>
      </p:sp>
      <p:sp>
        <p:nvSpPr>
          <p:cNvPr id="9" name="Shape 7"/>
          <p:cNvSpPr/>
          <p:nvPr/>
        </p:nvSpPr>
        <p:spPr>
          <a:xfrm>
            <a:off x="822960" y="2130552"/>
            <a:ext cx="420624" cy="420624"/>
          </a:xfrm>
          <a:prstGeom prst="ellipse">
            <a:avLst/>
          </a:prstGeom>
          <a:solidFill>
            <a:srgbClr val="2A4466"/>
          </a:solidFill>
          <a:ln/>
        </p:spPr>
      </p:sp>
      <p:pic>
        <p:nvPicPr>
          <p:cNvPr id="10" name="Image 0" descr="triangle alert icon">    </p:cNvPr>
          <p:cNvPicPr>
            <a:picLocks noChangeAspect="1"/>
          </p:cNvPicPr>
          <p:nvPr/>
        </p:nvPicPr>
        <p:blipFill>
          <a:blip r:embed="rId1"/>
          <a:stretch>
            <a:fillRect/>
          </a:stretch>
        </p:blipFill>
        <p:spPr>
          <a:xfrm>
            <a:off x="923910" y="2231502"/>
            <a:ext cx="218724" cy="218724"/>
          </a:xfrm>
          <a:prstGeom prst="rect">
            <a:avLst/>
          </a:prstGeom>
        </p:spPr>
      </p:pic>
      <p:sp>
        <p:nvSpPr>
          <p:cNvPr id="11" name="Text 8"/>
          <p:cNvSpPr txBox="1"/>
          <p:nvPr/>
        </p:nvSpPr>
        <p:spPr>
          <a:xfrm>
            <a:off x="1371600" y="2130552"/>
            <a:ext cx="4381348" cy="420624"/>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Limits of this pilot</a:t>
            </a:r>
            <a:endParaRPr lang="en-US" sz="1650" dirty="0"/>
          </a:p>
        </p:txBody>
      </p:sp>
      <p:sp>
        <p:nvSpPr>
          <p:cNvPr id="12" name="Text 9"/>
          <p:cNvSpPr txBox="1"/>
          <p:nvPr/>
        </p:nvSpPr>
        <p:spPr>
          <a:xfrm>
            <a:off x="868680" y="2788920"/>
            <a:ext cx="4792828" cy="2103120"/>
          </a:xfrm>
          <a:prstGeom prst="rect">
            <a:avLst/>
          </a:prstGeom>
          <a:noFill/>
          <a:ln/>
        </p:spPr>
        <p:txBody>
          <a:bodyPr wrap="square" lIns="0" tIns="0" rIns="0" bIns="0" rtlCol="0" anchor="t"/>
          <a:lstStyle/>
          <a:p>
            <a:pPr marL="177800" indent="-177800">
              <a:spcAft>
                <a:spcPts val="1400"/>
              </a:spcAft>
              <a:buSzPct val="100000"/>
              <a:buChar char="•"/>
            </a:pPr>
            <a:r>
              <a:rPr lang="en-US" sz="1400" dirty="0">
                <a:solidFill>
                  <a:srgbClr val="D7E2EE"/>
                </a:solidFill>
                <a:latin typeface="Calibri" pitchFamily="34" charset="0"/>
                <a:ea typeface="Calibri" pitchFamily="34" charset="-122"/>
                <a:cs typeface="Calibri" pitchFamily="34" charset="-120"/>
              </a:rPr>
              <a:t>One physician group, one training seed</a:t>
            </a:r>
            <a:endParaRPr lang="en-US" sz="1400" dirty="0"/>
          </a:p>
          <a:p>
            <a:pPr marL="177800" indent="-177800">
              <a:spcAft>
                <a:spcPts val="1400"/>
              </a:spcAft>
              <a:buSzPct val="100000"/>
              <a:buChar char="•"/>
            </a:pPr>
            <a:r>
              <a:rPr lang="en-US" sz="1400" dirty="0">
                <a:solidFill>
                  <a:srgbClr val="D7E2EE"/>
                </a:solidFill>
                <a:latin typeface="Calibri" pitchFamily="34" charset="0"/>
                <a:ea typeface="Calibri" pitchFamily="34" charset="-122"/>
                <a:cs typeface="Calibri" pitchFamily="34" charset="-120"/>
              </a:rPr>
              <a:t>Small samples: 256 training studies per group, 55 test patients</a:t>
            </a:r>
            <a:endParaRPr lang="en-US" sz="1400" dirty="0"/>
          </a:p>
          <a:p>
            <a:pPr marL="177800" indent="-177800">
              <a:spcAft>
                <a:spcPts val="1400"/>
              </a:spcAft>
              <a:buSzPct val="100000"/>
              <a:buChar char="•"/>
            </a:pPr>
            <a:r>
              <a:rPr lang="en-US" sz="1400" dirty="0">
                <a:solidFill>
                  <a:srgbClr val="D7E2EE"/>
                </a:solidFill>
                <a:latin typeface="Calibri" pitchFamily="34" charset="0"/>
                <a:ea typeface="Calibri" pitchFamily="34" charset="-122"/>
                <a:cs typeface="Calibri" pitchFamily="34" charset="-120"/>
              </a:rPr>
              <a:t>Report-derived labels, not an image gold standard</a:t>
            </a:r>
            <a:endParaRPr lang="en-US" sz="1400" dirty="0"/>
          </a:p>
          <a:p>
            <a:pPr marL="177800" indent="-177800">
              <a:spcAft>
                <a:spcPts val="1400"/>
              </a:spcAft>
              <a:buSzPct val="100000"/>
              <a:buChar char="•"/>
            </a:pPr>
            <a:r>
              <a:rPr lang="en-US" sz="1400" dirty="0">
                <a:solidFill>
                  <a:srgbClr val="D7E2EE"/>
                </a:solidFill>
                <a:latin typeface="Calibri" pitchFamily="34" charset="0"/>
                <a:ea typeface="Calibri" pitchFamily="34" charset="-122"/>
                <a:cs typeface="Calibri" pitchFamily="34" charset="-120"/>
              </a:rPr>
              <a:t>Case mix not fully matched (e.g. 167 vs 171 training patients)</a:t>
            </a:r>
            <a:endParaRPr lang="en-US" sz="1400" dirty="0"/>
          </a:p>
        </p:txBody>
      </p:sp>
      <p:sp>
        <p:nvSpPr>
          <p:cNvPr id="13" name="Shape 10"/>
          <p:cNvSpPr/>
          <p:nvPr/>
        </p:nvSpPr>
        <p:spPr>
          <a:xfrm>
            <a:off x="6530188" y="2130552"/>
            <a:ext cx="420624" cy="420624"/>
          </a:xfrm>
          <a:prstGeom prst="ellipse">
            <a:avLst/>
          </a:prstGeom>
          <a:solidFill>
            <a:srgbClr val="2A4466"/>
          </a:solidFill>
          <a:ln/>
        </p:spPr>
      </p:sp>
      <p:pic>
        <p:nvPicPr>
          <p:cNvPr id="14" name="Image 1" descr="route icon">    </p:cNvPr>
          <p:cNvPicPr>
            <a:picLocks noChangeAspect="1"/>
          </p:cNvPicPr>
          <p:nvPr/>
        </p:nvPicPr>
        <p:blipFill>
          <a:blip r:embed="rId2"/>
          <a:stretch>
            <a:fillRect/>
          </a:stretch>
        </p:blipFill>
        <p:spPr>
          <a:xfrm>
            <a:off x="6631137" y="2231502"/>
            <a:ext cx="218724" cy="218724"/>
          </a:xfrm>
          <a:prstGeom prst="rect">
            <a:avLst/>
          </a:prstGeom>
        </p:spPr>
      </p:pic>
      <p:sp>
        <p:nvSpPr>
          <p:cNvPr id="15" name="Text 11"/>
          <p:cNvSpPr txBox="1"/>
          <p:nvPr/>
        </p:nvSpPr>
        <p:spPr>
          <a:xfrm>
            <a:off x="7078828" y="2130552"/>
            <a:ext cx="4381348" cy="420624"/>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Plan for the final project</a:t>
            </a:r>
            <a:endParaRPr lang="en-US" sz="1650" dirty="0"/>
          </a:p>
        </p:txBody>
      </p:sp>
      <p:sp>
        <p:nvSpPr>
          <p:cNvPr id="16" name="Shape 12"/>
          <p:cNvSpPr/>
          <p:nvPr/>
        </p:nvSpPr>
        <p:spPr>
          <a:xfrm>
            <a:off x="6575908" y="2807208"/>
            <a:ext cx="310896" cy="310896"/>
          </a:xfrm>
          <a:prstGeom prst="ellipse">
            <a:avLst/>
          </a:prstGeom>
          <a:solidFill>
            <a:srgbClr val="2A4466"/>
          </a:solidFill>
          <a:ln/>
        </p:spPr>
      </p:sp>
      <p:sp>
        <p:nvSpPr>
          <p:cNvPr id="17" name="Text 13"/>
          <p:cNvSpPr txBox="1"/>
          <p:nvPr/>
        </p:nvSpPr>
        <p:spPr>
          <a:xfrm>
            <a:off x="6575908" y="28072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4"/>
          <p:cNvSpPr txBox="1"/>
          <p:nvPr/>
        </p:nvSpPr>
        <p:spPr>
          <a:xfrm>
            <a:off x="7033108" y="2752344"/>
            <a:ext cx="4381348" cy="420624"/>
          </a:xfrm>
          <a:prstGeom prst="rect">
            <a:avLst/>
          </a:prstGeom>
          <a:noFill/>
          <a:ln/>
        </p:spPr>
        <p:txBody>
          <a:bodyPr wrap="square" lIns="0" tIns="0" rIns="0" bIns="0" rtlCol="0" anchor="ctr"/>
          <a:lstStyle/>
          <a:p>
            <a:pPr indent="0" marL="0">
              <a:buNone/>
            </a:pPr>
            <a:r>
              <a:rPr lang="en-US" sz="1400" dirty="0">
                <a:solidFill>
                  <a:srgbClr val="D7E2EE"/>
                </a:solidFill>
                <a:latin typeface="Calibri" pitchFamily="34" charset="0"/>
                <a:ea typeface="Calibri" pitchFamily="34" charset="-122"/>
                <a:cs typeface="Calibri" pitchFamily="34" charset="-120"/>
              </a:rPr>
              <a:t>Repeat across more attending IDs and several seeds</a:t>
            </a:r>
            <a:endParaRPr lang="en-US" sz="1400" dirty="0"/>
          </a:p>
        </p:txBody>
      </p:sp>
      <p:sp>
        <p:nvSpPr>
          <p:cNvPr id="19" name="Shape 15"/>
          <p:cNvSpPr/>
          <p:nvPr/>
        </p:nvSpPr>
        <p:spPr>
          <a:xfrm>
            <a:off x="6575908" y="3337560"/>
            <a:ext cx="310896" cy="310896"/>
          </a:xfrm>
          <a:prstGeom prst="ellipse">
            <a:avLst/>
          </a:prstGeom>
          <a:solidFill>
            <a:srgbClr val="2A4466"/>
          </a:solidFill>
          <a:ln/>
        </p:spPr>
      </p:sp>
      <p:sp>
        <p:nvSpPr>
          <p:cNvPr id="20" name="Text 16"/>
          <p:cNvSpPr txBox="1"/>
          <p:nvPr/>
        </p:nvSpPr>
        <p:spPr>
          <a:xfrm>
            <a:off x="6575908" y="33375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7"/>
          <p:cNvSpPr txBox="1"/>
          <p:nvPr/>
        </p:nvSpPr>
        <p:spPr>
          <a:xfrm>
            <a:off x="7033108" y="3282696"/>
            <a:ext cx="4381348" cy="420624"/>
          </a:xfrm>
          <a:prstGeom prst="rect">
            <a:avLst/>
          </a:prstGeom>
          <a:noFill/>
          <a:ln/>
        </p:spPr>
        <p:txBody>
          <a:bodyPr wrap="square" lIns="0" tIns="0" rIns="0" bIns="0" rtlCol="0" anchor="ctr"/>
          <a:lstStyle/>
          <a:p>
            <a:pPr indent="0" marL="0">
              <a:buNone/>
            </a:pPr>
            <a:r>
              <a:rPr lang="en-US" sz="1400" dirty="0">
                <a:solidFill>
                  <a:srgbClr val="D7E2EE"/>
                </a:solidFill>
                <a:latin typeface="Calibri" pitchFamily="34" charset="0"/>
                <a:ea typeface="Calibri" pitchFamily="34" charset="-122"/>
                <a:cs typeface="Calibri" pitchFamily="34" charset="-120"/>
              </a:rPr>
              <a:t>Train on the prepared full-size sets (1,409 studies per group)</a:t>
            </a:r>
            <a:endParaRPr lang="en-US" sz="1400" dirty="0"/>
          </a:p>
        </p:txBody>
      </p:sp>
      <p:sp>
        <p:nvSpPr>
          <p:cNvPr id="22" name="Shape 18"/>
          <p:cNvSpPr/>
          <p:nvPr/>
        </p:nvSpPr>
        <p:spPr>
          <a:xfrm>
            <a:off x="6575908" y="3867912"/>
            <a:ext cx="310896" cy="310896"/>
          </a:xfrm>
          <a:prstGeom prst="ellipse">
            <a:avLst/>
          </a:prstGeom>
          <a:solidFill>
            <a:srgbClr val="2A4466"/>
          </a:solidFill>
          <a:ln/>
        </p:spPr>
      </p:sp>
      <p:sp>
        <p:nvSpPr>
          <p:cNvPr id="23" name="Text 19"/>
          <p:cNvSpPr txBox="1"/>
          <p:nvPr/>
        </p:nvSpPr>
        <p:spPr>
          <a:xfrm>
            <a:off x="6575908" y="38679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0"/>
          <p:cNvSpPr txBox="1"/>
          <p:nvPr/>
        </p:nvSpPr>
        <p:spPr>
          <a:xfrm>
            <a:off x="7033108" y="3813048"/>
            <a:ext cx="4381348" cy="420624"/>
          </a:xfrm>
          <a:prstGeom prst="rect">
            <a:avLst/>
          </a:prstGeom>
          <a:noFill/>
          <a:ln/>
        </p:spPr>
        <p:txBody>
          <a:bodyPr wrap="square" lIns="0" tIns="0" rIns="0" bIns="0" rtlCol="0" anchor="ctr"/>
          <a:lstStyle/>
          <a:p>
            <a:pPr indent="0" marL="0">
              <a:buNone/>
            </a:pPr>
            <a:r>
              <a:rPr lang="en-US" sz="1400" dirty="0">
                <a:solidFill>
                  <a:srgbClr val="D7E2EE"/>
                </a:solidFill>
                <a:latin typeface="Calibri" pitchFamily="34" charset="0"/>
                <a:ea typeface="Calibri" pitchFamily="34" charset="-122"/>
                <a:cs typeface="Calibri" pitchFamily="34" charset="-120"/>
              </a:rPr>
              <a:t>Audit a random sample of “not mentioned” labels</a:t>
            </a:r>
            <a:endParaRPr lang="en-US" sz="1400" dirty="0"/>
          </a:p>
        </p:txBody>
      </p:sp>
      <p:sp>
        <p:nvSpPr>
          <p:cNvPr id="25" name="Shape 21"/>
          <p:cNvSpPr/>
          <p:nvPr/>
        </p:nvSpPr>
        <p:spPr>
          <a:xfrm>
            <a:off x="6575908" y="4398264"/>
            <a:ext cx="310896" cy="310896"/>
          </a:xfrm>
          <a:prstGeom prst="ellipse">
            <a:avLst/>
          </a:prstGeom>
          <a:solidFill>
            <a:srgbClr val="2A4466"/>
          </a:solidFill>
          <a:ln/>
        </p:spPr>
      </p:sp>
      <p:sp>
        <p:nvSpPr>
          <p:cNvPr id="26" name="Text 22"/>
          <p:cNvSpPr txBox="1"/>
          <p:nvPr/>
        </p:nvSpPr>
        <p:spPr>
          <a:xfrm>
            <a:off x="6575908" y="43982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3"/>
          <p:cNvSpPr txBox="1"/>
          <p:nvPr/>
        </p:nvSpPr>
        <p:spPr>
          <a:xfrm>
            <a:off x="7033108" y="4343400"/>
            <a:ext cx="4381348" cy="420624"/>
          </a:xfrm>
          <a:prstGeom prst="rect">
            <a:avLst/>
          </a:prstGeom>
          <a:noFill/>
          <a:ln/>
        </p:spPr>
        <p:txBody>
          <a:bodyPr wrap="square" lIns="0" tIns="0" rIns="0" bIns="0" rtlCol="0" anchor="ctr"/>
          <a:lstStyle/>
          <a:p>
            <a:pPr indent="0" marL="0">
              <a:buNone/>
            </a:pPr>
            <a:r>
              <a:rPr lang="en-US" sz="1400" dirty="0">
                <a:solidFill>
                  <a:srgbClr val="D7E2EE"/>
                </a:solidFill>
                <a:latin typeface="Calibri" pitchFamily="34" charset="0"/>
                <a:ea typeface="Calibri" pitchFamily="34" charset="-122"/>
                <a:cs typeface="Calibri" pitchFamily="34" charset="-120"/>
              </a:rPr>
              <a:t>Examine case mix (views, patient overlap) and 512 px inputs</a:t>
            </a:r>
            <a:endParaRPr lang="en-US" sz="1400" dirty="0"/>
          </a:p>
        </p:txBody>
      </p:sp>
      <p:sp>
        <p:nvSpPr>
          <p:cNvPr id="28" name="Shape 24"/>
          <p:cNvSpPr/>
          <p:nvPr/>
        </p:nvSpPr>
        <p:spPr>
          <a:xfrm>
            <a:off x="548640" y="5358384"/>
            <a:ext cx="384048" cy="384048"/>
          </a:xfrm>
          <a:prstGeom prst="ellipse">
            <a:avLst/>
          </a:prstGeom>
          <a:solidFill>
            <a:srgbClr val="2A4466"/>
          </a:solidFill>
          <a:ln/>
        </p:spPr>
      </p:sp>
      <p:pic>
        <p:nvPicPr>
          <p:cNvPr id="29" name="Image 2" descr="lock icon">    </p:cNvPr>
          <p:cNvPicPr>
            <a:picLocks noChangeAspect="1"/>
          </p:cNvPicPr>
          <p:nvPr/>
        </p:nvPicPr>
        <p:blipFill>
          <a:blip r:embed="rId3"/>
          <a:stretch>
            <a:fillRect/>
          </a:stretch>
        </p:blipFill>
        <p:spPr>
          <a:xfrm>
            <a:off x="640812" y="5450556"/>
            <a:ext cx="199705" cy="199705"/>
          </a:xfrm>
          <a:prstGeom prst="rect">
            <a:avLst/>
          </a:prstGeom>
        </p:spPr>
      </p:pic>
      <p:sp>
        <p:nvSpPr>
          <p:cNvPr id="30" name="Text 25"/>
          <p:cNvSpPr txBox="1"/>
          <p:nvPr/>
        </p:nvSpPr>
        <p:spPr>
          <a:xfrm>
            <a:off x="1097280" y="5340096"/>
            <a:ext cx="10545775" cy="42062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Fixed in advance: </a:t>
            </a:r>
            <a:pPr indent="0" marL="0">
              <a:buNone/>
            </a:pPr>
            <a:r>
              <a:rPr lang="en-US" sz="1350" dirty="0">
                <a:solidFill>
                  <a:srgbClr val="D7E2EE"/>
                </a:solidFill>
                <a:latin typeface="Calibri" pitchFamily="34" charset="0"/>
                <a:ea typeface="Calibri" pitchFamily="34" charset="-122"/>
                <a:cs typeface="Calibri" pitchFamily="34" charset="-120"/>
              </a:rPr>
              <a:t>test cohorts, selection rules and metrics — no re-picking physicians or test sets to improve the numbers.</a:t>
            </a:r>
            <a:endParaRPr lang="en-US" sz="1350" dirty="0"/>
          </a:p>
        </p:txBody>
      </p:sp>
      <p:sp>
        <p:nvSpPr>
          <p:cNvPr id="31" name="Text 26"/>
          <p:cNvSpPr txBox="1"/>
          <p:nvPr/>
        </p:nvSpPr>
        <p:spPr>
          <a:xfrm>
            <a:off x="548640" y="6144768"/>
            <a:ext cx="10241280" cy="384048"/>
          </a:xfrm>
          <a:prstGeom prst="rect">
            <a:avLst/>
          </a:prstGeom>
          <a:noFill/>
          <a:ln/>
        </p:spPr>
        <p:txBody>
          <a:bodyPr wrap="square" lIns="0" tIns="0" rIns="0" bIns="0" rtlCol="0" anchor="b"/>
          <a:lstStyle/>
          <a:p>
            <a:pPr indent="0" marL="0">
              <a:buNone/>
            </a:pPr>
            <a:r>
              <a:rPr lang="en-US" sz="950" dirty="0">
                <a:solidFill>
                  <a:srgbClr val="9FB3C8"/>
                </a:solidFill>
                <a:latin typeface="Calibri" pitchFamily="34" charset="0"/>
                <a:ea typeface="Calibri" pitchFamily="34" charset="-122"/>
                <a:cs typeface="Calibri" pitchFamily="34" charset="-120"/>
              </a:rPr>
              <a:t>Physician IDs describe study associations only: these results say nothing about physician quality or a causal physician effect.</a:t>
            </a:r>
            <a:endParaRPr lang="en-US" sz="950" dirty="0"/>
          </a:p>
        </p:txBody>
      </p:sp>
      <p:sp>
        <p:nvSpPr>
          <p:cNvPr id="32" name="Text 27"/>
          <p:cNvSpPr txBox="1"/>
          <p:nvPr/>
        </p:nvSpPr>
        <p:spPr>
          <a:xfrm>
            <a:off x="11094415" y="6254496"/>
            <a:ext cx="548640" cy="274320"/>
          </a:xfrm>
          <a:prstGeom prst="rect">
            <a:avLst/>
          </a:prstGeom>
          <a:noFill/>
          <a:ln/>
        </p:spPr>
        <p:txBody>
          <a:bodyPr wrap="square" lIns="0" tIns="0" rIns="0" bIns="0" rtlCol="0" anchor="b"/>
          <a:lstStyle/>
          <a:p>
            <a:pPr algn="r" indent="0" marL="0">
              <a:buNone/>
            </a:pPr>
            <a:r>
              <a:rPr lang="en-US" sz="1000" b="1" dirty="0">
                <a:solidFill>
                  <a:srgbClr val="9FB3C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502920"/>
            <a:ext cx="11094415" cy="548640"/>
          </a:xfrm>
          <a:prstGeom prst="rect">
            <a:avLst/>
          </a:prstGeom>
          <a:noFill/>
          <a:ln/>
        </p:spPr>
        <p:txBody>
          <a:bodyPr wrap="square" lIns="0" tIns="0" rIns="0" bIns="0" rtlCol="0" anchor="ctr"/>
          <a:lstStyle/>
          <a:p>
            <a:pPr indent="0" marL="0">
              <a:buNone/>
            </a:pPr>
            <a:r>
              <a:rPr lang="en-US" sz="2800" b="1" dirty="0">
                <a:solidFill>
                  <a:srgbClr val="0E1E33"/>
                </a:solidFill>
                <a:latin typeface="Calibri" pitchFamily="34" charset="0"/>
                <a:ea typeface="Calibri" pitchFamily="34" charset="-122"/>
                <a:cs typeface="Calibri" pitchFamily="34" charset="-120"/>
              </a:rPr>
              <a:t>References and credits</a:t>
            </a:r>
            <a:endParaRPr lang="en-US" sz="2800" dirty="0"/>
          </a:p>
        </p:txBody>
      </p:sp>
      <p:sp>
        <p:nvSpPr>
          <p:cNvPr id="3" name="Text 1"/>
          <p:cNvSpPr txBox="1"/>
          <p:nvPr/>
        </p:nvSpPr>
        <p:spPr>
          <a:xfrm>
            <a:off x="548640" y="1051560"/>
            <a:ext cx="11094415" cy="329184"/>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Backup slide — not part of the 7-minute talk.</a:t>
            </a:r>
            <a:endParaRPr lang="en-US" sz="1500" dirty="0"/>
          </a:p>
        </p:txBody>
      </p:sp>
      <p:sp>
        <p:nvSpPr>
          <p:cNvPr id="4" name="Text 2"/>
          <p:cNvSpPr txBox="1"/>
          <p:nvPr/>
        </p:nvSpPr>
        <p:spPr>
          <a:xfrm>
            <a:off x="548640" y="1783080"/>
            <a:ext cx="457200" cy="274320"/>
          </a:xfrm>
          <a:prstGeom prst="rect">
            <a:avLst/>
          </a:prstGeom>
          <a:noFill/>
          <a:ln/>
        </p:spPr>
        <p:txBody>
          <a:bodyPr wrap="square" lIns="0" tIns="0" rIns="0" bIns="0" rtlCol="0" anchor="t"/>
          <a:lstStyle/>
          <a:p>
            <a:pPr indent="0" marL="0">
              <a:buNone/>
            </a:pPr>
            <a:r>
              <a:rPr lang="en-US" sz="1250" b="1" dirty="0">
                <a:solidFill>
                  <a:srgbClr val="2266AA"/>
                </a:solidFill>
                <a:latin typeface="Calibri" pitchFamily="34" charset="0"/>
                <a:ea typeface="Calibri" pitchFamily="34" charset="-122"/>
                <a:cs typeface="Calibri" pitchFamily="34" charset="-120"/>
              </a:rPr>
              <a:t>[1]</a:t>
            </a:r>
            <a:endParaRPr lang="en-US" sz="1250" dirty="0"/>
          </a:p>
        </p:txBody>
      </p:sp>
      <p:sp>
        <p:nvSpPr>
          <p:cNvPr id="5" name="Text 3"/>
          <p:cNvSpPr txBox="1"/>
          <p:nvPr/>
        </p:nvSpPr>
        <p:spPr>
          <a:xfrm>
            <a:off x="1051560" y="1783080"/>
            <a:ext cx="10591495" cy="640080"/>
          </a:xfrm>
          <a:prstGeom prst="rect">
            <a:avLst/>
          </a:prstGeom>
          <a:noFill/>
          <a:ln/>
        </p:spPr>
        <p:txBody>
          <a:bodyPr wrap="square" lIns="0" tIns="0" rIns="0" bIns="0" rtlCol="0" anchor="t"/>
          <a:lstStyle/>
          <a:p>
            <a:pPr indent="0" marL="0">
              <a:buNone/>
            </a:pPr>
            <a:r>
              <a:rPr lang="en-US" sz="1200" dirty="0">
                <a:solidFill>
                  <a:srgbClr val="24364F"/>
                </a:solidFill>
                <a:latin typeface="Calibri" pitchFamily="34" charset="0"/>
                <a:ea typeface="Calibri" pitchFamily="34" charset="-122"/>
                <a:cs typeface="Calibri" pitchFamily="34" charset="-120"/>
              </a:rPr>
              <a:t>Johnson AEW, Pollard TJ, Berkowitz SJ, et al. MIMIC-CXR, a de-identified publicly available database of chest radiographs with free-text reports. Scientific Data 6, 317 (2019). Data: MIMIC-CXR v2.1.0, PhysioNet.</a:t>
            </a:r>
            <a:endParaRPr lang="en-US" sz="1200" dirty="0"/>
          </a:p>
          <a:p>
            <a:pPr indent="0" marL="0">
              <a:buNone/>
            </a:pPr>
            <a:r>
              <a:rPr lang="en-US" sz="1100" u="sng" dirty="0">
                <a:solidFill>
                  <a:srgbClr val="2266A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physionet.org/content/mimic-cxr/2.1.0</a:t>
            </a:r>
            <a:endParaRPr lang="en-US" sz="1200" dirty="0"/>
          </a:p>
        </p:txBody>
      </p:sp>
      <p:sp>
        <p:nvSpPr>
          <p:cNvPr id="6" name="Shape 4"/>
          <p:cNvSpPr/>
          <p:nvPr/>
        </p:nvSpPr>
        <p:spPr>
          <a:xfrm>
            <a:off x="548640" y="2551176"/>
            <a:ext cx="11094415" cy="0"/>
          </a:xfrm>
          <a:prstGeom prst="line">
            <a:avLst/>
          </a:prstGeom>
          <a:noFill/>
          <a:ln w="9525">
            <a:solidFill>
              <a:srgbClr val="D9E0E8"/>
            </a:solidFill>
            <a:prstDash val="solid"/>
          </a:ln>
        </p:spPr>
      </p:sp>
      <p:sp>
        <p:nvSpPr>
          <p:cNvPr id="7" name="Text 5"/>
          <p:cNvSpPr txBox="1"/>
          <p:nvPr/>
        </p:nvSpPr>
        <p:spPr>
          <a:xfrm>
            <a:off x="548640" y="2642616"/>
            <a:ext cx="457200" cy="274320"/>
          </a:xfrm>
          <a:prstGeom prst="rect">
            <a:avLst/>
          </a:prstGeom>
          <a:noFill/>
          <a:ln/>
        </p:spPr>
        <p:txBody>
          <a:bodyPr wrap="square" lIns="0" tIns="0" rIns="0" bIns="0" rtlCol="0" anchor="t"/>
          <a:lstStyle/>
          <a:p>
            <a:pPr indent="0" marL="0">
              <a:buNone/>
            </a:pPr>
            <a:r>
              <a:rPr lang="en-US" sz="1250" b="1" dirty="0">
                <a:solidFill>
                  <a:srgbClr val="2266AA"/>
                </a:solidFill>
                <a:latin typeface="Calibri" pitchFamily="34" charset="0"/>
                <a:ea typeface="Calibri" pitchFamily="34" charset="-122"/>
                <a:cs typeface="Calibri" pitchFamily="34" charset="-120"/>
              </a:rPr>
              <a:t>[2]</a:t>
            </a:r>
            <a:endParaRPr lang="en-US" sz="1250" dirty="0"/>
          </a:p>
        </p:txBody>
      </p:sp>
      <p:sp>
        <p:nvSpPr>
          <p:cNvPr id="8" name="Text 6"/>
          <p:cNvSpPr txBox="1"/>
          <p:nvPr/>
        </p:nvSpPr>
        <p:spPr>
          <a:xfrm>
            <a:off x="1051560" y="2642616"/>
            <a:ext cx="10591495" cy="438912"/>
          </a:xfrm>
          <a:prstGeom prst="rect">
            <a:avLst/>
          </a:prstGeom>
          <a:noFill/>
          <a:ln/>
        </p:spPr>
        <p:txBody>
          <a:bodyPr wrap="square" lIns="0" tIns="0" rIns="0" bIns="0" rtlCol="0" anchor="t"/>
          <a:lstStyle/>
          <a:p>
            <a:pPr indent="0" marL="0">
              <a:buNone/>
            </a:pPr>
            <a:r>
              <a:rPr lang="en-US" sz="1200" dirty="0">
                <a:solidFill>
                  <a:srgbClr val="24364F"/>
                </a:solidFill>
                <a:latin typeface="Calibri" pitchFamily="34" charset="0"/>
                <a:ea typeface="Calibri" pitchFamily="34" charset="-122"/>
                <a:cs typeface="Calibri" pitchFamily="34" charset="-120"/>
              </a:rPr>
              <a:t>Smit A, Jain S, Rajpurkar P, et al. CheXbert: combining automatic labelers and expert annotations for accurate radiology report labeling using BERT. EMNLP 2020.</a:t>
            </a:r>
            <a:endParaRPr lang="en-US" sz="1200" dirty="0"/>
          </a:p>
          <a:p>
            <a:pPr indent="0" marL="0">
              <a:buNone/>
            </a:pPr>
            <a:r>
              <a:rPr lang="en-US" sz="1100" u="sng" dirty="0">
                <a:solidFill>
                  <a:srgbClr val="2266A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arxiv.org/abs/2004.09167</a:t>
            </a:r>
            <a:endParaRPr lang="en-US" sz="1200" dirty="0"/>
          </a:p>
        </p:txBody>
      </p:sp>
      <p:sp>
        <p:nvSpPr>
          <p:cNvPr id="9" name="Shape 7"/>
          <p:cNvSpPr/>
          <p:nvPr/>
        </p:nvSpPr>
        <p:spPr>
          <a:xfrm>
            <a:off x="548640" y="3209544"/>
            <a:ext cx="11094415" cy="0"/>
          </a:xfrm>
          <a:prstGeom prst="line">
            <a:avLst/>
          </a:prstGeom>
          <a:noFill/>
          <a:ln w="9525">
            <a:solidFill>
              <a:srgbClr val="D9E0E8"/>
            </a:solidFill>
            <a:prstDash val="solid"/>
          </a:ln>
        </p:spPr>
      </p:sp>
      <p:sp>
        <p:nvSpPr>
          <p:cNvPr id="10" name="Text 8"/>
          <p:cNvSpPr txBox="1"/>
          <p:nvPr/>
        </p:nvSpPr>
        <p:spPr>
          <a:xfrm>
            <a:off x="548640" y="3300984"/>
            <a:ext cx="457200" cy="274320"/>
          </a:xfrm>
          <a:prstGeom prst="rect">
            <a:avLst/>
          </a:prstGeom>
          <a:noFill/>
          <a:ln/>
        </p:spPr>
        <p:txBody>
          <a:bodyPr wrap="square" lIns="0" tIns="0" rIns="0" bIns="0" rtlCol="0" anchor="t"/>
          <a:lstStyle/>
          <a:p>
            <a:pPr indent="0" marL="0">
              <a:buNone/>
            </a:pPr>
            <a:r>
              <a:rPr lang="en-US" sz="1250" b="1" dirty="0">
                <a:solidFill>
                  <a:srgbClr val="2266AA"/>
                </a:solidFill>
                <a:latin typeface="Calibri" pitchFamily="34" charset="0"/>
                <a:ea typeface="Calibri" pitchFamily="34" charset="-122"/>
                <a:cs typeface="Calibri" pitchFamily="34" charset="-120"/>
              </a:rPr>
              <a:t>[3]</a:t>
            </a:r>
            <a:endParaRPr lang="en-US" sz="1250" dirty="0"/>
          </a:p>
        </p:txBody>
      </p:sp>
      <p:sp>
        <p:nvSpPr>
          <p:cNvPr id="11" name="Text 9"/>
          <p:cNvSpPr txBox="1"/>
          <p:nvPr/>
        </p:nvSpPr>
        <p:spPr>
          <a:xfrm>
            <a:off x="1051560" y="3300984"/>
            <a:ext cx="10591495" cy="640080"/>
          </a:xfrm>
          <a:prstGeom prst="rect">
            <a:avLst/>
          </a:prstGeom>
          <a:noFill/>
          <a:ln/>
        </p:spPr>
        <p:txBody>
          <a:bodyPr wrap="square" lIns="0" tIns="0" rIns="0" bIns="0" rtlCol="0" anchor="t"/>
          <a:lstStyle/>
          <a:p>
            <a:pPr indent="0" marL="0">
              <a:buNone/>
            </a:pPr>
            <a:r>
              <a:rPr lang="en-US" sz="1200" dirty="0">
                <a:solidFill>
                  <a:srgbClr val="24364F"/>
                </a:solidFill>
                <a:latin typeface="Calibri" pitchFamily="34" charset="0"/>
                <a:ea typeface="Calibri" pitchFamily="34" charset="-122"/>
                <a:cs typeface="Calibri" pitchFamily="34" charset="-120"/>
              </a:rPr>
              <a:t>Zech JR, Badgeley MA, Liu M, et al. Variable generalization performance of a deep learning model to detect pneumonia in chest radiographs: a cross-sectional study. PLOS Medicine 15(11): e1002683 (2018).</a:t>
            </a:r>
            <a:endParaRPr lang="en-US" sz="1200" dirty="0"/>
          </a:p>
          <a:p>
            <a:pPr indent="0" marL="0">
              <a:buNone/>
            </a:pPr>
            <a:r>
              <a:rPr lang="en-US" sz="1100" u="sng" dirty="0">
                <a:solidFill>
                  <a:srgbClr val="2266A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doi.org/10.1371/journal.pmed.1002683</a:t>
            </a:r>
            <a:endParaRPr lang="en-US" sz="1200" dirty="0"/>
          </a:p>
        </p:txBody>
      </p:sp>
      <p:sp>
        <p:nvSpPr>
          <p:cNvPr id="12" name="Shape 10"/>
          <p:cNvSpPr/>
          <p:nvPr/>
        </p:nvSpPr>
        <p:spPr>
          <a:xfrm>
            <a:off x="548640" y="4069080"/>
            <a:ext cx="11094415" cy="0"/>
          </a:xfrm>
          <a:prstGeom prst="line">
            <a:avLst/>
          </a:prstGeom>
          <a:noFill/>
          <a:ln w="9525">
            <a:solidFill>
              <a:srgbClr val="D9E0E8"/>
            </a:solidFill>
            <a:prstDash val="solid"/>
          </a:ln>
        </p:spPr>
      </p:sp>
      <p:sp>
        <p:nvSpPr>
          <p:cNvPr id="13" name="Text 11"/>
          <p:cNvSpPr txBox="1"/>
          <p:nvPr/>
        </p:nvSpPr>
        <p:spPr>
          <a:xfrm>
            <a:off x="548640" y="4160520"/>
            <a:ext cx="457200" cy="274320"/>
          </a:xfrm>
          <a:prstGeom prst="rect">
            <a:avLst/>
          </a:prstGeom>
          <a:noFill/>
          <a:ln/>
        </p:spPr>
        <p:txBody>
          <a:bodyPr wrap="square" lIns="0" tIns="0" rIns="0" bIns="0" rtlCol="0" anchor="t"/>
          <a:lstStyle/>
          <a:p>
            <a:pPr indent="0" marL="0">
              <a:buNone/>
            </a:pPr>
            <a:r>
              <a:rPr lang="en-US" sz="1250" b="1" dirty="0">
                <a:solidFill>
                  <a:srgbClr val="2266AA"/>
                </a:solidFill>
                <a:latin typeface="Calibri" pitchFamily="34" charset="0"/>
                <a:ea typeface="Calibri" pitchFamily="34" charset="-122"/>
                <a:cs typeface="Calibri" pitchFamily="34" charset="-120"/>
              </a:rPr>
              <a:t>[4]</a:t>
            </a:r>
            <a:endParaRPr lang="en-US" sz="1250" dirty="0"/>
          </a:p>
        </p:txBody>
      </p:sp>
      <p:sp>
        <p:nvSpPr>
          <p:cNvPr id="14" name="Text 12"/>
          <p:cNvSpPr txBox="1"/>
          <p:nvPr/>
        </p:nvSpPr>
        <p:spPr>
          <a:xfrm>
            <a:off x="1051560" y="4160520"/>
            <a:ext cx="10591495" cy="438912"/>
          </a:xfrm>
          <a:prstGeom prst="rect">
            <a:avLst/>
          </a:prstGeom>
          <a:noFill/>
          <a:ln/>
        </p:spPr>
        <p:txBody>
          <a:bodyPr wrap="square" lIns="0" tIns="0" rIns="0" bIns="0" rtlCol="0" anchor="t"/>
          <a:lstStyle/>
          <a:p>
            <a:pPr indent="0" marL="0">
              <a:buNone/>
            </a:pPr>
            <a:r>
              <a:rPr lang="en-US" sz="1200" dirty="0">
                <a:solidFill>
                  <a:srgbClr val="24364F"/>
                </a:solidFill>
                <a:latin typeface="Calibri" pitchFamily="34" charset="0"/>
                <a:ea typeface="Calibri" pitchFamily="34" charset="-122"/>
                <a:cs typeface="Calibri" pitchFamily="34" charset="-120"/>
              </a:rPr>
              <a:t>He K, Zhang X, Ren S, Sun J. Deep residual learning for image recognition. CVPR 2016.</a:t>
            </a:r>
            <a:endParaRPr lang="en-US" sz="1200" dirty="0"/>
          </a:p>
          <a:p>
            <a:pPr indent="0" marL="0">
              <a:buNone/>
            </a:pPr>
            <a:r>
              <a:rPr lang="en-US" sz="1100" u="sng" dirty="0">
                <a:solidFill>
                  <a:srgbClr val="2266A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arxiv.org/abs/1512.03385</a:t>
            </a:r>
            <a:endParaRPr lang="en-US" sz="1200" dirty="0"/>
          </a:p>
        </p:txBody>
      </p:sp>
      <p:sp>
        <p:nvSpPr>
          <p:cNvPr id="15" name="Shape 13"/>
          <p:cNvSpPr/>
          <p:nvPr/>
        </p:nvSpPr>
        <p:spPr>
          <a:xfrm>
            <a:off x="548640" y="4727448"/>
            <a:ext cx="11094415" cy="0"/>
          </a:xfrm>
          <a:prstGeom prst="line">
            <a:avLst/>
          </a:prstGeom>
          <a:noFill/>
          <a:ln w="9525">
            <a:solidFill>
              <a:srgbClr val="D9E0E8"/>
            </a:solidFill>
            <a:prstDash val="solid"/>
          </a:ln>
        </p:spPr>
      </p:sp>
      <p:sp>
        <p:nvSpPr>
          <p:cNvPr id="16" name="Text 14"/>
          <p:cNvSpPr txBox="1"/>
          <p:nvPr/>
        </p:nvSpPr>
        <p:spPr>
          <a:xfrm>
            <a:off x="548640" y="4818888"/>
            <a:ext cx="457200" cy="274320"/>
          </a:xfrm>
          <a:prstGeom prst="rect">
            <a:avLst/>
          </a:prstGeom>
          <a:noFill/>
          <a:ln/>
        </p:spPr>
        <p:txBody>
          <a:bodyPr wrap="square" lIns="0" tIns="0" rIns="0" bIns="0" rtlCol="0" anchor="t"/>
          <a:lstStyle/>
          <a:p>
            <a:pPr indent="0" marL="0">
              <a:buNone/>
            </a:pPr>
            <a:endParaRPr lang="en-US" sz="1250" dirty="0"/>
          </a:p>
        </p:txBody>
      </p:sp>
      <p:sp>
        <p:nvSpPr>
          <p:cNvPr id="17" name="Text 15"/>
          <p:cNvSpPr txBox="1"/>
          <p:nvPr/>
        </p:nvSpPr>
        <p:spPr>
          <a:xfrm>
            <a:off x="1051560" y="4818888"/>
            <a:ext cx="10591495" cy="438912"/>
          </a:xfrm>
          <a:prstGeom prst="rect">
            <a:avLst/>
          </a:prstGeom>
          <a:noFill/>
          <a:ln/>
        </p:spPr>
        <p:txBody>
          <a:bodyPr wrap="square" lIns="0" tIns="0" rIns="0" bIns="0" rtlCol="0" anchor="t"/>
          <a:lstStyle/>
          <a:p>
            <a:pPr indent="0" marL="0">
              <a:buNone/>
            </a:pPr>
            <a:r>
              <a:rPr lang="en-US" sz="1200" dirty="0">
                <a:solidFill>
                  <a:srgbClr val="24364F"/>
                </a:solidFill>
                <a:latin typeface="Calibri" pitchFamily="34" charset="0"/>
                <a:ea typeface="Calibri" pitchFamily="34" charset="-122"/>
                <a:cs typeface="Calibri" pitchFamily="34" charset="-120"/>
              </a:rPr>
              <a:t>Project results: experiment run on 27 Sep 2026 (one physician group, one seed); metrics, figure and configuration in results/midterm_v1.</a:t>
            </a:r>
            <a:endParaRPr lang="en-US" sz="1200" dirty="0"/>
          </a:p>
          <a:p>
            <a:pPr indent="0" marL="0">
              <a:buNone/>
            </a:pPr>
            <a:r>
              <a:rPr lang="en-US" sz="1100" u="sng" dirty="0">
                <a:solidFill>
                  <a:srgbClr val="2266A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github.com/Grayye123/BN5212_group</a:t>
            </a:r>
            <a:endParaRPr lang="en-US" sz="1200" dirty="0"/>
          </a:p>
        </p:txBody>
      </p:sp>
      <p:sp>
        <p:nvSpPr>
          <p:cNvPr id="18" name="Shape 16"/>
          <p:cNvSpPr/>
          <p:nvPr/>
        </p:nvSpPr>
        <p:spPr>
          <a:xfrm>
            <a:off x="548640" y="5385816"/>
            <a:ext cx="11094415" cy="0"/>
          </a:xfrm>
          <a:prstGeom prst="line">
            <a:avLst/>
          </a:prstGeom>
          <a:noFill/>
          <a:ln w="9525">
            <a:solidFill>
              <a:srgbClr val="D9E0E8"/>
            </a:solidFill>
            <a:prstDash val="solid"/>
          </a:ln>
        </p:spPr>
      </p:sp>
      <p:sp>
        <p:nvSpPr>
          <p:cNvPr id="19" name="Text 17"/>
          <p:cNvSpPr txBox="1"/>
          <p:nvPr/>
        </p:nvSpPr>
        <p:spPr>
          <a:xfrm>
            <a:off x="548640" y="5477256"/>
            <a:ext cx="457200" cy="274320"/>
          </a:xfrm>
          <a:prstGeom prst="rect">
            <a:avLst/>
          </a:prstGeom>
          <a:noFill/>
          <a:ln/>
        </p:spPr>
        <p:txBody>
          <a:bodyPr wrap="square" lIns="0" tIns="0" rIns="0" bIns="0" rtlCol="0" anchor="t"/>
          <a:lstStyle/>
          <a:p>
            <a:pPr indent="0" marL="0">
              <a:buNone/>
            </a:pPr>
            <a:endParaRPr lang="en-US" sz="1250" dirty="0"/>
          </a:p>
        </p:txBody>
      </p:sp>
      <p:sp>
        <p:nvSpPr>
          <p:cNvPr id="20" name="Text 18"/>
          <p:cNvSpPr txBox="1"/>
          <p:nvPr/>
        </p:nvSpPr>
        <p:spPr>
          <a:xfrm>
            <a:off x="1051560" y="5477256"/>
            <a:ext cx="10591495" cy="438912"/>
          </a:xfrm>
          <a:prstGeom prst="rect">
            <a:avLst/>
          </a:prstGeom>
          <a:noFill/>
          <a:ln/>
        </p:spPr>
        <p:txBody>
          <a:bodyPr wrap="square" lIns="0" tIns="0" rIns="0" bIns="0" rtlCol="0" anchor="t"/>
          <a:lstStyle/>
          <a:p>
            <a:pPr indent="0" marL="0">
              <a:buNone/>
            </a:pPr>
            <a:r>
              <a:rPr lang="en-US" sz="1200" dirty="0">
                <a:solidFill>
                  <a:srgbClr val="24364F"/>
                </a:solidFill>
                <a:latin typeface="Calibri" pitchFamily="34" charset="0"/>
                <a:ea typeface="Calibri" pitchFamily="34" charset="-122"/>
                <a:cs typeface="Calibri" pitchFamily="34" charset="-120"/>
              </a:rPr>
              <a:t>Artwork: lung illustration adapted and recoloured from Servier Medical Art, licensed under CC BY 4.0.</a:t>
            </a:r>
            <a:endParaRPr lang="en-US" sz="1200" dirty="0"/>
          </a:p>
          <a:p>
            <a:pPr indent="0" marL="0">
              <a:buNone/>
            </a:pPr>
            <a:r>
              <a:rPr lang="en-US" sz="1100" u="sng" dirty="0">
                <a:solidFill>
                  <a:srgbClr val="2266AA"/>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smart.servier.com</a:t>
            </a:r>
            <a:endParaRPr lang="en-US" sz="1200" dirty="0"/>
          </a:p>
        </p:txBody>
      </p:sp>
      <p:sp>
        <p:nvSpPr>
          <p:cNvPr id="21" name="Text 19"/>
          <p:cNvSpPr txBox="1"/>
          <p:nvPr/>
        </p:nvSpPr>
        <p:spPr>
          <a:xfrm>
            <a:off x="11094415" y="6254496"/>
            <a:ext cx="548640" cy="274320"/>
          </a:xfrm>
          <a:prstGeom prst="rect">
            <a:avLst/>
          </a:prstGeom>
          <a:noFill/>
          <a:ln/>
        </p:spPr>
        <p:txBody>
          <a:bodyPr wrap="square" lIns="0" tIns="0" rIns="0" bIns="0" rtlCol="0" anchor="b"/>
          <a:lstStyle/>
          <a:p>
            <a:pPr algn="r" indent="0" marL="0">
              <a:buNone/>
            </a:pPr>
            <a:r>
              <a:rPr lang="en-US" sz="1000" b="1" dirty="0">
                <a:solidFill>
                  <a:srgbClr val="5B6B7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Physician-associated variation in chest X-ray prediction</dc:title>
  <dc:subject>BN5212 midterm presentation</dc:subject>
  <dc:creator>BN5212 project group</dc:creator>
  <cp:lastModifiedBy>BN5212 project group</cp:lastModifiedBy>
  <cp:revision>1</cp:revision>
  <dcterms:created xsi:type="dcterms:W3CDTF">2026-09-28T03:06:21Z</dcterms:created>
  <dcterms:modified xsi:type="dcterms:W3CDTF">2026-09-28T03:06:21Z</dcterms:modified>
</cp:coreProperties>
</file>